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Cairo SemiBold"/>
      <p:regular r:id="rId50"/>
      <p:bold r:id="rId51"/>
    </p:embeddedFont>
    <p:embeddedFont>
      <p:font typeface="Cairo Medium"/>
      <p:regular r:id="rId52"/>
      <p:bold r:id="rId53"/>
    </p:embeddedFont>
    <p:embeddedFont>
      <p:font typeface="Cairo"/>
      <p:bold r:id="rId54"/>
    </p:embeddedFont>
    <p:embeddedFont>
      <p:font typeface="Tajawal Medium"/>
      <p:regular r:id="rId55"/>
      <p:bold r:id="rId56"/>
    </p:embeddedFont>
    <p:embeddedFont>
      <p:font typeface="Tajawal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airoSemiBold-bold.fntdata"/><Relationship Id="rId50" Type="http://schemas.openxmlformats.org/officeDocument/2006/relationships/font" Target="fonts/CairoSemiBold-regular.fntdata"/><Relationship Id="rId53" Type="http://schemas.openxmlformats.org/officeDocument/2006/relationships/font" Target="fonts/CairoMedium-bold.fntdata"/><Relationship Id="rId52" Type="http://schemas.openxmlformats.org/officeDocument/2006/relationships/font" Target="fonts/CairoMedium-regular.fntdata"/><Relationship Id="rId11" Type="http://schemas.openxmlformats.org/officeDocument/2006/relationships/slide" Target="slides/slide6.xml"/><Relationship Id="rId55" Type="http://schemas.openxmlformats.org/officeDocument/2006/relationships/font" Target="fonts/TajawalMedium-regular.fntdata"/><Relationship Id="rId10" Type="http://schemas.openxmlformats.org/officeDocument/2006/relationships/slide" Target="slides/slide5.xml"/><Relationship Id="rId54" Type="http://schemas.openxmlformats.org/officeDocument/2006/relationships/font" Target="fonts/Cairo-bold.fntdata"/><Relationship Id="rId13" Type="http://schemas.openxmlformats.org/officeDocument/2006/relationships/slide" Target="slides/slide8.xml"/><Relationship Id="rId57" Type="http://schemas.openxmlformats.org/officeDocument/2006/relationships/font" Target="fonts/Tajawal-bold.fntdata"/><Relationship Id="rId12" Type="http://schemas.openxmlformats.org/officeDocument/2006/relationships/slide" Target="slides/slide7.xml"/><Relationship Id="rId56" Type="http://schemas.openxmlformats.org/officeDocument/2006/relationships/font" Target="fonts/Tajawal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be33851bb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be33851bb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be33851bb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be33851bb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e33851bb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e33851bb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be33851bb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be33851bb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be33851bb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be33851b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be33851bb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be33851bb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e33851bb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be33851b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be33851bb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be33851b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1cc746c6bab43e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h1cc746c6bab43e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1cc746c6bab43e5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h1cc746c6bab43e5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h1cc746c6bab43e5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h1cc746c6bab43e5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h1cc746c6bab43e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h1cc746c6bab43e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h1cc746c6bab43e5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h1cc746c6bab43e5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1cc746c6bab43e5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h1cc746c6bab43e5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h1cc746c6bab43e57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h1cc746c6bab43e57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h1cc746c6bab43e57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h1cc746c6bab43e57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h1cc746c6bab43e57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h1cc746c6bab43e57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h1cc746c6bab43e57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h1cc746c6bab43e57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h1cc746c6bab43e57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h1cc746c6bab43e57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1cc746c6bab43e57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h1cc746c6bab43e57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h1cc746c6bab43e57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h1cc746c6bab43e57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h1cc746c6bab43e57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h1cc746c6bab43e57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h1cc746c6bab43e57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h1cc746c6bab43e57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h1cc746c6bab43e57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h1cc746c6bab43e57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h1cc746c6bab43e57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h1cc746c6bab43e57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h1cc746c6bab43e57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h1cc746c6bab43e57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h1cc746c6bab43e57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h1cc746c6bab43e57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h1cc746c6bab43e57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h1cc746c6bab43e57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h1cc746c6bab43e57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h1cc746c6bab43e57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h1cc746c6bab43e57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h1cc746c6bab43e57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h1cc746c6bab43e57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h1cc746c6bab43e57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h1cc746c6bab43e57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h1cc746c6bab43e57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cc746c6bab43e57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cc746c6bab43e57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h1cc746c6bab43e57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h1cc746c6bab43e57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h1cc746c6bab43e57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h1cc746c6bab43e57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h1cc746c6bab43e57_0_1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h1cc746c6bab43e57_0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cc746c6bab43e57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cc746c6bab43e57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h1cc746c6bab43e57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h1cc746c6bab43e57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h1cc746c6bab43e57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h1cc746c6bab43e57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h1cc746c6bab43e57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h1cc746c6bab43e57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h1cc746c6bab43e57_0_1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h1cc746c6bab43e57_0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h1cc746c6bab43e57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h1cc746c6bab43e57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h1cc746c6bab43e57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h1cc746c6bab43e57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h1cc746c6bab43e57_0_1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h1cc746c6bab43e57_0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e33851bb_2_0)">
  <p:cSld name="Generated (g3fbe33851bb_2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ee13889d_8_0)">
  <p:cSld name="Generated (g3f8ee13889d_8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d04eb988_8_0)">
  <p:cSld name="Generated (g3fbd04eb988_8_0)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d18e7fc4_8_0)">
  <p:cSld name="Generated (g3fbd18e7fc4_8_0)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aca369b10570bbd_2_0)">
  <p:cSld name="Generated (haca369b10570bbd_2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5.jpg"/><Relationship Id="rId6" Type="http://schemas.openxmlformats.org/officeDocument/2006/relationships/image" Target="../media/image20.png"/><Relationship Id="rId7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redictingthepast.com/" TargetMode="External"/><Relationship Id="rId4" Type="http://schemas.openxmlformats.org/officeDocument/2006/relationships/image" Target="../media/image23.jpg"/><Relationship Id="rId5" Type="http://schemas.openxmlformats.org/officeDocument/2006/relationships/hyperlink" Target="https://colab.research.google.com/github/google-deepmind/predictingthepast/blob/master/colabs/inference.ipynb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2.jp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3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Relationship Id="rId4" Type="http://schemas.openxmlformats.org/officeDocument/2006/relationships/hyperlink" Target="https://universe.roboflow.com/brows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browser.dataspace.copernicus.eu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Relationship Id="rId4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eamena.org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5470" y="190500"/>
            <a:ext cx="2675400" cy="95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18"/>
          <p:cNvGrpSpPr/>
          <p:nvPr/>
        </p:nvGrpSpPr>
        <p:grpSpPr>
          <a:xfrm>
            <a:off x="8401050" y="352425"/>
            <a:ext cx="342900" cy="342900"/>
            <a:chOff x="19050" y="19050"/>
            <a:chExt cx="342900" cy="342900"/>
          </a:xfrm>
        </p:grpSpPr>
        <p:sp>
          <p:nvSpPr>
            <p:cNvPr id="61" name="Google Shape;61;p18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8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8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4" name="Google Shape;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428750"/>
            <a:ext cx="3962400" cy="222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8"/>
          <p:cNvGrpSpPr/>
          <p:nvPr/>
        </p:nvGrpSpPr>
        <p:grpSpPr>
          <a:xfrm>
            <a:off x="4572000" y="1428750"/>
            <a:ext cx="4095900" cy="2276475"/>
            <a:chOff x="4572000" y="1428750"/>
            <a:chExt cx="4095900" cy="2276475"/>
          </a:xfrm>
        </p:grpSpPr>
        <p:sp>
          <p:nvSpPr>
            <p:cNvPr id="66" name="Google Shape;66;p18"/>
            <p:cNvSpPr txBox="1"/>
            <p:nvPr/>
          </p:nvSpPr>
          <p:spPr>
            <a:xfrm>
              <a:off x="4572000" y="1428750"/>
              <a:ext cx="4095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الذكاء الاصطناعي في توثيق المواقع والقطع الأثرية</a:t>
              </a:r>
              <a:endParaRPr b="1" sz="22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1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67" name="Google Shape;67;p18"/>
            <p:cNvSpPr/>
            <p:nvPr/>
          </p:nvSpPr>
          <p:spPr>
            <a:xfrm>
              <a:off x="7905750" y="36671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" name="Google Shape;68;p18"/>
          <p:cNvSpPr txBox="1"/>
          <p:nvPr/>
        </p:nvSpPr>
        <p:spPr>
          <a:xfrm>
            <a:off x="476250" y="42862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حكومة الشارقة | هيئة الشارقة للآثار</a:t>
            </a:r>
            <a:endParaRPr b="1" sz="14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9"/>
          <p:cNvGrpSpPr/>
          <p:nvPr/>
        </p:nvGrpSpPr>
        <p:grpSpPr>
          <a:xfrm>
            <a:off x="8572500" y="190500"/>
            <a:ext cx="342900" cy="342900"/>
            <a:chOff x="0" y="0"/>
            <a:chExt cx="342900" cy="342900"/>
          </a:xfrm>
        </p:grpSpPr>
        <p:sp>
          <p:nvSpPr>
            <p:cNvPr id="74" name="Google Shape;74;p19"/>
            <p:cNvSpPr/>
            <p:nvPr/>
          </p:nvSpPr>
          <p:spPr>
            <a:xfrm>
              <a:off x="0" y="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9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9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9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78" name="Google Shape;78;p19"/>
          <p:cNvGrpSpPr/>
          <p:nvPr/>
        </p:nvGrpSpPr>
        <p:grpSpPr>
          <a:xfrm>
            <a:off x="381000" y="619125"/>
            <a:ext cx="8382000" cy="438150"/>
            <a:chOff x="0" y="0"/>
            <a:chExt cx="8382000" cy="438150"/>
          </a:xfrm>
        </p:grpSpPr>
        <p:sp>
          <p:nvSpPr>
            <p:cNvPr id="79" name="Google Shape;79;p19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صون التراث برؤية المستقبل: آفاق التحول الرقمي بالشارقة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80" name="Google Shape;80;p19"/>
            <p:cNvSpPr/>
            <p:nvPr/>
          </p:nvSpPr>
          <p:spPr>
            <a:xfrm>
              <a:off x="7620000" y="4000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19"/>
          <p:cNvGrpSpPr/>
          <p:nvPr/>
        </p:nvGrpSpPr>
        <p:grpSpPr>
          <a:xfrm>
            <a:off x="381000" y="1285875"/>
            <a:ext cx="8382000" cy="1476300"/>
            <a:chOff x="0" y="0"/>
            <a:chExt cx="8382000" cy="1476300"/>
          </a:xfrm>
        </p:grpSpPr>
        <p:sp>
          <p:nvSpPr>
            <p:cNvPr id="82" name="Google Shape;82;p19"/>
            <p:cNvSpPr/>
            <p:nvPr/>
          </p:nvSpPr>
          <p:spPr>
            <a:xfrm>
              <a:off x="0" y="0"/>
              <a:ext cx="8382000" cy="1476300"/>
            </a:xfrm>
            <a:prstGeom prst="roundRect">
              <a:avLst>
                <a:gd fmla="val 6451" name="adj"/>
              </a:avLst>
            </a:prstGeom>
            <a:solidFill>
              <a:srgbClr val="FFFFFF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3" name="Google Shape;8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488" y="90488"/>
              <a:ext cx="8201100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9"/>
            <p:cNvSpPr/>
            <p:nvPr/>
          </p:nvSpPr>
          <p:spPr>
            <a:xfrm>
              <a:off x="142875" y="14287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9"/>
            <p:cNvSpPr/>
            <p:nvPr/>
          </p:nvSpPr>
          <p:spPr>
            <a:xfrm>
              <a:off x="8143875" y="14287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120000" y="0"/>
                  </a:ln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9"/>
            <p:cNvSpPr/>
            <p:nvPr/>
          </p:nvSpPr>
          <p:spPr>
            <a:xfrm>
              <a:off x="142875" y="123825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9"/>
            <p:cNvSpPr/>
            <p:nvPr/>
          </p:nvSpPr>
          <p:spPr>
            <a:xfrm>
              <a:off x="8143875" y="123825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9"/>
            <p:cNvSpPr txBox="1"/>
            <p:nvPr/>
          </p:nvSpPr>
          <p:spPr>
            <a:xfrm>
              <a:off x="285750" y="190500"/>
              <a:ext cx="7810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16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«الذكاء الاصطناعي هو أداة رئيسية لتمكين حفظ المكتشفات </a:t>
              </a:r>
              <a:r>
                <a:rPr b="1" lang="en" sz="16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الأثرية</a:t>
              </a:r>
              <a:r>
                <a:rPr b="1" lang="en" sz="16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 وإبراز العمق التاريخي والإنساني لإمارة الشارقة»</a:t>
              </a:r>
              <a:endParaRPr b="1" sz="12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9" name="Google Shape;89;p19"/>
          <p:cNvGrpSpPr/>
          <p:nvPr/>
        </p:nvGrpSpPr>
        <p:grpSpPr>
          <a:xfrm>
            <a:off x="4667250" y="2952750"/>
            <a:ext cx="4095900" cy="1619100"/>
            <a:chOff x="0" y="0"/>
            <a:chExt cx="4095900" cy="1619100"/>
          </a:xfrm>
        </p:grpSpPr>
        <p:sp>
          <p:nvSpPr>
            <p:cNvPr id="90" name="Google Shape;90;p19"/>
            <p:cNvSpPr/>
            <p:nvPr/>
          </p:nvSpPr>
          <p:spPr>
            <a:xfrm>
              <a:off x="0" y="0"/>
              <a:ext cx="4095900" cy="16191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9"/>
            <p:cNvSpPr/>
            <p:nvPr/>
          </p:nvSpPr>
          <p:spPr>
            <a:xfrm>
              <a:off x="0" y="0"/>
              <a:ext cx="40959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9"/>
            <p:cNvSpPr txBox="1"/>
            <p:nvPr/>
          </p:nvSpPr>
          <p:spPr>
            <a:xfrm>
              <a:off x="190500" y="171450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الترحيب والرؤية القيادية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-317500" lvl="0" marL="457200" rtl="1" algn="r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الترحيب بسعادة الدكتور سعيد عبد الله بن يعروف النقبي والخبراء المشاركين.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17500" lvl="0" marL="457200" rtl="1" algn="r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تأكيد أهمية التكامل بين الخبرات الأثرية الوطنية والتقنيات الرقمية الحديثة.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93" name="Google Shape;93;p19"/>
          <p:cNvGrpSpPr/>
          <p:nvPr/>
        </p:nvGrpSpPr>
        <p:grpSpPr>
          <a:xfrm>
            <a:off x="381000" y="2952750"/>
            <a:ext cx="8381850" cy="1619100"/>
            <a:chOff x="0" y="0"/>
            <a:chExt cx="4095900" cy="1619100"/>
          </a:xfrm>
        </p:grpSpPr>
        <p:sp>
          <p:nvSpPr>
            <p:cNvPr id="94" name="Google Shape;94;p19"/>
            <p:cNvSpPr/>
            <p:nvPr/>
          </p:nvSpPr>
          <p:spPr>
            <a:xfrm>
              <a:off x="0" y="0"/>
              <a:ext cx="4095900" cy="16191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0" y="0"/>
              <a:ext cx="40959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 txBox="1"/>
            <p:nvPr/>
          </p:nvSpPr>
          <p:spPr>
            <a:xfrm>
              <a:off x="190500" y="171450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التزام الهيئة بالثورة الصناعية الرابعة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-317500" lvl="0" marL="457200" rtl="1" algn="r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التزام كامل بتبني حلول الثورة الصناعية الرابعة وتطبيقات الخوارزميات المتقدمة.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17500" lvl="0" marL="457200" rtl="1" algn="r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الارتقاء بعمليات التوثيق والحماية المستدامة للتراث الأثري في الإمارة.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97" name="Google Shape;97;p19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0"/>
          <p:cNvGrpSpPr/>
          <p:nvPr/>
        </p:nvGrpSpPr>
        <p:grpSpPr>
          <a:xfrm>
            <a:off x="381000" y="190500"/>
            <a:ext cx="8534400" cy="342900"/>
            <a:chOff x="381000" y="190500"/>
            <a:chExt cx="8534400" cy="342900"/>
          </a:xfrm>
        </p:grpSpPr>
        <p:grpSp>
          <p:nvGrpSpPr>
            <p:cNvPr id="103" name="Google Shape;103;p20"/>
            <p:cNvGrpSpPr/>
            <p:nvPr/>
          </p:nvGrpSpPr>
          <p:grpSpPr>
            <a:xfrm>
              <a:off x="8572500" y="190500"/>
              <a:ext cx="342900" cy="342900"/>
              <a:chOff x="0" y="0"/>
              <a:chExt cx="342900" cy="342900"/>
            </a:xfrm>
          </p:grpSpPr>
          <p:sp>
            <p:nvSpPr>
              <p:cNvPr id="104" name="Google Shape;104;p20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0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7" name="Google Shape;107;p20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08" name="Google Shape;108;p20"/>
          <p:cNvGrpSpPr/>
          <p:nvPr/>
        </p:nvGrpSpPr>
        <p:grpSpPr>
          <a:xfrm>
            <a:off x="381000" y="571500"/>
            <a:ext cx="8382000" cy="514350"/>
            <a:chOff x="0" y="0"/>
            <a:chExt cx="8382000" cy="514350"/>
          </a:xfrm>
        </p:grpSpPr>
        <p:sp>
          <p:nvSpPr>
            <p:cNvPr id="109" name="Google Shape;109;p20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دوافع المبادرة: لماذا الذكاء الاصطناعي في علم الآثار الآن؟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0" name="Google Shape;110;p20"/>
            <p:cNvSpPr/>
            <p:nvPr/>
          </p:nvSpPr>
          <p:spPr>
            <a:xfrm>
              <a:off x="7620000" y="4762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20"/>
          <p:cNvGrpSpPr/>
          <p:nvPr/>
        </p:nvGrpSpPr>
        <p:grpSpPr>
          <a:xfrm>
            <a:off x="6286500" y="1714500"/>
            <a:ext cx="2476500" cy="2918841"/>
            <a:chOff x="0" y="0"/>
            <a:chExt cx="2476500" cy="2918841"/>
          </a:xfrm>
        </p:grpSpPr>
        <p:sp>
          <p:nvSpPr>
            <p:cNvPr id="112" name="Google Shape;112;p20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0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0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اتساع رقعة المسح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تزايد الحفريات والمشاريع الأثرية الميدانية بمناطق الشارقة الصحراوية والساحلية المتسعة بشكل متسارع.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15" name="Google Shape;115;p20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0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map</a:t>
              </a:r>
              <a:endParaRPr b="0" sz="4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17" name="Google Shape;117;p20"/>
          <p:cNvGrpSpPr/>
          <p:nvPr/>
        </p:nvGrpSpPr>
        <p:grpSpPr>
          <a:xfrm>
            <a:off x="3333750" y="1714500"/>
            <a:ext cx="2476500" cy="2918841"/>
            <a:chOff x="0" y="0"/>
            <a:chExt cx="2476500" cy="2918841"/>
          </a:xfrm>
        </p:grpSpPr>
        <p:sp>
          <p:nvSpPr>
            <p:cNvPr id="118" name="Google Shape;118;p20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0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التحديات المناخية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رصد وتتبع تأثير العوامل الجوية والتعرية البيئية على المواقع الأثرية المفتوحة لحمايتها المستدامة.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21" name="Google Shape;121;p20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thermostat</a:t>
              </a:r>
              <a:endParaRPr b="0" sz="4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23" name="Google Shape;123;p20"/>
          <p:cNvGrpSpPr/>
          <p:nvPr/>
        </p:nvGrpSpPr>
        <p:grpSpPr>
          <a:xfrm>
            <a:off x="381000" y="1714500"/>
            <a:ext cx="2476500" cy="2918841"/>
            <a:chOff x="0" y="0"/>
            <a:chExt cx="2476500" cy="2918841"/>
          </a:xfrm>
        </p:grpSpPr>
        <p:sp>
          <p:nvSpPr>
            <p:cNvPr id="124" name="Google Shape;124;p20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تدفق البيانات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معالجة سريعة ودقيقة لآلاف الصور الجوية والفضائية، ونقاط المسح الجيوفيزيائي، والقطع المخزونة.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dataset</a:t>
              </a:r>
              <a:endParaRPr b="0" sz="4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21"/>
          <p:cNvGrpSpPr/>
          <p:nvPr/>
        </p:nvGrpSpPr>
        <p:grpSpPr>
          <a:xfrm>
            <a:off x="8572500" y="190500"/>
            <a:ext cx="342900" cy="342900"/>
            <a:chOff x="0" y="0"/>
            <a:chExt cx="342900" cy="342900"/>
          </a:xfrm>
        </p:grpSpPr>
        <p:sp>
          <p:nvSpPr>
            <p:cNvPr id="135" name="Google Shape;135;p21"/>
            <p:cNvSpPr/>
            <p:nvPr/>
          </p:nvSpPr>
          <p:spPr>
            <a:xfrm>
              <a:off x="0" y="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1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81000" y="523875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الأهداف الاستراتيجية المعتمدة للورشة</a:t>
            </a:r>
            <a:endParaRPr b="1" sz="20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الركائز الأساسية لدمج الذكاء الاصطناعي والتقنيات الحديثة في حماية وتوثيق التراث الأثري</a:t>
            </a:r>
            <a:endParaRPr b="0" sz="110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21"/>
          <p:cNvGrpSpPr/>
          <p:nvPr/>
        </p:nvGrpSpPr>
        <p:grpSpPr>
          <a:xfrm>
            <a:off x="4762500" y="1333500"/>
            <a:ext cx="4000500" cy="1476300"/>
            <a:chOff x="0" y="0"/>
            <a:chExt cx="4000500" cy="1476300"/>
          </a:xfrm>
        </p:grpSpPr>
        <p:sp>
          <p:nvSpPr>
            <p:cNvPr id="142" name="Google Shape;142;p21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3562350" y="266700"/>
              <a:ext cx="1716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73333" y="46667"/>
                  </a:lnTo>
                  <a:lnTo>
                    <a:pt x="120000" y="60000"/>
                  </a:lnTo>
                  <a:lnTo>
                    <a:pt x="73333" y="73333"/>
                  </a:lnTo>
                  <a:lnTo>
                    <a:pt x="60000" y="120000"/>
                  </a:lnTo>
                  <a:lnTo>
                    <a:pt x="46667" y="73333"/>
                  </a:lnTo>
                  <a:lnTo>
                    <a:pt x="0" y="60000"/>
                  </a:lnTo>
                  <a:lnTo>
                    <a:pt x="46667" y="46667"/>
                  </a:lnTo>
                  <a:close/>
                </a:path>
              </a:pathLst>
            </a:cu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1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التعريف بتطبيقات الذكاء الاصطناعي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استعراض أحدث تقنيات وخوارزميات الذكاء الاصطناعي واستخداماتها المباشرة في تطوير مجالات المسح والتحليل الأثري.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47" name="Google Shape;147;p21"/>
          <p:cNvGrpSpPr/>
          <p:nvPr/>
        </p:nvGrpSpPr>
        <p:grpSpPr>
          <a:xfrm>
            <a:off x="381000" y="1333500"/>
            <a:ext cx="4000500" cy="1476300"/>
            <a:chOff x="0" y="0"/>
            <a:chExt cx="4000500" cy="1476300"/>
          </a:xfrm>
        </p:grpSpPr>
        <p:sp>
          <p:nvSpPr>
            <p:cNvPr id="148" name="Google Shape;148;p21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" name="Google Shape;151;p21"/>
            <p:cNvGrpSpPr/>
            <p:nvPr/>
          </p:nvGrpSpPr>
          <p:grpSpPr>
            <a:xfrm>
              <a:off x="3562350" y="266700"/>
              <a:ext cx="171600" cy="152400"/>
              <a:chOff x="9525" y="9525"/>
              <a:chExt cx="171600" cy="152400"/>
            </a:xfrm>
          </p:grpSpPr>
          <p:sp>
            <p:nvSpPr>
              <p:cNvPr id="152" name="Google Shape;152;p21"/>
              <p:cNvSpPr/>
              <p:nvPr/>
            </p:nvSpPr>
            <p:spPr>
              <a:xfrm>
                <a:off x="9525" y="9525"/>
                <a:ext cx="171600" cy="762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60000"/>
                    </a:lnTo>
                    <a:lnTo>
                      <a:pt x="60000" y="120000"/>
                    </a:lnTo>
                    <a:lnTo>
                      <a:pt x="0" y="6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21"/>
              <p:cNvSpPr/>
              <p:nvPr/>
            </p:nvSpPr>
            <p:spPr>
              <a:xfrm>
                <a:off x="9525" y="47625"/>
                <a:ext cx="858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80000"/>
                    </a:lnTo>
                    <a:lnTo>
                      <a:pt x="120000" y="120000"/>
                    </a:lnTo>
                    <a:lnTo>
                      <a:pt x="120000" y="4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21"/>
              <p:cNvSpPr/>
              <p:nvPr/>
            </p:nvSpPr>
            <p:spPr>
              <a:xfrm>
                <a:off x="95250" y="47625"/>
                <a:ext cx="85800" cy="114300"/>
              </a:xfrm>
              <a:custGeom>
                <a:rect b="b" l="l" r="r" t="t"/>
                <a:pathLst>
                  <a:path extrusionOk="0" h="120000" w="120000">
                    <a:moveTo>
                      <a:pt x="120000" y="0"/>
                    </a:moveTo>
                    <a:lnTo>
                      <a:pt x="120000" y="8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5" name="Google Shape;155;p21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التوثيق الرقمي والنمذجة ثلاثية الأبعاد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تطبيق أساليب التوثيق الرقمي المتقدمة وإنشاء نماذج ثلاثية الأبعاد عالية الدقة للمواقع والمكتشفات الأثرية.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6" name="Google Shape;156;p21"/>
          <p:cNvGrpSpPr/>
          <p:nvPr/>
        </p:nvGrpSpPr>
        <p:grpSpPr>
          <a:xfrm>
            <a:off x="4762500" y="3000375"/>
            <a:ext cx="4000500" cy="1476300"/>
            <a:chOff x="0" y="0"/>
            <a:chExt cx="4000500" cy="1476300"/>
          </a:xfrm>
        </p:grpSpPr>
        <p:sp>
          <p:nvSpPr>
            <p:cNvPr id="157" name="Google Shape;157;p21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0" name="Google Shape;160;p21"/>
            <p:cNvGrpSpPr/>
            <p:nvPr/>
          </p:nvGrpSpPr>
          <p:grpSpPr>
            <a:xfrm>
              <a:off x="3562350" y="266700"/>
              <a:ext cx="162075" cy="162075"/>
              <a:chOff x="9525" y="9525"/>
              <a:chExt cx="162075" cy="162075"/>
            </a:xfrm>
          </p:grpSpPr>
          <p:sp>
            <p:nvSpPr>
              <p:cNvPr id="161" name="Google Shape;161;p21"/>
              <p:cNvSpPr/>
              <p:nvPr/>
            </p:nvSpPr>
            <p:spPr>
              <a:xfrm>
                <a:off x="9525" y="9525"/>
                <a:ext cx="114300" cy="1143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62" name="Google Shape;162;p21"/>
              <p:cNvCxnSpPr/>
              <p:nvPr/>
            </p:nvCxnSpPr>
            <p:spPr>
              <a:xfrm>
                <a:off x="114300" y="114300"/>
                <a:ext cx="57300" cy="5730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3" name="Google Shape;163;p21"/>
              <p:cNvSpPr/>
              <p:nvPr/>
            </p:nvSpPr>
            <p:spPr>
              <a:xfrm>
                <a:off x="47625" y="47625"/>
                <a:ext cx="38100" cy="38100"/>
              </a:xfrm>
              <a:prstGeom prst="ellipse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" name="Google Shape;164;p21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جمع البيانات والتنبؤ بالمواقع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تحسين كفاءة جمع البيانات الميدانية واستخدام التحليل التنبؤي للكشف عن المواقع والمعالم الأثرية المطمورة.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65" name="Google Shape;165;p21"/>
          <p:cNvGrpSpPr/>
          <p:nvPr/>
        </p:nvGrpSpPr>
        <p:grpSpPr>
          <a:xfrm>
            <a:off x="381000" y="3000375"/>
            <a:ext cx="4000500" cy="1476300"/>
            <a:chOff x="0" y="0"/>
            <a:chExt cx="4000500" cy="1476300"/>
          </a:xfrm>
        </p:grpSpPr>
        <p:sp>
          <p:nvSpPr>
            <p:cNvPr id="166" name="Google Shape;166;p21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" name="Google Shape;169;p21"/>
            <p:cNvGrpSpPr/>
            <p:nvPr/>
          </p:nvGrpSpPr>
          <p:grpSpPr>
            <a:xfrm>
              <a:off x="3571875" y="266700"/>
              <a:ext cx="152400" cy="162000"/>
              <a:chOff x="19050" y="9525"/>
              <a:chExt cx="152400" cy="162000"/>
            </a:xfrm>
          </p:grpSpPr>
          <p:sp>
            <p:nvSpPr>
              <p:cNvPr id="170" name="Google Shape;170;p21"/>
              <p:cNvSpPr/>
              <p:nvPr/>
            </p:nvSpPr>
            <p:spPr>
              <a:xfrm>
                <a:off x="19050" y="9525"/>
                <a:ext cx="152400" cy="1620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21176"/>
                    </a:lnTo>
                    <a:lnTo>
                      <a:pt x="120000" y="63529"/>
                    </a:lnTo>
                    <a:cubicBezTo>
                      <a:pt x="120000" y="98824"/>
                      <a:pt x="60000" y="120000"/>
                      <a:pt x="60000" y="120000"/>
                    </a:cubicBezTo>
                    <a:cubicBezTo>
                      <a:pt x="60000" y="120000"/>
                      <a:pt x="0" y="98824"/>
                      <a:pt x="0" y="63529"/>
                    </a:cubicBezTo>
                    <a:lnTo>
                      <a:pt x="0" y="2117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21"/>
              <p:cNvSpPr/>
              <p:nvPr/>
            </p:nvSpPr>
            <p:spPr>
              <a:xfrm>
                <a:off x="57150" y="5715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" name="Google Shape;172;p21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مراقبة المواقع والصيانة الوقائية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متابعة حالة المواقع الأثرية باستمرار وتطبيق أنظمة الصيانة الوقائية المؤتمتة لحمايتها من العوامل البيئية.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73" name="Google Shape;173;p21"/>
          <p:cNvSpPr/>
          <p:nvPr/>
        </p:nvSpPr>
        <p:spPr>
          <a:xfrm>
            <a:off x="381000" y="471487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2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79" name="Google Shape;179;p22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22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381000" y="53340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برنامج العمل والمحاور الرئيسية الأربعة</a:t>
            </a:r>
            <a:endParaRPr b="1" sz="21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8001000" y="9906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381000" y="11049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مسار تدفقي متكامل يستعرض المراحل الأساسية لتطبيق الذكاء الاصطناعي في العمل الأثري:</a:t>
            </a:r>
            <a:endParaRPr b="0" sz="110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cxnSp>
        <p:nvCxnSpPr>
          <p:cNvPr id="186" name="Google Shape;186;p22"/>
          <p:cNvCxnSpPr/>
          <p:nvPr/>
        </p:nvCxnSpPr>
        <p:spPr>
          <a:xfrm>
            <a:off x="1381125" y="1638300"/>
            <a:ext cx="64293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7" name="Google Shape;187;p22"/>
          <p:cNvGrpSpPr/>
          <p:nvPr/>
        </p:nvGrpSpPr>
        <p:grpSpPr>
          <a:xfrm>
            <a:off x="7639050" y="1466850"/>
            <a:ext cx="342900" cy="342900"/>
            <a:chOff x="-171450" y="-171450"/>
            <a:chExt cx="342900" cy="342900"/>
          </a:xfrm>
        </p:grpSpPr>
        <p:sp>
          <p:nvSpPr>
            <p:cNvPr id="188" name="Google Shape;188;p22"/>
            <p:cNvSpPr/>
            <p:nvPr/>
          </p:nvSpPr>
          <p:spPr>
            <a:xfrm>
              <a:off x="-1714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-114300" y="-114300"/>
              <a:ext cx="228600" cy="2286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 txBox="1"/>
            <p:nvPr/>
          </p:nvSpPr>
          <p:spPr>
            <a:xfrm>
              <a:off x="-114300" y="-133350"/>
              <a:ext cx="228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1</a:t>
              </a:r>
              <a:endParaRPr b="1" sz="12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191" name="Google Shape;191;p22"/>
          <p:cNvGrpSpPr/>
          <p:nvPr/>
        </p:nvGrpSpPr>
        <p:grpSpPr>
          <a:xfrm>
            <a:off x="6858000" y="1981200"/>
            <a:ext cx="1905000" cy="2476500"/>
            <a:chOff x="0" y="0"/>
            <a:chExt cx="1905000" cy="2476500"/>
          </a:xfrm>
        </p:grpSpPr>
        <p:sp>
          <p:nvSpPr>
            <p:cNvPr id="192" name="Google Shape;192;p22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114300" y="190500"/>
              <a:ext cx="167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المقدمة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مفاهيم وتطبيقات الذكاء الاصطناعي الأساسية في الاستكشاف والبحث الأثري.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95" name="Google Shape;195;p22"/>
          <p:cNvGrpSpPr/>
          <p:nvPr/>
        </p:nvGrpSpPr>
        <p:grpSpPr>
          <a:xfrm>
            <a:off x="5495925" y="1466850"/>
            <a:ext cx="342900" cy="342900"/>
            <a:chOff x="-171450" y="-171450"/>
            <a:chExt cx="342900" cy="342900"/>
          </a:xfrm>
        </p:grpSpPr>
        <p:sp>
          <p:nvSpPr>
            <p:cNvPr id="196" name="Google Shape;196;p22"/>
            <p:cNvSpPr/>
            <p:nvPr/>
          </p:nvSpPr>
          <p:spPr>
            <a:xfrm>
              <a:off x="-1714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-114300" y="-114300"/>
              <a:ext cx="228600" cy="2286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 txBox="1"/>
            <p:nvPr/>
          </p:nvSpPr>
          <p:spPr>
            <a:xfrm>
              <a:off x="-114300" y="-133350"/>
              <a:ext cx="228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2</a:t>
              </a:r>
              <a:endParaRPr b="1" sz="12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199" name="Google Shape;199;p22"/>
          <p:cNvGrpSpPr/>
          <p:nvPr/>
        </p:nvGrpSpPr>
        <p:grpSpPr>
          <a:xfrm>
            <a:off x="4714875" y="1981200"/>
            <a:ext cx="1905000" cy="2476500"/>
            <a:chOff x="0" y="0"/>
            <a:chExt cx="1905000" cy="2476500"/>
          </a:xfrm>
        </p:grpSpPr>
        <p:sp>
          <p:nvSpPr>
            <p:cNvPr id="200" name="Google Shape;200;p22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114300" y="190500"/>
              <a:ext cx="167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التوثيق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تسجيل البيانات الرقمية وبناء التوائم الرقمية ثلاثية الأبعاد للمواقع والمقتنيات الأثرية.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03" name="Google Shape;203;p22"/>
          <p:cNvGrpSpPr/>
          <p:nvPr/>
        </p:nvGrpSpPr>
        <p:grpSpPr>
          <a:xfrm>
            <a:off x="3352800" y="1466850"/>
            <a:ext cx="342900" cy="342900"/>
            <a:chOff x="-171450" y="-171450"/>
            <a:chExt cx="342900" cy="342900"/>
          </a:xfrm>
        </p:grpSpPr>
        <p:sp>
          <p:nvSpPr>
            <p:cNvPr id="204" name="Google Shape;204;p22"/>
            <p:cNvSpPr/>
            <p:nvPr/>
          </p:nvSpPr>
          <p:spPr>
            <a:xfrm>
              <a:off x="-1714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-114300" y="-114300"/>
              <a:ext cx="228600" cy="2286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-114300" y="-133350"/>
              <a:ext cx="228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3</a:t>
              </a:r>
              <a:endParaRPr b="1" sz="12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07" name="Google Shape;207;p22"/>
          <p:cNvGrpSpPr/>
          <p:nvPr/>
        </p:nvGrpSpPr>
        <p:grpSpPr>
          <a:xfrm>
            <a:off x="2571750" y="1981200"/>
            <a:ext cx="1905000" cy="2476500"/>
            <a:chOff x="0" y="0"/>
            <a:chExt cx="1905000" cy="2476500"/>
          </a:xfrm>
        </p:grpSpPr>
        <p:sp>
          <p:nvSpPr>
            <p:cNvPr id="208" name="Google Shape;208;p22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 txBox="1"/>
            <p:nvPr/>
          </p:nvSpPr>
          <p:spPr>
            <a:xfrm>
              <a:off x="114300" y="190500"/>
              <a:ext cx="167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الكشف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التنبؤ بالمواقع الأثرية الكامنة عبر تحليل الصور الفضائية وتقنيات الاستشعار عن بعد.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11" name="Google Shape;211;p22"/>
          <p:cNvGrpSpPr/>
          <p:nvPr/>
        </p:nvGrpSpPr>
        <p:grpSpPr>
          <a:xfrm>
            <a:off x="1209675" y="1466850"/>
            <a:ext cx="342900" cy="342900"/>
            <a:chOff x="-171450" y="-171450"/>
            <a:chExt cx="342900" cy="342900"/>
          </a:xfrm>
        </p:grpSpPr>
        <p:sp>
          <p:nvSpPr>
            <p:cNvPr id="212" name="Google Shape;212;p22"/>
            <p:cNvSpPr/>
            <p:nvPr/>
          </p:nvSpPr>
          <p:spPr>
            <a:xfrm>
              <a:off x="-1714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-114300" y="-114300"/>
              <a:ext cx="228600" cy="2286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-114300" y="-133350"/>
              <a:ext cx="228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4</a:t>
              </a:r>
              <a:endParaRPr b="1" sz="12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15" name="Google Shape;215;p22"/>
          <p:cNvGrpSpPr/>
          <p:nvPr/>
        </p:nvGrpSpPr>
        <p:grpSpPr>
          <a:xfrm>
            <a:off x="428625" y="1981200"/>
            <a:ext cx="1905000" cy="2476500"/>
            <a:chOff x="0" y="0"/>
            <a:chExt cx="1905000" cy="2476500"/>
          </a:xfrm>
        </p:grpSpPr>
        <p:sp>
          <p:nvSpPr>
            <p:cNvPr id="216" name="Google Shape;216;p22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2"/>
            <p:cNvSpPr txBox="1"/>
            <p:nvPr/>
          </p:nvSpPr>
          <p:spPr>
            <a:xfrm>
              <a:off x="114300" y="190500"/>
              <a:ext cx="167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المراقبة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رصد ومتابعة التدهور الهيكلي وتطبيق نماذج الصيانة التنبؤية وحماية التراث.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19" name="Google Shape;219;p22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3"/>
          <p:cNvGrpSpPr/>
          <p:nvPr/>
        </p:nvGrpSpPr>
        <p:grpSpPr>
          <a:xfrm>
            <a:off x="381000" y="190500"/>
            <a:ext cx="8534400" cy="342900"/>
            <a:chOff x="381000" y="190500"/>
            <a:chExt cx="8534400" cy="342900"/>
          </a:xfrm>
        </p:grpSpPr>
        <p:grpSp>
          <p:nvGrpSpPr>
            <p:cNvPr id="225" name="Google Shape;225;p23"/>
            <p:cNvGrpSpPr/>
            <p:nvPr/>
          </p:nvGrpSpPr>
          <p:grpSpPr>
            <a:xfrm>
              <a:off x="8572500" y="190500"/>
              <a:ext cx="342900" cy="342900"/>
              <a:chOff x="0" y="0"/>
              <a:chExt cx="342900" cy="342900"/>
            </a:xfrm>
          </p:grpSpPr>
          <p:sp>
            <p:nvSpPr>
              <p:cNvPr id="226" name="Google Shape;226;p23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3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3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9" name="Google Shape;229;p23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30" name="Google Shape;230;p23"/>
          <p:cNvGrpSpPr/>
          <p:nvPr/>
        </p:nvGrpSpPr>
        <p:grpSpPr>
          <a:xfrm>
            <a:off x="381000" y="552450"/>
            <a:ext cx="8382000" cy="485775"/>
            <a:chOff x="381000" y="552450"/>
            <a:chExt cx="8382000" cy="485775"/>
          </a:xfrm>
        </p:grpSpPr>
        <p:sp>
          <p:nvSpPr>
            <p:cNvPr id="231" name="Google Shape;231;p23"/>
            <p:cNvSpPr txBox="1"/>
            <p:nvPr/>
          </p:nvSpPr>
          <p:spPr>
            <a:xfrm>
              <a:off x="381000" y="55245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ورشة تطبيقية تفاعلية: من النظرية إلى الميدان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8001000" y="10001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" name="Google Shape;233;p23"/>
          <p:cNvGrpSpPr/>
          <p:nvPr/>
        </p:nvGrpSpPr>
        <p:grpSpPr>
          <a:xfrm>
            <a:off x="4476750" y="1238250"/>
            <a:ext cx="4529028" cy="3200325"/>
            <a:chOff x="0" y="0"/>
            <a:chExt cx="4529028" cy="3200325"/>
          </a:xfrm>
        </p:grpSpPr>
        <p:grpSp>
          <p:nvGrpSpPr>
            <p:cNvPr id="234" name="Google Shape;234;p23"/>
            <p:cNvGrpSpPr/>
            <p:nvPr/>
          </p:nvGrpSpPr>
          <p:grpSpPr>
            <a:xfrm>
              <a:off x="0" y="0"/>
              <a:ext cx="4464179" cy="714300"/>
              <a:chOff x="0" y="0"/>
              <a:chExt cx="4464179" cy="714300"/>
            </a:xfrm>
          </p:grpSpPr>
          <p:sp>
            <p:nvSpPr>
              <p:cNvPr id="235" name="Google Shape;235;p23"/>
              <p:cNvSpPr/>
              <p:nvPr/>
            </p:nvSpPr>
            <p:spPr>
              <a:xfrm>
                <a:off x="0" y="0"/>
                <a:ext cx="4286400" cy="714300"/>
              </a:xfrm>
              <a:prstGeom prst="roundRect">
                <a:avLst>
                  <a:gd fmla="val 10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3"/>
              <p:cNvSpPr/>
              <p:nvPr/>
            </p:nvSpPr>
            <p:spPr>
              <a:xfrm>
                <a:off x="4229100" y="0"/>
                <a:ext cx="57300" cy="7143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3"/>
              <p:cNvSpPr/>
              <p:nvPr/>
            </p:nvSpPr>
            <p:spPr>
              <a:xfrm>
                <a:off x="3667125" y="142875"/>
                <a:ext cx="428700" cy="428700"/>
              </a:xfrm>
              <a:prstGeom prst="roundRect">
                <a:avLst>
                  <a:gd fmla="val 13333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3"/>
              <p:cNvSpPr txBox="1"/>
              <p:nvPr/>
            </p:nvSpPr>
            <p:spPr>
              <a:xfrm>
                <a:off x="3298679" y="251460"/>
                <a:ext cx="11655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50">
                    <a:solidFill>
                      <a:srgbClr val="8B5A2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touch_app</a:t>
                </a:r>
                <a:endParaRPr sz="165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9" name="Google Shape;239;p23"/>
              <p:cNvSpPr txBox="1"/>
              <p:nvPr/>
            </p:nvSpPr>
            <p:spPr>
              <a:xfrm>
                <a:off x="190500" y="114300"/>
                <a:ext cx="333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49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بيئة عمل تطبيقية تفاعلية بالكامل</a:t>
                </a:r>
                <a:endParaRPr b="1" sz="1249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79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تدريب عملي مباشر (100% Hands-on) لتطبيق أدوات الذكاء الاصطناعي.</a:t>
                </a:r>
                <a:endParaRPr b="0" sz="879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40" name="Google Shape;240;p23"/>
            <p:cNvGrpSpPr/>
            <p:nvPr/>
          </p:nvGrpSpPr>
          <p:grpSpPr>
            <a:xfrm>
              <a:off x="0" y="828675"/>
              <a:ext cx="4529028" cy="714300"/>
              <a:chOff x="0" y="0"/>
              <a:chExt cx="4529028" cy="714300"/>
            </a:xfrm>
          </p:grpSpPr>
          <p:sp>
            <p:nvSpPr>
              <p:cNvPr id="241" name="Google Shape;241;p23"/>
              <p:cNvSpPr/>
              <p:nvPr/>
            </p:nvSpPr>
            <p:spPr>
              <a:xfrm>
                <a:off x="0" y="0"/>
                <a:ext cx="4286400" cy="714300"/>
              </a:xfrm>
              <a:prstGeom prst="roundRect">
                <a:avLst>
                  <a:gd fmla="val 10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3"/>
              <p:cNvSpPr/>
              <p:nvPr/>
            </p:nvSpPr>
            <p:spPr>
              <a:xfrm>
                <a:off x="4229100" y="0"/>
                <a:ext cx="57300" cy="7143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3"/>
              <p:cNvSpPr/>
              <p:nvPr/>
            </p:nvSpPr>
            <p:spPr>
              <a:xfrm>
                <a:off x="3667125" y="142875"/>
                <a:ext cx="428700" cy="428700"/>
              </a:xfrm>
              <a:prstGeom prst="roundRect">
                <a:avLst>
                  <a:gd fmla="val 13333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3"/>
              <p:cNvSpPr txBox="1"/>
              <p:nvPr/>
            </p:nvSpPr>
            <p:spPr>
              <a:xfrm>
                <a:off x="3233928" y="251460"/>
                <a:ext cx="12951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50">
                    <a:solidFill>
                      <a:srgbClr val="8B5A2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smartphone</a:t>
                </a:r>
                <a:endParaRPr sz="165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5" name="Google Shape;245;p23"/>
              <p:cNvSpPr txBox="1"/>
              <p:nvPr/>
            </p:nvSpPr>
            <p:spPr>
              <a:xfrm>
                <a:off x="190500" y="114300"/>
                <a:ext cx="333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منصات المسح الذكية للهواتف</a:t>
                </a:r>
                <a:endParaRPr b="1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استخدام تطبيقات (Polycam, Luma AI) للمسح الميداني ثلاثي الأبعاد.</a:t>
                </a:r>
                <a:endParaRPr b="0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46" name="Google Shape;246;p23"/>
            <p:cNvGrpSpPr/>
            <p:nvPr/>
          </p:nvGrpSpPr>
          <p:grpSpPr>
            <a:xfrm>
              <a:off x="0" y="1657350"/>
              <a:ext cx="4286400" cy="714300"/>
              <a:chOff x="0" y="0"/>
              <a:chExt cx="4286400" cy="714300"/>
            </a:xfrm>
          </p:grpSpPr>
          <p:sp>
            <p:nvSpPr>
              <p:cNvPr id="247" name="Google Shape;247;p23"/>
              <p:cNvSpPr/>
              <p:nvPr/>
            </p:nvSpPr>
            <p:spPr>
              <a:xfrm>
                <a:off x="0" y="0"/>
                <a:ext cx="4286400" cy="714300"/>
              </a:xfrm>
              <a:prstGeom prst="roundRect">
                <a:avLst>
                  <a:gd fmla="val 10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3"/>
              <p:cNvSpPr/>
              <p:nvPr/>
            </p:nvSpPr>
            <p:spPr>
              <a:xfrm>
                <a:off x="4229100" y="0"/>
                <a:ext cx="57300" cy="7143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3"/>
              <p:cNvSpPr/>
              <p:nvPr/>
            </p:nvSpPr>
            <p:spPr>
              <a:xfrm>
                <a:off x="3667125" y="142875"/>
                <a:ext cx="428700" cy="428700"/>
              </a:xfrm>
              <a:prstGeom prst="roundRect">
                <a:avLst>
                  <a:gd fmla="val 13333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3"/>
              <p:cNvSpPr txBox="1"/>
              <p:nvPr/>
            </p:nvSpPr>
            <p:spPr>
              <a:xfrm>
                <a:off x="3622434" y="251460"/>
                <a:ext cx="5181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50">
                    <a:solidFill>
                      <a:srgbClr val="8B5A2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 sz="165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51" name="Google Shape;251;p23"/>
              <p:cNvSpPr txBox="1"/>
              <p:nvPr/>
            </p:nvSpPr>
            <p:spPr>
              <a:xfrm>
                <a:off x="190500" y="114300"/>
                <a:ext cx="333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تحليل الرادار عبر Google Colab</a:t>
                </a:r>
                <a:endParaRPr b="1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استعراض تجارب المعالجة البرمجية وأكواد التحليل الذكي للبيانات.</a:t>
                </a:r>
                <a:endParaRPr b="0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252" name="Google Shape;252;p23"/>
            <p:cNvGrpSpPr/>
            <p:nvPr/>
          </p:nvGrpSpPr>
          <p:grpSpPr>
            <a:xfrm>
              <a:off x="0" y="2486025"/>
              <a:ext cx="4529028" cy="714300"/>
              <a:chOff x="0" y="0"/>
              <a:chExt cx="4529028" cy="714300"/>
            </a:xfrm>
          </p:grpSpPr>
          <p:sp>
            <p:nvSpPr>
              <p:cNvPr id="253" name="Google Shape;253;p23"/>
              <p:cNvSpPr/>
              <p:nvPr/>
            </p:nvSpPr>
            <p:spPr>
              <a:xfrm>
                <a:off x="0" y="0"/>
                <a:ext cx="4286400" cy="714300"/>
              </a:xfrm>
              <a:prstGeom prst="roundRect">
                <a:avLst>
                  <a:gd fmla="val 10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3"/>
              <p:cNvSpPr/>
              <p:nvPr/>
            </p:nvSpPr>
            <p:spPr>
              <a:xfrm>
                <a:off x="4229100" y="0"/>
                <a:ext cx="57300" cy="7143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3"/>
              <p:cNvSpPr/>
              <p:nvPr/>
            </p:nvSpPr>
            <p:spPr>
              <a:xfrm>
                <a:off x="3667125" y="142875"/>
                <a:ext cx="428700" cy="428700"/>
              </a:xfrm>
              <a:prstGeom prst="roundRect">
                <a:avLst>
                  <a:gd fmla="val 13333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3"/>
              <p:cNvSpPr txBox="1"/>
              <p:nvPr/>
            </p:nvSpPr>
            <p:spPr>
              <a:xfrm>
                <a:off x="3233928" y="251460"/>
                <a:ext cx="1295100" cy="3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50">
                    <a:solidFill>
                      <a:srgbClr val="8B5A2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view_in_ar</a:t>
                </a:r>
                <a:endParaRPr sz="165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57" name="Google Shape;257;p23"/>
              <p:cNvSpPr txBox="1"/>
              <p:nvPr/>
            </p:nvSpPr>
            <p:spPr>
              <a:xfrm>
                <a:off x="190500" y="114300"/>
                <a:ext cx="3333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بناء المجسمات والتقارير الفورية</a:t>
                </a:r>
                <a:endParaRPr b="1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توليد نماذج ثلاثية الأبعاد وتقارير حالة أثرية فورية من الميدان.</a:t>
                </a:r>
                <a:endParaRPr b="0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grpSp>
        <p:nvGrpSpPr>
          <p:cNvPr id="258" name="Google Shape;258;p23"/>
          <p:cNvGrpSpPr/>
          <p:nvPr/>
        </p:nvGrpSpPr>
        <p:grpSpPr>
          <a:xfrm>
            <a:off x="381000" y="1238250"/>
            <a:ext cx="3905400" cy="3200400"/>
            <a:chOff x="0" y="0"/>
            <a:chExt cx="3905400" cy="3200400"/>
          </a:xfrm>
        </p:grpSpPr>
        <p:sp>
          <p:nvSpPr>
            <p:cNvPr id="259" name="Google Shape;259;p23"/>
            <p:cNvSpPr/>
            <p:nvPr/>
          </p:nvSpPr>
          <p:spPr>
            <a:xfrm>
              <a:off x="0" y="0"/>
              <a:ext cx="3905400" cy="3200400"/>
            </a:xfrm>
            <a:prstGeom prst="roundRect">
              <a:avLst>
                <a:gd fmla="val 238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3"/>
            <p:cNvSpPr txBox="1"/>
            <p:nvPr/>
          </p:nvSpPr>
          <p:spPr>
            <a:xfrm>
              <a:off x="142875" y="14287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واجهة التحليل الرقمي والمسح بالأجهزة المحمولة</a:t>
              </a:r>
              <a:endParaRPr b="1" sz="1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pic>
          <p:nvPicPr>
            <p:cNvPr id="262" name="Google Shape;262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2875" y="457200"/>
              <a:ext cx="3619500" cy="203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23"/>
            <p:cNvSpPr txBox="1"/>
            <p:nvPr/>
          </p:nvSpPr>
          <p:spPr>
            <a:xfrm>
              <a:off x="142875" y="2571750"/>
              <a:ext cx="361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التطبيق الميداني:</a:t>
              </a:r>
              <a:r>
                <a:rPr b="0" lang="en" sz="9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 معالجة نماذج التعلم الآلي لتحديد النطاقات الأثرية وتوليد الخرائط الحرارية ثلاثية الأبعاد بدقة فائقة.</a:t>
              </a:r>
              <a:endParaRPr b="0" sz="9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64" name="Google Shape;264;p23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4"/>
          <p:cNvGrpSpPr/>
          <p:nvPr/>
        </p:nvGrpSpPr>
        <p:grpSpPr>
          <a:xfrm>
            <a:off x="8572500" y="190500"/>
            <a:ext cx="342900" cy="342900"/>
            <a:chOff x="0" y="0"/>
            <a:chExt cx="342900" cy="342900"/>
          </a:xfrm>
        </p:grpSpPr>
        <p:sp>
          <p:nvSpPr>
            <p:cNvPr id="270" name="Google Shape;270;p24"/>
            <p:cNvSpPr/>
            <p:nvPr/>
          </p:nvSpPr>
          <p:spPr>
            <a:xfrm>
              <a:off x="0" y="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24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381000" y="571500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ماذا سنحقق بنهاية جلسات اليوم؟</a:t>
            </a:r>
            <a:endParaRPr b="1" sz="21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النتائج والمخرجات المرتقبة لتعزيز صون التراث وتطوير البنية الرقمية الأثرية</a:t>
            </a:r>
            <a:endParaRPr b="0" sz="110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8001000" y="9334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24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277" name="Google Shape;277;p24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190500" y="238125"/>
              <a:ext cx="952500" cy="952500"/>
            </a:xfrm>
            <a:prstGeom prst="roundRect">
              <a:avLst>
                <a:gd fmla="val 8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190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80%</a:t>
              </a:r>
              <a:endParaRPr b="1" sz="28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اختصار الزمن</a:t>
              </a:r>
              <a:endParaRPr b="1" sz="8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281" name="Google Shape;281;p24"/>
            <p:cNvSpPr txBox="1"/>
            <p:nvPr/>
          </p:nvSpPr>
          <p:spPr>
            <a:xfrm>
              <a:off x="1285875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تمكين الباحثين</a:t>
              </a:r>
              <a:endParaRPr b="1" sz="135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اختصار زمن الفهرسة بنسبة 80% لتسريع معالجة البيانات الأثرية وتوثيقها بدقة عالية.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82" name="Google Shape;282;p24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283" name="Google Shape;283;p24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" name="Google Shape;285;p24"/>
            <p:cNvGrpSpPr/>
            <p:nvPr/>
          </p:nvGrpSpPr>
          <p:grpSpPr>
            <a:xfrm>
              <a:off x="3467100" y="190500"/>
              <a:ext cx="342900" cy="342900"/>
              <a:chOff x="0" y="0"/>
              <a:chExt cx="342900" cy="342900"/>
            </a:xfrm>
          </p:grpSpPr>
          <p:sp>
            <p:nvSpPr>
              <p:cNvPr id="286" name="Google Shape;286;p2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4"/>
              <p:cNvSpPr/>
              <p:nvPr/>
            </p:nvSpPr>
            <p:spPr>
              <a:xfrm>
                <a:off x="95250" y="95250"/>
                <a:ext cx="1524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60000" y="0"/>
                    </a:lnTo>
                    <a:lnTo>
                      <a:pt x="120000" y="60000"/>
                    </a:lnTo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8" name="Google Shape;288;p24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فهم تقنيات الرادار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تحديد مؤشرات المواقع المدفونة وتحليل قراءات الاستشعار لرفع كفاءة التنقيب الميداني.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89" name="Google Shape;289;p24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290" name="Google Shape;290;p24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2" name="Google Shape;292;p24"/>
            <p:cNvGrpSpPr/>
            <p:nvPr/>
          </p:nvGrpSpPr>
          <p:grpSpPr>
            <a:xfrm>
              <a:off x="3467100" y="190500"/>
              <a:ext cx="342900" cy="342900"/>
              <a:chOff x="0" y="0"/>
              <a:chExt cx="342900" cy="342900"/>
            </a:xfrm>
          </p:grpSpPr>
          <p:sp>
            <p:nvSpPr>
              <p:cNvPr id="293" name="Google Shape;293;p2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4"/>
              <p:cNvSpPr/>
              <p:nvPr/>
            </p:nvSpPr>
            <p:spPr>
              <a:xfrm>
                <a:off x="85725" y="114300"/>
                <a:ext cx="1716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cubicBezTo>
                      <a:pt x="20000" y="0"/>
                      <a:pt x="100000" y="0"/>
                      <a:pt x="120000" y="60000"/>
                    </a:cubicBezTo>
                    <a:cubicBezTo>
                      <a:pt x="100000" y="120000"/>
                      <a:pt x="20000" y="120000"/>
                      <a:pt x="0" y="60000"/>
                    </a:cubicBezTo>
                    <a:close/>
                    <a:moveTo>
                      <a:pt x="60000" y="30000"/>
                    </a:moveTo>
                    <a:cubicBezTo>
                      <a:pt x="48954" y="30000"/>
                      <a:pt x="40000" y="43431"/>
                      <a:pt x="40000" y="60000"/>
                    </a:cubicBezTo>
                    <a:cubicBezTo>
                      <a:pt x="40000" y="76569"/>
                      <a:pt x="48954" y="90000"/>
                      <a:pt x="60000" y="90000"/>
                    </a:cubicBezTo>
                    <a:cubicBezTo>
                      <a:pt x="71046" y="90000"/>
                      <a:pt x="80000" y="76569"/>
                      <a:pt x="80000" y="60000"/>
                    </a:cubicBezTo>
                    <a:cubicBezTo>
                      <a:pt x="80000" y="43431"/>
                      <a:pt x="71046" y="30000"/>
                      <a:pt x="60000" y="3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5" name="Google Shape;295;p24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اكتساب مهارة الرصد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الكشف المبكر لتصدعات المباني وتآكل القطع الأثرية لحمايتها واستدامتها المستقبليين.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6" name="Google Shape;296;p24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297" name="Google Shape;297;p24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9" name="Google Shape;299;p24"/>
            <p:cNvGrpSpPr/>
            <p:nvPr/>
          </p:nvGrpSpPr>
          <p:grpSpPr>
            <a:xfrm>
              <a:off x="3467100" y="190500"/>
              <a:ext cx="342900" cy="342900"/>
              <a:chOff x="0" y="0"/>
              <a:chExt cx="342900" cy="342900"/>
            </a:xfrm>
          </p:grpSpPr>
          <p:sp>
            <p:nvSpPr>
              <p:cNvPr id="300" name="Google Shape;300;p2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4"/>
              <p:cNvSpPr/>
              <p:nvPr/>
            </p:nvSpPr>
            <p:spPr>
              <a:xfrm>
                <a:off x="95250" y="76200"/>
                <a:ext cx="152400" cy="1905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90000" y="0"/>
                    </a:lnTo>
                    <a:lnTo>
                      <a:pt x="120000" y="24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  <a:moveTo>
                      <a:pt x="30000" y="36000"/>
                    </a:moveTo>
                    <a:lnTo>
                      <a:pt x="75000" y="36000"/>
                    </a:lnTo>
                    <a:moveTo>
                      <a:pt x="30000" y="60000"/>
                    </a:moveTo>
                    <a:lnTo>
                      <a:pt x="90000" y="60000"/>
                    </a:lnTo>
                    <a:moveTo>
                      <a:pt x="30000" y="84000"/>
                    </a:moveTo>
                    <a:lnTo>
                      <a:pt x="60000" y="84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2" name="Google Shape;302;p24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صياغة توصيات حاسمة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تأسيس بنية رقمية أثرية ذكية تعزز من التكامل المؤسسي واستخدام الذكاء الاصطناعي.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03" name="Google Shape;303;p24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25"/>
          <p:cNvGrpSpPr/>
          <p:nvPr/>
        </p:nvGrpSpPr>
        <p:grpSpPr>
          <a:xfrm>
            <a:off x="8572500" y="190500"/>
            <a:ext cx="342900" cy="342900"/>
            <a:chOff x="0" y="0"/>
            <a:chExt cx="342900" cy="342900"/>
          </a:xfrm>
        </p:grpSpPr>
        <p:sp>
          <p:nvSpPr>
            <p:cNvPr id="309" name="Google Shape;309;p25"/>
            <p:cNvSpPr/>
            <p:nvPr/>
          </p:nvSpPr>
          <p:spPr>
            <a:xfrm>
              <a:off x="0" y="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25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313" name="Google Shape;313;p25"/>
          <p:cNvGrpSpPr/>
          <p:nvPr/>
        </p:nvGrpSpPr>
        <p:grpSpPr>
          <a:xfrm>
            <a:off x="381000" y="571500"/>
            <a:ext cx="8382000" cy="428700"/>
            <a:chOff x="0" y="0"/>
            <a:chExt cx="8382000" cy="428700"/>
          </a:xfrm>
        </p:grpSpPr>
        <p:sp>
          <p:nvSpPr>
            <p:cNvPr id="314" name="Google Shape;314;p25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لنبدأ معاً: حماية شواهد الماضي بعيون تقنيات المستقبل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7620000" y="3810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25"/>
          <p:cNvGrpSpPr/>
          <p:nvPr/>
        </p:nvGrpSpPr>
        <p:grpSpPr>
          <a:xfrm>
            <a:off x="952500" y="1428750"/>
            <a:ext cx="7239000" cy="2190900"/>
            <a:chOff x="0" y="0"/>
            <a:chExt cx="7239000" cy="2190900"/>
          </a:xfrm>
        </p:grpSpPr>
        <p:sp>
          <p:nvSpPr>
            <p:cNvPr id="317" name="Google Shape;317;p25"/>
            <p:cNvSpPr/>
            <p:nvPr/>
          </p:nvSpPr>
          <p:spPr>
            <a:xfrm>
              <a:off x="0" y="0"/>
              <a:ext cx="7239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8" name="Google Shape;318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775" y="104775"/>
              <a:ext cx="7029600" cy="198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25"/>
            <p:cNvSpPr/>
            <p:nvPr/>
          </p:nvSpPr>
          <p:spPr>
            <a:xfrm>
              <a:off x="3143250" y="0"/>
              <a:ext cx="952500" cy="47700"/>
            </a:xfrm>
            <a:prstGeom prst="roundRect">
              <a:avLst>
                <a:gd fmla="val 4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3143250" y="2143125"/>
              <a:ext cx="952500" cy="47700"/>
            </a:xfrm>
            <a:prstGeom prst="roundRect">
              <a:avLst>
                <a:gd fmla="val 4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 txBox="1"/>
            <p:nvPr/>
          </p:nvSpPr>
          <p:spPr>
            <a:xfrm>
              <a:off x="6477000" y="2381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“</a:t>
              </a:r>
              <a:endParaRPr sz="22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22" name="Google Shape;322;p25"/>
            <p:cNvSpPr txBox="1"/>
            <p:nvPr/>
          </p:nvSpPr>
          <p:spPr>
            <a:xfrm>
              <a:off x="381000" y="14287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”</a:t>
              </a:r>
              <a:endParaRPr sz="22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23" name="Google Shape;323;p25"/>
            <p:cNvSpPr txBox="1"/>
            <p:nvPr/>
          </p:nvSpPr>
          <p:spPr>
            <a:xfrm>
              <a:off x="476250" y="428625"/>
              <a:ext cx="6286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"الآثار ليست مجرد أحجار صامتة، بل هي هوية وتاريخ؛ والذكاء الاصطناعي اليوم هو مرآتنا لاستنطاق تفاصيل هذا التاريخ وصونه للأجيال القادمة."</a:t>
              </a:r>
              <a:endParaRPr b="1" sz="18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324" name="Google Shape;324;p25"/>
          <p:cNvGrpSpPr/>
          <p:nvPr/>
        </p:nvGrpSpPr>
        <p:grpSpPr>
          <a:xfrm>
            <a:off x="3143250" y="3952875"/>
            <a:ext cx="2857500" cy="514500"/>
            <a:chOff x="0" y="0"/>
            <a:chExt cx="2857500" cy="514500"/>
          </a:xfrm>
        </p:grpSpPr>
        <p:sp>
          <p:nvSpPr>
            <p:cNvPr id="325" name="Google Shape;325;p25"/>
            <p:cNvSpPr/>
            <p:nvPr/>
          </p:nvSpPr>
          <p:spPr>
            <a:xfrm>
              <a:off x="0" y="38100"/>
              <a:ext cx="2857500" cy="476400"/>
            </a:xfrm>
            <a:prstGeom prst="roundRect">
              <a:avLst>
                <a:gd fmla="val 50000" name="adj"/>
              </a:avLst>
            </a:prstGeom>
            <a:solidFill>
              <a:srgbClr val="8B5A2B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0" y="0"/>
              <a:ext cx="2857500" cy="4764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19050" y="19050"/>
              <a:ext cx="2819400" cy="4383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285750" y="152400"/>
              <a:ext cx="114300" cy="1716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0" y="6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5"/>
            <p:cNvSpPr txBox="1"/>
            <p:nvPr/>
          </p:nvSpPr>
          <p:spPr>
            <a:xfrm>
              <a:off x="428625" y="0"/>
              <a:ext cx="2143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الانتقال إلى المحور الأول</a:t>
              </a:r>
              <a:endParaRPr b="1" sz="135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330" name="Google Shape;330;p25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/>
          <p:nvPr/>
        </p:nvSpPr>
        <p:spPr>
          <a:xfrm>
            <a:off x="0" y="0"/>
            <a:ext cx="9144000" cy="3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D4A373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26" title="nlg-w.png"/>
          <p:cNvPicPr preferRelativeResize="0"/>
          <p:nvPr/>
        </p:nvPicPr>
        <p:blipFill rotWithShape="1">
          <a:blip r:embed="rId3">
            <a:alphaModFix/>
          </a:blip>
          <a:srcRect b="0" l="169" r="159" t="0"/>
          <a:stretch/>
        </p:blipFill>
        <p:spPr>
          <a:xfrm>
            <a:off x="6269200" y="233400"/>
            <a:ext cx="2000100" cy="7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26"/>
          <p:cNvGrpSpPr/>
          <p:nvPr/>
        </p:nvGrpSpPr>
        <p:grpSpPr>
          <a:xfrm>
            <a:off x="352425" y="1002113"/>
            <a:ext cx="4057800" cy="3098475"/>
            <a:chOff x="352425" y="1002113"/>
            <a:chExt cx="4057800" cy="3098475"/>
          </a:xfrm>
        </p:grpSpPr>
        <p:pic>
          <p:nvPicPr>
            <p:cNvPr id="338" name="Google Shape;338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2425" y="1114425"/>
              <a:ext cx="4057800" cy="230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26"/>
            <p:cNvPicPr preferRelativeResize="0"/>
            <p:nvPr/>
          </p:nvPicPr>
          <p:blipFill rotWithShape="1">
            <a:blip r:embed="rId5">
              <a:alphaModFix/>
            </a:blip>
            <a:srcRect b="3582" l="0" r="0" t="9890"/>
            <a:stretch/>
          </p:blipFill>
          <p:spPr>
            <a:xfrm>
              <a:off x="381000" y="1002113"/>
              <a:ext cx="4000500" cy="2417400"/>
            </a:xfrm>
            <a:prstGeom prst="roundRect">
              <a:avLst>
                <a:gd fmla="val 3386" name="adj"/>
              </a:avLst>
            </a:prstGeom>
            <a:noFill/>
            <a:ln>
              <a:noFill/>
            </a:ln>
          </p:spPr>
        </p:pic>
        <p:grpSp>
          <p:nvGrpSpPr>
            <p:cNvPr id="340" name="Google Shape;340;p26"/>
            <p:cNvGrpSpPr/>
            <p:nvPr/>
          </p:nvGrpSpPr>
          <p:grpSpPr>
            <a:xfrm>
              <a:off x="376238" y="3519488"/>
              <a:ext cx="4010100" cy="581100"/>
              <a:chOff x="-4762" y="-4762"/>
              <a:chExt cx="4010100" cy="581100"/>
            </a:xfrm>
          </p:grpSpPr>
          <p:pic>
            <p:nvPicPr>
              <p:cNvPr id="341" name="Google Shape;341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4010100" cy="581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2" name="Google Shape;342;p26"/>
              <p:cNvSpPr txBox="1"/>
              <p:nvPr/>
            </p:nvSpPr>
            <p:spPr>
              <a:xfrm>
                <a:off x="142875" y="95250"/>
                <a:ext cx="3714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تقنيات المسح الليزري ثلاثي الأبعاد والتحليل الطيفي الرقمي للقطع الأثرية</a:t>
                </a:r>
                <a:endParaRPr b="0" sz="1050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grpSp>
        <p:nvGrpSpPr>
          <p:cNvPr id="343" name="Google Shape;343;p26"/>
          <p:cNvGrpSpPr/>
          <p:nvPr/>
        </p:nvGrpSpPr>
        <p:grpSpPr>
          <a:xfrm>
            <a:off x="4572000" y="1143000"/>
            <a:ext cx="3810150" cy="2952825"/>
            <a:chOff x="4572000" y="1143000"/>
            <a:chExt cx="3810150" cy="2952825"/>
          </a:xfrm>
        </p:grpSpPr>
        <p:grpSp>
          <p:nvGrpSpPr>
            <p:cNvPr id="344" name="Google Shape;344;p26"/>
            <p:cNvGrpSpPr/>
            <p:nvPr/>
          </p:nvGrpSpPr>
          <p:grpSpPr>
            <a:xfrm>
              <a:off x="6000750" y="1143000"/>
              <a:ext cx="2381400" cy="304800"/>
              <a:chOff x="0" y="0"/>
              <a:chExt cx="2381400" cy="304800"/>
            </a:xfrm>
          </p:grpSpPr>
          <p:sp>
            <p:nvSpPr>
              <p:cNvPr id="345" name="Google Shape;345;p26"/>
              <p:cNvSpPr/>
              <p:nvPr/>
            </p:nvSpPr>
            <p:spPr>
              <a:xfrm>
                <a:off x="0" y="0"/>
                <a:ext cx="23814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B23A22">
                  <a:alpha val="25000"/>
                </a:srgbClr>
              </a:solidFill>
              <a:ln cap="flat" cmpd="sng" w="9525">
                <a:solidFill>
                  <a:srgbClr val="B23A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6"/>
              <p:cNvSpPr txBox="1"/>
              <p:nvPr/>
            </p:nvSpPr>
            <p:spPr>
              <a:xfrm>
                <a:off x="95250" y="19050"/>
                <a:ext cx="2190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35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ورشة العمل التخصصية — المحور الأول</a:t>
                </a:r>
                <a:endParaRPr b="1" sz="935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347" name="Google Shape;347;p26"/>
            <p:cNvSpPr txBox="1"/>
            <p:nvPr/>
          </p:nvSpPr>
          <p:spPr>
            <a:xfrm>
              <a:off x="4572000" y="160020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الذكاء الاصطناعي في علم الآثار</a:t>
              </a:r>
              <a:endParaRPr b="1" sz="2405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850">
                  <a:solidFill>
                    <a:srgbClr val="FDFCF0"/>
                  </a:solidFill>
                  <a:latin typeface="Cairo"/>
                  <a:ea typeface="Cairo"/>
                  <a:cs typeface="Cairo"/>
                  <a:sym typeface="Cairo"/>
                </a:rPr>
                <a:t>من الرقمنة إلى الاستنطاق المعرفي</a:t>
              </a:r>
              <a:endParaRPr b="1" sz="1850">
                <a:solidFill>
                  <a:srgbClr val="FDFCF0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7620000" y="3124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6"/>
            <p:cNvSpPr txBox="1"/>
            <p:nvPr/>
          </p:nvSpPr>
          <p:spPr>
            <a:xfrm>
              <a:off x="4572000" y="3286125"/>
              <a:ext cx="3810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DFCF0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خارطة الطريق الاستراتيجية للتحول الرقمي وتطوير البنية التحتية التقنية</a:t>
              </a:r>
              <a:endParaRPr b="0" sz="1400">
                <a:solidFill>
                  <a:srgbClr val="FDFCF0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D4A37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50" name="Google Shape;350;p26"/>
          <p:cNvGrpSpPr/>
          <p:nvPr/>
        </p:nvGrpSpPr>
        <p:grpSpPr>
          <a:xfrm>
            <a:off x="381000" y="4519613"/>
            <a:ext cx="8382000" cy="414488"/>
            <a:chOff x="381000" y="4519613"/>
            <a:chExt cx="8382000" cy="414488"/>
          </a:xfrm>
        </p:grpSpPr>
        <p:pic>
          <p:nvPicPr>
            <p:cNvPr id="351" name="Google Shape;351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81000" y="4519613"/>
              <a:ext cx="8382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26"/>
            <p:cNvSpPr txBox="1"/>
            <p:nvPr/>
          </p:nvSpPr>
          <p:spPr>
            <a:xfrm>
              <a:off x="4762500" y="464820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هيئة الشارقة للآثار — حكومة الشارقة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353" name="Google Shape;353;p26"/>
            <p:cNvSpPr txBox="1"/>
            <p:nvPr/>
          </p:nvSpPr>
          <p:spPr>
            <a:xfrm>
              <a:off x="381000" y="464820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DFCF0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تاريخ الورشة: </a:t>
              </a:r>
              <a:r>
                <a:rPr b="1" lang="en" sz="1050">
                  <a:solidFill>
                    <a:srgbClr val="D4A373"/>
                  </a:solidFill>
                  <a:latin typeface="Tajawal"/>
                  <a:ea typeface="Tajawal"/>
                  <a:cs typeface="Tajawal"/>
                  <a:sym typeface="Tajawal"/>
                </a:rPr>
                <a:t>سبتمبر 2026</a:t>
              </a:r>
              <a:endParaRPr b="0" sz="1050">
                <a:solidFill>
                  <a:srgbClr val="FDFCF0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7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359" name="Google Shape;359;p27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360" name="Google Shape;360;p27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7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7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3" name="Google Shape;363;p27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364" name="Google Shape;364;p27"/>
          <p:cNvGrpSpPr/>
          <p:nvPr/>
        </p:nvGrpSpPr>
        <p:grpSpPr>
          <a:xfrm>
            <a:off x="381000" y="619125"/>
            <a:ext cx="8382000" cy="495300"/>
            <a:chOff x="0" y="0"/>
            <a:chExt cx="8382000" cy="495300"/>
          </a:xfrm>
        </p:grpSpPr>
        <p:sp>
          <p:nvSpPr>
            <p:cNvPr id="365" name="Google Shape;365;p27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التحول الإبستمولوجي: من الأرشفة الساكنة إلى التحليل التوليدي</a:t>
              </a:r>
              <a:endParaRPr b="1" sz="222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27"/>
          <p:cNvGrpSpPr/>
          <p:nvPr/>
        </p:nvGrpSpPr>
        <p:grpSpPr>
          <a:xfrm>
            <a:off x="4762500" y="1333500"/>
            <a:ext cx="4000500" cy="2190900"/>
            <a:chOff x="0" y="0"/>
            <a:chExt cx="4000500" cy="2190900"/>
          </a:xfrm>
        </p:grpSpPr>
        <p:sp>
          <p:nvSpPr>
            <p:cNvPr id="368" name="Google Shape;368;p27"/>
            <p:cNvSpPr/>
            <p:nvPr/>
          </p:nvSpPr>
          <p:spPr>
            <a:xfrm>
              <a:off x="0" y="0"/>
              <a:ext cx="4000500" cy="2190900"/>
            </a:xfrm>
            <a:prstGeom prst="roundRect">
              <a:avLst>
                <a:gd fmla="val 521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0" y="0"/>
              <a:ext cx="4000500" cy="457200"/>
            </a:xfrm>
            <a:prstGeom prst="roundRect">
              <a:avLst>
                <a:gd fmla="val 25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0" y="228600"/>
              <a:ext cx="4000500" cy="228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7"/>
            <p:cNvSpPr txBox="1"/>
            <p:nvPr/>
          </p:nvSpPr>
          <p:spPr>
            <a:xfrm>
              <a:off x="190500" y="95250"/>
              <a:ext cx="3619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الرقمنة الكلاسيكية (الماضي)</a:t>
              </a:r>
              <a:endParaRPr b="1" i="0" sz="1400" u="none" strike="noStrike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72" name="Google Shape;372;p27"/>
            <p:cNvSpPr txBox="1"/>
            <p:nvPr/>
          </p:nvSpPr>
          <p:spPr>
            <a:xfrm>
              <a:off x="190500" y="590550"/>
              <a:ext cx="36195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1" algn="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قواعد بيانات Excel معزولة وملفات PDF ثابتة.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298450" lvl="0" marL="457200" rtl="1" algn="r"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بحث يدوي يستنزف 70% من وقت الباحث.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298450" lvl="0" marL="457200" rtl="1" algn="r">
                <a:spcBef>
                  <a:spcPts val="600"/>
                </a:spcBef>
                <a:spcAft>
                  <a:spcPts val="60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صور تفتقر للدلالة الحاسوبية والربط المعرفي.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73" name="Google Shape;373;p27"/>
          <p:cNvSpPr/>
          <p:nvPr/>
        </p:nvSpPr>
        <p:spPr>
          <a:xfrm>
            <a:off x="4429125" y="2286000"/>
            <a:ext cx="285900" cy="1905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0" y="60000"/>
                </a:lnTo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</a:path>
            </a:pathLst>
          </a:custGeom>
          <a:solidFill>
            <a:srgbClr val="000000"/>
          </a:solidFill>
          <a:ln cap="rnd" cmpd="sng" w="33350">
            <a:solidFill>
              <a:srgbClr val="D4A3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4" name="Google Shape;374;p27"/>
          <p:cNvGrpSpPr/>
          <p:nvPr/>
        </p:nvGrpSpPr>
        <p:grpSpPr>
          <a:xfrm>
            <a:off x="381000" y="1333500"/>
            <a:ext cx="4000500" cy="2190900"/>
            <a:chOff x="0" y="0"/>
            <a:chExt cx="4000500" cy="2190900"/>
          </a:xfrm>
        </p:grpSpPr>
        <p:sp>
          <p:nvSpPr>
            <p:cNvPr id="375" name="Google Shape;375;p27"/>
            <p:cNvSpPr/>
            <p:nvPr/>
          </p:nvSpPr>
          <p:spPr>
            <a:xfrm>
              <a:off x="0" y="0"/>
              <a:ext cx="4000500" cy="2190900"/>
            </a:xfrm>
            <a:prstGeom prst="roundRect">
              <a:avLst>
                <a:gd fmla="val 521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0" y="0"/>
              <a:ext cx="4000500" cy="457200"/>
            </a:xfrm>
            <a:prstGeom prst="roundRect">
              <a:avLst>
                <a:gd fmla="val 25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0" y="228600"/>
              <a:ext cx="4000500" cy="228600"/>
            </a:xfrm>
            <a:prstGeom prst="rect">
              <a:avLst/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7"/>
            <p:cNvSpPr txBox="1"/>
            <p:nvPr/>
          </p:nvSpPr>
          <p:spPr>
            <a:xfrm>
              <a:off x="190500" y="95250"/>
              <a:ext cx="3619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95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الذكاء الاصطناعي 2026 (الحاضر والمستقبل)</a:t>
              </a:r>
              <a:endParaRPr b="1" i="0" sz="1295" u="none" strike="noStrike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79" name="Google Shape;379;p27"/>
            <p:cNvSpPr txBox="1"/>
            <p:nvPr/>
          </p:nvSpPr>
          <p:spPr>
            <a:xfrm>
              <a:off x="190500" y="590550"/>
              <a:ext cx="36195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1" algn="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استنطاق فوري للمقتنيات الأثرية.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298450" lvl="0" marL="457200" rtl="1" algn="r"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تعرف آلي على الأنماط الزخرفية بدقة عالية.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298450" lvl="0" marL="457200" rtl="1" algn="r">
                <a:spcBef>
                  <a:spcPts val="600"/>
                </a:spcBef>
                <a:spcAft>
                  <a:spcPts val="60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ربط دلالي للمكتشفات وفهرسة لحظية بالنماذج متعددة الوسائط.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380" name="Google Shape;380;p27"/>
          <p:cNvGrpSpPr/>
          <p:nvPr/>
        </p:nvGrpSpPr>
        <p:grpSpPr>
          <a:xfrm>
            <a:off x="381000" y="3714750"/>
            <a:ext cx="8382000" cy="952500"/>
            <a:chOff x="0" y="0"/>
            <a:chExt cx="8382000" cy="952500"/>
          </a:xfrm>
        </p:grpSpPr>
        <p:sp>
          <p:nvSpPr>
            <p:cNvPr id="381" name="Google Shape;381;p27"/>
            <p:cNvSpPr/>
            <p:nvPr/>
          </p:nvSpPr>
          <p:spPr>
            <a:xfrm>
              <a:off x="0" y="0"/>
              <a:ext cx="8382000" cy="9525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D4A3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2" name="Google Shape;382;p27"/>
            <p:cNvPicPr preferRelativeResize="0"/>
            <p:nvPr/>
          </p:nvPicPr>
          <p:blipFill rotWithShape="1">
            <a:blip r:embed="rId3">
              <a:alphaModFix/>
            </a:blip>
            <a:srcRect b="0" l="3122" r="3131" t="0"/>
            <a:stretch/>
          </p:blipFill>
          <p:spPr>
            <a:xfrm>
              <a:off x="114300" y="95250"/>
              <a:ext cx="9525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27"/>
            <p:cNvSpPr txBox="1"/>
            <p:nvPr/>
          </p:nvSpPr>
          <p:spPr>
            <a:xfrm>
              <a:off x="1190625" y="142875"/>
              <a:ext cx="7000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373"/>
                  </a:solidFill>
                  <a:latin typeface="Tajawal"/>
                  <a:ea typeface="Tajawal"/>
                  <a:cs typeface="Tajawal"/>
                  <a:sym typeface="Tajawal"/>
                </a:rPr>
                <a:t>توضيح مسار التدفق المعرفي:</a:t>
              </a:r>
              <a:endParaRPr b="1" sz="1100">
                <a:solidFill>
                  <a:srgbClr val="D4A37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E2E8F0"/>
                  </a:solidFill>
                  <a:latin typeface="Tajawal"/>
                  <a:ea typeface="Tajawal"/>
                  <a:cs typeface="Tajawal"/>
                  <a:sym typeface="Tajawal"/>
                </a:rPr>
                <a:t>رسم تخطيطي بياني يوضح تدفق البيانات المباشر من الأوراق والوثائق الأرشيفية القديمة عبر المحركات الدلالية وصولاً إلى الشبكة العصبية الذكية لتحليل وتوليد المعرفة الأثرية.</a:t>
              </a:r>
              <a:endParaRPr sz="1100">
                <a:solidFill>
                  <a:srgbClr val="E2E8F0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84" name="Google Shape;384;p27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28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390" name="Google Shape;390;p28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391" name="Google Shape;391;p28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8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8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4" name="Google Shape;394;p28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0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395" name="Google Shape;395;p28"/>
          <p:cNvGrpSpPr/>
          <p:nvPr/>
        </p:nvGrpSpPr>
        <p:grpSpPr>
          <a:xfrm>
            <a:off x="381000" y="590550"/>
            <a:ext cx="8382000" cy="495300"/>
            <a:chOff x="0" y="0"/>
            <a:chExt cx="8382000" cy="495300"/>
          </a:xfrm>
        </p:grpSpPr>
        <p:sp>
          <p:nvSpPr>
            <p:cNvPr id="396" name="Google Shape;396;p28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strike="noStrike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الثالوث التقني لعلم الآثار الرقمي</a:t>
              </a:r>
              <a:endParaRPr b="1" i="0" sz="2400" u="none" strike="noStrike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28"/>
          <p:cNvGrpSpPr/>
          <p:nvPr/>
        </p:nvGrpSpPr>
        <p:grpSpPr>
          <a:xfrm>
            <a:off x="6286500" y="1333500"/>
            <a:ext cx="2476500" cy="3143400"/>
            <a:chOff x="0" y="0"/>
            <a:chExt cx="2476500" cy="3143400"/>
          </a:xfrm>
        </p:grpSpPr>
        <p:sp>
          <p:nvSpPr>
            <p:cNvPr id="399" name="Google Shape;399;p28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8"/>
            <p:cNvSpPr txBox="1"/>
            <p:nvPr/>
          </p:nvSpPr>
          <p:spPr>
            <a:xfrm>
              <a:off x="209550" y="2286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remove_red_eye</a:t>
              </a:r>
              <a:endParaRPr sz="32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1. الرؤية الحاسوبية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(Computer Vision)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تُستخدم لتصنيف الكسرات الفخارية، ومطابقة قوالب المسكوكات بدقة، وتتبع مسارات التآكل في المكتشفات.</a:t>
              </a:r>
              <a:endParaRPr b="0" sz="115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402" name="Google Shape;402;p28"/>
          <p:cNvGrpSpPr/>
          <p:nvPr/>
        </p:nvGrpSpPr>
        <p:grpSpPr>
          <a:xfrm>
            <a:off x="3333750" y="1333500"/>
            <a:ext cx="2476500" cy="3143400"/>
            <a:chOff x="0" y="0"/>
            <a:chExt cx="2476500" cy="3143400"/>
          </a:xfrm>
        </p:grpSpPr>
        <p:sp>
          <p:nvSpPr>
            <p:cNvPr id="403" name="Google Shape;403;p28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8"/>
            <p:cNvSpPr txBox="1"/>
            <p:nvPr/>
          </p:nvSpPr>
          <p:spPr>
            <a:xfrm>
              <a:off x="209550" y="2286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translate</a:t>
              </a:r>
              <a:endParaRPr sz="32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2. معالجة اللغات الطبيعية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(NLP)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تُوظف لفك وترميم النقوش الصخرية القديمة مثل خط المسند، والآرامي، والكوفي المبكر، بالإضافة إلى أتمتة التقارير الأثرية.</a:t>
              </a:r>
              <a:endParaRPr b="0" sz="115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406" name="Google Shape;406;p28"/>
          <p:cNvGrpSpPr/>
          <p:nvPr/>
        </p:nvGrpSpPr>
        <p:grpSpPr>
          <a:xfrm>
            <a:off x="381000" y="1333500"/>
            <a:ext cx="2476500" cy="3143400"/>
            <a:chOff x="0" y="0"/>
            <a:chExt cx="2476500" cy="3143400"/>
          </a:xfrm>
        </p:grpSpPr>
        <p:sp>
          <p:nvSpPr>
            <p:cNvPr id="407" name="Google Shape;407;p28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8"/>
            <p:cNvSpPr txBox="1"/>
            <p:nvPr/>
          </p:nvSpPr>
          <p:spPr>
            <a:xfrm>
              <a:off x="209550" y="2286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sz="32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3. الذكاء الجغرافي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(GeoAI)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يعمل على ربط مواقع الاستيطان بالخرائط البيئية وتكاملها مع نظم المعلومات الجغرافية (GIS).</a:t>
              </a:r>
              <a:endParaRPr b="0" sz="115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410" name="Google Shape;410;p28"/>
          <p:cNvGrpSpPr/>
          <p:nvPr/>
        </p:nvGrpSpPr>
        <p:grpSpPr>
          <a:xfrm>
            <a:off x="381000" y="4714875"/>
            <a:ext cx="8382000" cy="333450"/>
            <a:chOff x="381000" y="4714875"/>
            <a:chExt cx="8382000" cy="333450"/>
          </a:xfrm>
        </p:grpSpPr>
        <p:sp>
          <p:nvSpPr>
            <p:cNvPr id="411" name="Google Shape;411;p28"/>
            <p:cNvSpPr/>
            <p:nvPr/>
          </p:nvSpPr>
          <p:spPr>
            <a:xfrm>
              <a:off x="381000" y="4714875"/>
              <a:ext cx="8382000" cy="9600"/>
            </a:xfrm>
            <a:prstGeom prst="rect">
              <a:avLst/>
            </a:prstGeom>
            <a:solidFill>
              <a:srgbClr val="D4A373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8"/>
            <p:cNvSpPr txBox="1"/>
            <p:nvPr/>
          </p:nvSpPr>
          <p:spPr>
            <a:xfrm>
              <a:off x="381000" y="4810125"/>
              <a:ext cx="838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هيئة الشارقة للآثار — التقرير التقني الاستراتيجي</a:t>
              </a:r>
              <a:endParaRPr b="0" sz="100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9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418" name="Google Shape;418;p2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419" name="Google Shape;419;p2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2" name="Google Shape;422;p29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423" name="Google Shape;423;p29"/>
          <p:cNvGrpSpPr/>
          <p:nvPr/>
        </p:nvGrpSpPr>
        <p:grpSpPr>
          <a:xfrm>
            <a:off x="381000" y="571500"/>
            <a:ext cx="8382000" cy="762000"/>
            <a:chOff x="0" y="0"/>
            <a:chExt cx="8382000" cy="762000"/>
          </a:xfrm>
        </p:grpSpPr>
        <p:sp>
          <p:nvSpPr>
            <p:cNvPr id="424" name="Google Shape;424;p29"/>
            <p:cNvSpPr txBox="1"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إحياء النصوص التالفة: تجربة نموذج Ithaca من DeepMind وأكسفورد</a:t>
              </a:r>
              <a:endParaRPr b="1" sz="22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300">
                  <a:solidFill>
                    <a:srgbClr val="FDFCF0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أحدث </a:t>
              </a:r>
              <a:r>
                <a:rPr b="0" lang="en" sz="1300" u="sng">
                  <a:solidFill>
                    <a:schemeClr val="hlink"/>
                  </a:solidFill>
                  <a:latin typeface="Tajawal Medium"/>
                  <a:ea typeface="Tajawal Medium"/>
                  <a:cs typeface="Tajawal Medium"/>
                  <a:sym typeface="Tajawal Medium"/>
                  <a:hlinkClick r:id="rId3"/>
                </a:rPr>
                <a:t>نموذج Ithaca ثورة في ترميم النصوص القديمة</a:t>
              </a:r>
              <a:r>
                <a:rPr b="0" lang="en" sz="1300">
                  <a:solidFill>
                    <a:srgbClr val="FDFCF0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 عبر المؤشرات التالية:</a:t>
              </a:r>
              <a:endParaRPr b="0" sz="1300">
                <a:solidFill>
                  <a:srgbClr val="FDFCF0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7620000" y="3810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6" name="Google Shape;4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428750"/>
            <a:ext cx="4191000" cy="314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" name="Google Shape;427;p29"/>
          <p:cNvGrpSpPr/>
          <p:nvPr/>
        </p:nvGrpSpPr>
        <p:grpSpPr>
          <a:xfrm>
            <a:off x="4762500" y="1428750"/>
            <a:ext cx="4000650" cy="952500"/>
            <a:chOff x="0" y="0"/>
            <a:chExt cx="4000650" cy="952500"/>
          </a:xfrm>
        </p:grpSpPr>
        <p:sp>
          <p:nvSpPr>
            <p:cNvPr id="428" name="Google Shape;428;p29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394335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9"/>
            <p:cNvSpPr txBox="1"/>
            <p:nvPr/>
          </p:nvSpPr>
          <p:spPr>
            <a:xfrm>
              <a:off x="2857500" y="142875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71%</a:t>
              </a:r>
              <a:endParaRPr b="1" sz="28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31" name="Google Shape;431;p29"/>
            <p:cNvSpPr txBox="1"/>
            <p:nvPr/>
          </p:nvSpPr>
          <p:spPr>
            <a:xfrm>
              <a:off x="190500" y="142875"/>
              <a:ext cx="257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دقة استعادة النصوص</a:t>
              </a:r>
              <a:endParaRPr b="1" sz="110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استعادة النصوص والكلمات المفقودة من النقوش الحجرية المتآكلة بكفاءة عالية.</a:t>
              </a:r>
              <a:endParaRPr b="0" sz="110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432" name="Google Shape;432;p29"/>
          <p:cNvGrpSpPr/>
          <p:nvPr/>
        </p:nvGrpSpPr>
        <p:grpSpPr>
          <a:xfrm>
            <a:off x="4762500" y="2524125"/>
            <a:ext cx="4000650" cy="952500"/>
            <a:chOff x="0" y="0"/>
            <a:chExt cx="4000650" cy="952500"/>
          </a:xfrm>
        </p:grpSpPr>
        <p:sp>
          <p:nvSpPr>
            <p:cNvPr id="433" name="Google Shape;433;p29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394335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9"/>
            <p:cNvSpPr txBox="1"/>
            <p:nvPr/>
          </p:nvSpPr>
          <p:spPr>
            <a:xfrm>
              <a:off x="2857500" y="142875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84%</a:t>
              </a:r>
              <a:endParaRPr b="1" sz="28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36" name="Google Shape;436;p29"/>
            <p:cNvSpPr txBox="1"/>
            <p:nvPr/>
          </p:nvSpPr>
          <p:spPr>
            <a:xfrm>
              <a:off x="190500" y="142875"/>
              <a:ext cx="257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التحديد الجغرافي</a:t>
              </a:r>
              <a:endParaRPr b="1" sz="110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تحديد الموقع الجغرافي الأصلي للمخطوطة أو النقش الأثري بدقة فائقة.</a:t>
              </a:r>
              <a:endParaRPr b="0" sz="110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437" name="Google Shape;437;p29"/>
          <p:cNvGrpSpPr/>
          <p:nvPr/>
        </p:nvGrpSpPr>
        <p:grpSpPr>
          <a:xfrm>
            <a:off x="4762500" y="3619500"/>
            <a:ext cx="4000650" cy="952500"/>
            <a:chOff x="0" y="0"/>
            <a:chExt cx="4000650" cy="952500"/>
          </a:xfrm>
        </p:grpSpPr>
        <p:sp>
          <p:nvSpPr>
            <p:cNvPr id="438" name="Google Shape;438;p29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394335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9"/>
            <p:cNvSpPr txBox="1"/>
            <p:nvPr/>
          </p:nvSpPr>
          <p:spPr>
            <a:xfrm>
              <a:off x="2857500" y="142875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30 عاماً</a:t>
              </a:r>
              <a:endParaRPr b="1" sz="22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41" name="Google Shape;441;p29"/>
            <p:cNvSpPr txBox="1"/>
            <p:nvPr/>
          </p:nvSpPr>
          <p:spPr>
            <a:xfrm>
              <a:off x="190500" y="142875"/>
              <a:ext cx="257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التأريخ الزمني</a:t>
              </a:r>
              <a:endParaRPr b="1" sz="110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القدرة على تحديد العصر التاريخي للنص ضمن نطاق زمني ضيق جداً.</a:t>
              </a:r>
              <a:endParaRPr b="0" sz="110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442" name="Google Shape;442;p29"/>
          <p:cNvGrpSpPr/>
          <p:nvPr/>
        </p:nvGrpSpPr>
        <p:grpSpPr>
          <a:xfrm>
            <a:off x="381000" y="4810125"/>
            <a:ext cx="8382000" cy="257175"/>
            <a:chOff x="381000" y="4810125"/>
            <a:chExt cx="8382000" cy="257175"/>
          </a:xfrm>
        </p:grpSpPr>
        <p:sp>
          <p:nvSpPr>
            <p:cNvPr id="443" name="Google Shape;443;p29"/>
            <p:cNvSpPr/>
            <p:nvPr/>
          </p:nvSpPr>
          <p:spPr>
            <a:xfrm>
              <a:off x="381000" y="4810125"/>
              <a:ext cx="8382000" cy="9600"/>
            </a:xfrm>
            <a:prstGeom prst="rect">
              <a:avLst/>
            </a:prstGeom>
            <a:solidFill>
              <a:srgbClr val="D4A373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9"/>
            <p:cNvSpPr txBox="1"/>
            <p:nvPr/>
          </p:nvSpPr>
          <p:spPr>
            <a:xfrm>
              <a:off x="381000" y="487680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المصدر: </a:t>
              </a:r>
              <a:r>
                <a:rPr b="0" lang="en" sz="850" u="sng">
                  <a:solidFill>
                    <a:schemeClr val="hlink"/>
                  </a:solidFill>
                  <a:latin typeface="Tajawal Medium"/>
                  <a:ea typeface="Tajawal Medium"/>
                  <a:cs typeface="Tajawal Medium"/>
                  <a:sym typeface="Tajawal Medium"/>
                  <a:hlinkClick r:id="rId5"/>
                </a:rPr>
                <a:t>نتائج أبحاث نموذج Ithaca للذكاء الاصطناعي - DeepMind بجامعة أكسفورد</a:t>
              </a:r>
              <a:endParaRPr b="0" sz="8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30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450" name="Google Shape;450;p30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451" name="Google Shape;451;p30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3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30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4" name="Google Shape;454;p30"/>
            <p:cNvSpPr txBox="1"/>
            <p:nvPr/>
          </p:nvSpPr>
          <p:spPr>
            <a:xfrm>
              <a:off x="381000" y="2095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455" name="Google Shape;455;p30"/>
          <p:cNvGrpSpPr/>
          <p:nvPr/>
        </p:nvGrpSpPr>
        <p:grpSpPr>
          <a:xfrm>
            <a:off x="381000" y="495300"/>
            <a:ext cx="8382000" cy="466650"/>
            <a:chOff x="381000" y="495300"/>
            <a:chExt cx="8382000" cy="466650"/>
          </a:xfrm>
        </p:grpSpPr>
        <p:sp>
          <p:nvSpPr>
            <p:cNvPr id="456" name="Google Shape;456;p30"/>
            <p:cNvSpPr txBox="1"/>
            <p:nvPr/>
          </p:nvSpPr>
          <p:spPr>
            <a:xfrm>
              <a:off x="381000" y="49530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تصنيف المسكوكات الإسلامية المكتشفة في الشارقة</a:t>
              </a:r>
              <a:endParaRPr b="1" sz="22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8001000" y="933450"/>
              <a:ext cx="762000" cy="285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8" name="Google Shape;4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1190625"/>
            <a:ext cx="3238500" cy="323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30"/>
          <p:cNvGrpSpPr/>
          <p:nvPr/>
        </p:nvGrpSpPr>
        <p:grpSpPr>
          <a:xfrm>
            <a:off x="4143375" y="1190625"/>
            <a:ext cx="4619775" cy="3229050"/>
            <a:chOff x="4143375" y="1190625"/>
            <a:chExt cx="4619775" cy="3229050"/>
          </a:xfrm>
        </p:grpSpPr>
        <p:grpSp>
          <p:nvGrpSpPr>
            <p:cNvPr id="460" name="Google Shape;460;p30"/>
            <p:cNvGrpSpPr/>
            <p:nvPr/>
          </p:nvGrpSpPr>
          <p:grpSpPr>
            <a:xfrm>
              <a:off x="4143375" y="1190625"/>
              <a:ext cx="4619775" cy="1000200"/>
              <a:chOff x="0" y="0"/>
              <a:chExt cx="4619775" cy="1000200"/>
            </a:xfrm>
          </p:grpSpPr>
          <p:sp>
            <p:nvSpPr>
              <p:cNvPr id="461" name="Google Shape;461;p30"/>
              <p:cNvSpPr/>
              <p:nvPr/>
            </p:nvSpPr>
            <p:spPr>
              <a:xfrm>
                <a:off x="0" y="0"/>
                <a:ext cx="46197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30"/>
              <p:cNvSpPr/>
              <p:nvPr/>
            </p:nvSpPr>
            <p:spPr>
              <a:xfrm>
                <a:off x="4562475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30"/>
              <p:cNvSpPr/>
              <p:nvPr/>
            </p:nvSpPr>
            <p:spPr>
              <a:xfrm>
                <a:off x="4124325" y="161925"/>
                <a:ext cx="285900" cy="2859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30"/>
              <p:cNvSpPr txBox="1"/>
              <p:nvPr/>
            </p:nvSpPr>
            <p:spPr>
              <a:xfrm>
                <a:off x="4124325" y="190500"/>
                <a:ext cx="285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01</a:t>
                </a:r>
                <a:endParaRPr b="1" sz="11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465" name="Google Shape;465;p30"/>
              <p:cNvSpPr txBox="1"/>
              <p:nvPr/>
            </p:nvSpPr>
            <p:spPr>
              <a:xfrm>
                <a:off x="190500" y="133350"/>
                <a:ext cx="3762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التعرف المورفولوجي الذكي</a:t>
                </a:r>
                <a:endParaRPr b="1" sz="13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تطبيق خوارزميات التعرف المورفولوجي على الدراهم العباسية والأموية المكتشفة بموقعي "المدام" و"مليحة".</a:t>
                </a:r>
                <a:endParaRPr b="0" sz="10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466" name="Google Shape;466;p30"/>
            <p:cNvGrpSpPr/>
            <p:nvPr/>
          </p:nvGrpSpPr>
          <p:grpSpPr>
            <a:xfrm>
              <a:off x="4143375" y="2305050"/>
              <a:ext cx="4619775" cy="1000200"/>
              <a:chOff x="0" y="0"/>
              <a:chExt cx="4619775" cy="1000200"/>
            </a:xfrm>
          </p:grpSpPr>
          <p:sp>
            <p:nvSpPr>
              <p:cNvPr id="467" name="Google Shape;467;p30"/>
              <p:cNvSpPr/>
              <p:nvPr/>
            </p:nvSpPr>
            <p:spPr>
              <a:xfrm>
                <a:off x="0" y="0"/>
                <a:ext cx="46197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30"/>
              <p:cNvSpPr/>
              <p:nvPr/>
            </p:nvSpPr>
            <p:spPr>
              <a:xfrm>
                <a:off x="4562475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30"/>
              <p:cNvSpPr/>
              <p:nvPr/>
            </p:nvSpPr>
            <p:spPr>
              <a:xfrm>
                <a:off x="4124325" y="161925"/>
                <a:ext cx="285900" cy="2859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30"/>
              <p:cNvSpPr txBox="1"/>
              <p:nvPr/>
            </p:nvSpPr>
            <p:spPr>
              <a:xfrm>
                <a:off x="4124325" y="190500"/>
                <a:ext cx="285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02</a:t>
                </a:r>
                <a:endParaRPr b="1" sz="11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471" name="Google Shape;471;p30"/>
              <p:cNvSpPr txBox="1"/>
              <p:nvPr/>
            </p:nvSpPr>
            <p:spPr>
              <a:xfrm>
                <a:off x="190500" y="133350"/>
                <a:ext cx="3762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القراءة الآلية للنقوش الكوفية</a:t>
                </a:r>
                <a:endParaRPr b="1" sz="13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قراءة آلية للكتابات الطوقية والمركزية المنقوشة بالخط الكوفي المبكر غير المنقوط.</a:t>
                </a:r>
                <a:endParaRPr b="0" sz="10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472" name="Google Shape;472;p30"/>
            <p:cNvGrpSpPr/>
            <p:nvPr/>
          </p:nvGrpSpPr>
          <p:grpSpPr>
            <a:xfrm>
              <a:off x="4143375" y="3419475"/>
              <a:ext cx="4619775" cy="1000200"/>
              <a:chOff x="0" y="0"/>
              <a:chExt cx="4619775" cy="1000200"/>
            </a:xfrm>
          </p:grpSpPr>
          <p:sp>
            <p:nvSpPr>
              <p:cNvPr id="473" name="Google Shape;473;p30"/>
              <p:cNvSpPr/>
              <p:nvPr/>
            </p:nvSpPr>
            <p:spPr>
              <a:xfrm>
                <a:off x="0" y="0"/>
                <a:ext cx="46197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30"/>
              <p:cNvSpPr/>
              <p:nvPr/>
            </p:nvSpPr>
            <p:spPr>
              <a:xfrm>
                <a:off x="4562475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30"/>
              <p:cNvSpPr/>
              <p:nvPr/>
            </p:nvSpPr>
            <p:spPr>
              <a:xfrm>
                <a:off x="4124325" y="161925"/>
                <a:ext cx="285900" cy="2859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30"/>
              <p:cNvSpPr txBox="1"/>
              <p:nvPr/>
            </p:nvSpPr>
            <p:spPr>
              <a:xfrm>
                <a:off x="4124325" y="190500"/>
                <a:ext cx="285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03</a:t>
                </a:r>
                <a:endParaRPr b="1" sz="11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477" name="Google Shape;477;p30"/>
              <p:cNvSpPr txBox="1"/>
              <p:nvPr/>
            </p:nvSpPr>
            <p:spPr>
              <a:xfrm>
                <a:off x="190500" y="133350"/>
                <a:ext cx="3762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مطابقة قوالب السك الرقمية</a:t>
                </a:r>
                <a:endParaRPr b="1" sz="13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مطابقة قوالب السك بدقة تصل إلى 0.1 ملم لتمييز دور السك الأصلية واكتشاف التزييف التاريخي بدقة متناهية.</a:t>
                </a:r>
                <a:endParaRPr b="0" sz="10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478" name="Google Shape;478;p30"/>
          <p:cNvSpPr/>
          <p:nvPr/>
        </p:nvSpPr>
        <p:spPr>
          <a:xfrm>
            <a:off x="381000" y="4714875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4" name="Google Shape;484;p31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485" name="Google Shape;485;p31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486" name="Google Shape;486;p31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3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31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9" name="Google Shape;489;p31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490" name="Google Shape;490;p31"/>
          <p:cNvGrpSpPr/>
          <p:nvPr/>
        </p:nvGrpSpPr>
        <p:grpSpPr>
          <a:xfrm>
            <a:off x="381000" y="619125"/>
            <a:ext cx="8382000" cy="466725"/>
            <a:chOff x="0" y="0"/>
            <a:chExt cx="8382000" cy="466725"/>
          </a:xfrm>
        </p:grpSpPr>
        <p:sp>
          <p:nvSpPr>
            <p:cNvPr id="491" name="Google Shape;491;p31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أتمتة الفهرسة وفق المعايير الدولية (FAIR &amp; Dublin Core)</a:t>
              </a:r>
              <a:endParaRPr b="1" sz="24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492" name="Google Shape;492;p31"/>
            <p:cNvSpPr/>
            <p:nvPr/>
          </p:nvSpPr>
          <p:spPr>
            <a:xfrm>
              <a:off x="7620000" y="4286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31"/>
          <p:cNvGrpSpPr/>
          <p:nvPr/>
        </p:nvGrpSpPr>
        <p:grpSpPr>
          <a:xfrm>
            <a:off x="6381750" y="1333500"/>
            <a:ext cx="2381400" cy="3238500"/>
            <a:chOff x="0" y="0"/>
            <a:chExt cx="2381400" cy="3238500"/>
          </a:xfrm>
        </p:grpSpPr>
        <p:sp>
          <p:nvSpPr>
            <p:cNvPr id="494" name="Google Shape;494;p31"/>
            <p:cNvSpPr/>
            <p:nvPr/>
          </p:nvSpPr>
          <p:spPr>
            <a:xfrm>
              <a:off x="0" y="0"/>
              <a:ext cx="2381400" cy="3238500"/>
            </a:xfrm>
            <a:prstGeom prst="roundRect">
              <a:avLst>
                <a:gd fmla="val 3999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0" y="0"/>
              <a:ext cx="23814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1"/>
            <p:cNvSpPr txBox="1"/>
            <p:nvPr/>
          </p:nvSpPr>
          <p:spPr>
            <a:xfrm>
              <a:off x="142875" y="142875"/>
              <a:ext cx="2095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i="0" lang="en" sz="1203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مدخلات النظام: صورة اللقية</a:t>
              </a:r>
              <a:endParaRPr b="1" i="0" sz="1203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grpSp>
          <p:nvGrpSpPr>
            <p:cNvPr id="497" name="Google Shape;497;p31"/>
            <p:cNvGrpSpPr/>
            <p:nvPr/>
          </p:nvGrpSpPr>
          <p:grpSpPr>
            <a:xfrm>
              <a:off x="328613" y="519113"/>
              <a:ext cx="1724100" cy="1438200"/>
              <a:chOff x="-4762" y="-4762"/>
              <a:chExt cx="1724100" cy="1438200"/>
            </a:xfrm>
          </p:grpSpPr>
          <p:pic>
            <p:nvPicPr>
              <p:cNvPr id="498" name="Google Shape;498;p31"/>
              <p:cNvPicPr preferRelativeResize="0"/>
              <p:nvPr/>
            </p:nvPicPr>
            <p:blipFill rotWithShape="1">
              <a:blip r:embed="rId3">
                <a:alphaModFix/>
              </a:blip>
              <a:srcRect b="10" l="0" r="0" t="0"/>
              <a:stretch/>
            </p:blipFill>
            <p:spPr>
              <a:xfrm>
                <a:off x="-4762" y="-4762"/>
                <a:ext cx="1724100" cy="1438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9" name="Google Shape;499;p31"/>
              <p:cNvSpPr/>
              <p:nvPr/>
            </p:nvSpPr>
            <p:spPr>
              <a:xfrm>
                <a:off x="381000" y="238125"/>
                <a:ext cx="952500" cy="809700"/>
              </a:xfrm>
              <a:custGeom>
                <a:rect b="b" l="l" r="r" t="t"/>
                <a:pathLst>
                  <a:path extrusionOk="0" h="120000" w="120000">
                    <a:moveTo>
                      <a:pt x="24000" y="120000"/>
                    </a:moveTo>
                    <a:cubicBezTo>
                      <a:pt x="12000" y="120000"/>
                      <a:pt x="0" y="91765"/>
                      <a:pt x="6000" y="49412"/>
                    </a:cubicBezTo>
                    <a:cubicBezTo>
                      <a:pt x="8400" y="28235"/>
                      <a:pt x="18000" y="21176"/>
                      <a:pt x="18000" y="14118"/>
                    </a:cubicBezTo>
                    <a:lnTo>
                      <a:pt x="18000" y="0"/>
                    </a:lnTo>
                    <a:lnTo>
                      <a:pt x="102000" y="0"/>
                    </a:lnTo>
                    <a:lnTo>
                      <a:pt x="102000" y="14118"/>
                    </a:lnTo>
                    <a:cubicBezTo>
                      <a:pt x="102000" y="21176"/>
                      <a:pt x="111600" y="28235"/>
                      <a:pt x="114000" y="49412"/>
                    </a:cubicBezTo>
                    <a:cubicBezTo>
                      <a:pt x="120000" y="91765"/>
                      <a:pt x="108000" y="120000"/>
                      <a:pt x="96000" y="120000"/>
                    </a:cubicBezTo>
                    <a:close/>
                  </a:path>
                </a:pathLst>
              </a:cu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31"/>
              <p:cNvSpPr/>
              <p:nvPr/>
            </p:nvSpPr>
            <p:spPr>
              <a:xfrm>
                <a:off x="523875" y="190500"/>
                <a:ext cx="666900" cy="95400"/>
              </a:xfrm>
              <a:prstGeom prst="ellipse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31"/>
              <p:cNvSpPr/>
              <p:nvPr/>
            </p:nvSpPr>
            <p:spPr>
              <a:xfrm>
                <a:off x="333375" y="476250"/>
                <a:ext cx="142800" cy="285900"/>
              </a:xfrm>
              <a:custGeom>
                <a:rect b="b" l="l" r="r" t="t"/>
                <a:pathLst>
                  <a:path extrusionOk="0" h="120000" w="120000">
                    <a:moveTo>
                      <a:pt x="120000" y="0"/>
                    </a:moveTo>
                    <a:cubicBezTo>
                      <a:pt x="0" y="0"/>
                      <a:pt x="0" y="100000"/>
                      <a:pt x="96000" y="120000"/>
                    </a:cubicBezTo>
                  </a:path>
                </a:pathLst>
              </a:custGeom>
              <a:solidFill>
                <a:srgbClr val="000000"/>
              </a:solidFill>
              <a:ln cap="flat" cmpd="sng" w="38100">
                <a:solidFill>
                  <a:srgbClr val="B23A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31"/>
              <p:cNvSpPr/>
              <p:nvPr/>
            </p:nvSpPr>
            <p:spPr>
              <a:xfrm>
                <a:off x="1238250" y="476250"/>
                <a:ext cx="142800" cy="2859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120000" y="0"/>
                      <a:pt x="120000" y="100000"/>
                      <a:pt x="24000" y="120000"/>
                    </a:cubicBezTo>
                  </a:path>
                </a:pathLst>
              </a:custGeom>
              <a:solidFill>
                <a:srgbClr val="000000"/>
              </a:solidFill>
              <a:ln cap="flat" cmpd="sng" w="38100">
                <a:solidFill>
                  <a:srgbClr val="B23A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03" name="Google Shape;503;p31"/>
              <p:cNvCxnSpPr/>
              <p:nvPr/>
            </p:nvCxnSpPr>
            <p:spPr>
              <a:xfrm>
                <a:off x="190500" y="666750"/>
                <a:ext cx="1333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04" name="Google Shape;504;p31"/>
              <p:cNvSpPr/>
              <p:nvPr/>
            </p:nvSpPr>
            <p:spPr>
              <a:xfrm>
                <a:off x="0" y="666750"/>
                <a:ext cx="1714500" cy="476400"/>
              </a:xfrm>
              <a:custGeom>
                <a:rect b="b" l="l" r="r" t="t"/>
                <a:pathLst>
                  <a:path extrusionOk="0" h="120000" w="120000">
                    <a:moveTo>
                      <a:pt x="13333" y="0"/>
                    </a:moveTo>
                    <a:lnTo>
                      <a:pt x="106667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5" name="Google Shape;505;p31"/>
            <p:cNvSpPr/>
            <p:nvPr/>
          </p:nvSpPr>
          <p:spPr>
            <a:xfrm>
              <a:off x="333375" y="2076450"/>
              <a:ext cx="1714500" cy="266700"/>
            </a:xfrm>
            <a:prstGeom prst="roundRect">
              <a:avLst>
                <a:gd fmla="val 1428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 txBox="1"/>
            <p:nvPr/>
          </p:nvSpPr>
          <p:spPr>
            <a:xfrm>
              <a:off x="333375" y="2076450"/>
              <a:ext cx="17145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50" u="none" strike="noStrike">
                  <a:solidFill>
                    <a:srgbClr val="D4A373"/>
                  </a:solidFill>
                  <a:latin typeface="Tajawal"/>
                  <a:ea typeface="Tajawal"/>
                  <a:cs typeface="Tajawal"/>
                  <a:sym typeface="Tajawal"/>
                </a:rPr>
                <a:t>جاري تحليل السمة البصرية...</a:t>
              </a:r>
              <a:endParaRPr b="0" i="0" sz="950" u="none" strike="noStrike">
                <a:solidFill>
                  <a:srgbClr val="D4A37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grpSp>
          <p:nvGrpSpPr>
            <p:cNvPr id="507" name="Google Shape;507;p31"/>
            <p:cNvGrpSpPr/>
            <p:nvPr/>
          </p:nvGrpSpPr>
          <p:grpSpPr>
            <a:xfrm>
              <a:off x="333375" y="2476500"/>
              <a:ext cx="1714575" cy="228600"/>
              <a:chOff x="0" y="0"/>
              <a:chExt cx="1714575" cy="228600"/>
            </a:xfrm>
          </p:grpSpPr>
          <p:sp>
            <p:nvSpPr>
              <p:cNvPr id="508" name="Google Shape;508;p31"/>
              <p:cNvSpPr/>
              <p:nvPr/>
            </p:nvSpPr>
            <p:spPr>
              <a:xfrm>
                <a:off x="0" y="0"/>
                <a:ext cx="8097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D4A373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31"/>
              <p:cNvSpPr txBox="1"/>
              <p:nvPr/>
            </p:nvSpPr>
            <p:spPr>
              <a:xfrm>
                <a:off x="0" y="0"/>
                <a:ext cx="8097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50" u="none" strike="noStrike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FAIR</a:t>
                </a:r>
                <a:endParaRPr b="1" i="0" sz="8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510" name="Google Shape;510;p31"/>
              <p:cNvSpPr/>
              <p:nvPr/>
            </p:nvSpPr>
            <p:spPr>
              <a:xfrm>
                <a:off x="904875" y="0"/>
                <a:ext cx="8097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D4A373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31"/>
              <p:cNvSpPr txBox="1"/>
              <p:nvPr/>
            </p:nvSpPr>
            <p:spPr>
              <a:xfrm>
                <a:off x="904875" y="0"/>
                <a:ext cx="8097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50" u="none" strike="noStrike">
                    <a:solidFill>
                      <a:srgbClr val="0F172A"/>
                    </a:solidFill>
                    <a:latin typeface="Cairo"/>
                    <a:ea typeface="Cairo"/>
                    <a:cs typeface="Cairo"/>
                    <a:sym typeface="Cairo"/>
                  </a:rPr>
                  <a:t>Dublin Core</a:t>
                </a:r>
                <a:endParaRPr b="1" i="0" sz="85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</p:grpSp>
      <p:pic>
        <p:nvPicPr>
          <p:cNvPr id="512" name="Google Shape;512;p31"/>
          <p:cNvPicPr preferRelativeResize="0"/>
          <p:nvPr/>
        </p:nvPicPr>
        <p:blipFill rotWithShape="1">
          <a:blip r:embed="rId4">
            <a:alphaModFix/>
          </a:blip>
          <a:srcRect b="10" l="0" r="0" t="20"/>
          <a:stretch/>
        </p:blipFill>
        <p:spPr>
          <a:xfrm>
            <a:off x="5853113" y="2895600"/>
            <a:ext cx="4383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3" name="Google Shape;513;p31"/>
          <p:cNvGrpSpPr/>
          <p:nvPr/>
        </p:nvGrpSpPr>
        <p:grpSpPr>
          <a:xfrm>
            <a:off x="3381375" y="1333500"/>
            <a:ext cx="2381400" cy="3238500"/>
            <a:chOff x="0" y="0"/>
            <a:chExt cx="2381400" cy="3238500"/>
          </a:xfrm>
        </p:grpSpPr>
        <p:grpSp>
          <p:nvGrpSpPr>
            <p:cNvPr id="514" name="Google Shape;514;p31"/>
            <p:cNvGrpSpPr/>
            <p:nvPr/>
          </p:nvGrpSpPr>
          <p:grpSpPr>
            <a:xfrm>
              <a:off x="0" y="0"/>
              <a:ext cx="2381400" cy="1143000"/>
              <a:chOff x="0" y="0"/>
              <a:chExt cx="2381400" cy="1143000"/>
            </a:xfrm>
          </p:grpSpPr>
          <p:sp>
            <p:nvSpPr>
              <p:cNvPr id="515" name="Google Shape;515;p31"/>
              <p:cNvSpPr/>
              <p:nvPr/>
            </p:nvSpPr>
            <p:spPr>
              <a:xfrm>
                <a:off x="0" y="0"/>
                <a:ext cx="2381400" cy="11430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31"/>
              <p:cNvSpPr/>
              <p:nvPr/>
            </p:nvSpPr>
            <p:spPr>
              <a:xfrm>
                <a:off x="0" y="0"/>
                <a:ext cx="23814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31"/>
              <p:cNvSpPr txBox="1"/>
              <p:nvPr/>
            </p:nvSpPr>
            <p:spPr>
              <a:xfrm>
                <a:off x="95250" y="142875"/>
                <a:ext cx="2190900" cy="904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 u="none" strike="noStrike">
                    <a:solidFill>
                      <a:srgbClr val="0F172A"/>
                    </a:solidFill>
                    <a:latin typeface="Cairo"/>
                    <a:ea typeface="Cairo"/>
                    <a:cs typeface="Cairo"/>
                    <a:sym typeface="Cairo"/>
                  </a:rPr>
                  <a:t>السرعة الفائقة</a:t>
                </a:r>
                <a:endParaRPr b="1" i="0" sz="110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i="0" lang="en" sz="3000" u="none" strike="noStrike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3 ثوانٍ</a:t>
                </a:r>
                <a:endParaRPr b="1" i="0" sz="110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150"/>
                  </a:spcBef>
                  <a:spcAft>
                    <a:spcPts val="150"/>
                  </a:spcAft>
                  <a:buNone/>
                </a:pPr>
                <a:r>
                  <a:rPr b="1" i="0" lang="en" sz="950" u="none" strike="noStrike">
                    <a:solidFill>
                      <a:srgbClr val="B23A22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تحويل آلي كامل لاستمارة التوثيق</a:t>
                </a:r>
                <a:endParaRPr b="1" i="0" sz="95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  <p:pic>
          <p:nvPicPr>
            <p:cNvPr id="518" name="Google Shape;518;p31"/>
            <p:cNvPicPr preferRelativeResize="0"/>
            <p:nvPr/>
          </p:nvPicPr>
          <p:blipFill rotWithShape="1">
            <a:blip r:embed="rId5">
              <a:alphaModFix/>
            </a:blip>
            <a:srcRect b="0" l="30" r="30" t="0"/>
            <a:stretch/>
          </p:blipFill>
          <p:spPr>
            <a:xfrm>
              <a:off x="1133475" y="1238250"/>
              <a:ext cx="114300" cy="247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19" name="Google Shape;519;p31"/>
            <p:cNvGrpSpPr/>
            <p:nvPr/>
          </p:nvGrpSpPr>
          <p:grpSpPr>
            <a:xfrm>
              <a:off x="0" y="1524000"/>
              <a:ext cx="2381400" cy="1714500"/>
              <a:chOff x="0" y="0"/>
              <a:chExt cx="2381400" cy="1714500"/>
            </a:xfrm>
          </p:grpSpPr>
          <p:sp>
            <p:nvSpPr>
              <p:cNvPr id="520" name="Google Shape;520;p31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555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31"/>
              <p:cNvSpPr/>
              <p:nvPr/>
            </p:nvSpPr>
            <p:spPr>
              <a:xfrm>
                <a:off x="0" y="0"/>
                <a:ext cx="23814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31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 u="none" strike="noStrike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الاستخراج التلقائي</a:t>
                </a:r>
                <a:endParaRPr b="1" i="0" sz="12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" sz="100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تحديد خوارزمي شامل للسمات الأساسية دون تدخل بشري:</a:t>
                </a:r>
                <a:endParaRPr b="1" i="0" sz="10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المادة الخام والملمس</a:t>
                </a:r>
                <a:endParaRPr b="1" i="0" sz="9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تقنية التصنيع والزخرفة</a:t>
                </a:r>
                <a:endParaRPr b="1" i="0" sz="9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العصر التقديري والتأريخ</a:t>
                </a:r>
                <a:endParaRPr b="1" i="0" sz="9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225"/>
                  </a:spcBef>
                  <a:spcAft>
                    <a:spcPts val="450"/>
                  </a:spcAft>
                  <a:buNone/>
                </a:pPr>
                <a:r>
                  <a:rPr b="0" i="0" lang="en" sz="95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حالة الحفظ والسلامة</a:t>
                </a:r>
                <a:endParaRPr b="1" i="0" sz="9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</p:grpSp>
      <p:pic>
        <p:nvPicPr>
          <p:cNvPr id="523" name="Google Shape;523;p31"/>
          <p:cNvPicPr preferRelativeResize="0"/>
          <p:nvPr/>
        </p:nvPicPr>
        <p:blipFill rotWithShape="1">
          <a:blip r:embed="rId4">
            <a:alphaModFix/>
          </a:blip>
          <a:srcRect b="10" l="0" r="0" t="20"/>
          <a:stretch/>
        </p:blipFill>
        <p:spPr>
          <a:xfrm>
            <a:off x="2852738" y="2895600"/>
            <a:ext cx="4383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p31"/>
          <p:cNvGrpSpPr/>
          <p:nvPr/>
        </p:nvGrpSpPr>
        <p:grpSpPr>
          <a:xfrm>
            <a:off x="381000" y="1333500"/>
            <a:ext cx="2381400" cy="3238500"/>
            <a:chOff x="0" y="0"/>
            <a:chExt cx="2381400" cy="3238500"/>
          </a:xfrm>
        </p:grpSpPr>
        <p:sp>
          <p:nvSpPr>
            <p:cNvPr id="525" name="Google Shape;525;p31"/>
            <p:cNvSpPr/>
            <p:nvPr/>
          </p:nvSpPr>
          <p:spPr>
            <a:xfrm>
              <a:off x="0" y="0"/>
              <a:ext cx="2381400" cy="3238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0" y="0"/>
              <a:ext cx="23814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1"/>
            <p:cNvSpPr txBox="1"/>
            <p:nvPr/>
          </p:nvSpPr>
          <p:spPr>
            <a:xfrm>
              <a:off x="142875" y="142875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25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بطاقة البيانات المعيارية</a:t>
              </a:r>
              <a:endParaRPr b="1" sz="125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grpSp>
          <p:nvGrpSpPr>
            <p:cNvPr id="528" name="Google Shape;528;p31"/>
            <p:cNvGrpSpPr/>
            <p:nvPr/>
          </p:nvGrpSpPr>
          <p:grpSpPr>
            <a:xfrm>
              <a:off x="138113" y="452438"/>
              <a:ext cx="2105100" cy="2009700"/>
              <a:chOff x="-4762" y="-4762"/>
              <a:chExt cx="2105100" cy="2009700"/>
            </a:xfrm>
          </p:grpSpPr>
          <p:pic>
            <p:nvPicPr>
              <p:cNvPr id="529" name="Google Shape;529;p3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105100" cy="20097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30" name="Google Shape;530;p31"/>
              <p:cNvGrpSpPr/>
              <p:nvPr/>
            </p:nvGrpSpPr>
            <p:grpSpPr>
              <a:xfrm>
                <a:off x="95250" y="238125"/>
                <a:ext cx="1905000" cy="1409850"/>
                <a:chOff x="0" y="142875"/>
                <a:chExt cx="1905000" cy="1409850"/>
              </a:xfrm>
            </p:grpSpPr>
            <p:sp>
              <p:nvSpPr>
                <p:cNvPr id="531" name="Google Shape;531;p31"/>
                <p:cNvSpPr/>
                <p:nvPr/>
              </p:nvSpPr>
              <p:spPr>
                <a:xfrm>
                  <a:off x="0" y="142875"/>
                  <a:ext cx="1905000" cy="209700"/>
                </a:xfrm>
                <a:prstGeom prst="roundRect">
                  <a:avLst>
                    <a:gd fmla="val 13636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31"/>
                <p:cNvSpPr txBox="1"/>
                <p:nvPr/>
              </p:nvSpPr>
              <p:spPr>
                <a:xfrm>
                  <a:off x="47625" y="161925"/>
                  <a:ext cx="18096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1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Tajawal"/>
                      <a:ea typeface="Tajawal"/>
                      <a:cs typeface="Tajawal"/>
                      <a:sym typeface="Tajawal"/>
                    </a:rPr>
                    <a:t>فخار ناعم (Terracotta)</a:t>
                  </a:r>
                  <a:endParaRPr b="0" sz="1000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endParaRPr>
                </a:p>
              </p:txBody>
            </p:sp>
            <p:grpSp>
              <p:nvGrpSpPr>
                <p:cNvPr id="533" name="Google Shape;533;p31"/>
                <p:cNvGrpSpPr/>
                <p:nvPr/>
              </p:nvGrpSpPr>
              <p:grpSpPr>
                <a:xfrm>
                  <a:off x="0" y="542925"/>
                  <a:ext cx="1905000" cy="209700"/>
                  <a:chOff x="0" y="142875"/>
                  <a:chExt cx="1905000" cy="209700"/>
                </a:xfrm>
              </p:grpSpPr>
              <p:sp>
                <p:nvSpPr>
                  <p:cNvPr id="534" name="Google Shape;534;p31"/>
                  <p:cNvSpPr/>
                  <p:nvPr/>
                </p:nvSpPr>
                <p:spPr>
                  <a:xfrm>
                    <a:off x="0" y="142875"/>
                    <a:ext cx="1905000" cy="209700"/>
                  </a:xfrm>
                  <a:prstGeom prst="roundRect">
                    <a:avLst>
                      <a:gd fmla="val 13636" name="adj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5" name="Google Shape;535;p31"/>
                  <p:cNvSpPr txBox="1"/>
                  <p:nvPr/>
                </p:nvSpPr>
                <p:spPr>
                  <a:xfrm>
                    <a:off x="47625" y="161925"/>
                    <a:ext cx="18096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1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0F172A"/>
                        </a:solidFill>
                        <a:latin typeface="Tajawal"/>
                        <a:ea typeface="Tajawal"/>
                        <a:cs typeface="Tajawal"/>
                        <a:sym typeface="Tajawal"/>
                      </a:rPr>
                      <a:t>عجلة الفخار / دولاب سريع</a:t>
                    </a:r>
                    <a:endParaRPr b="0" sz="1000">
                      <a:solidFill>
                        <a:srgbClr val="0F172A"/>
                      </a:solidFill>
                      <a:latin typeface="Tajawal"/>
                      <a:ea typeface="Tajawal"/>
                      <a:cs typeface="Tajawal"/>
                      <a:sym typeface="Tajawal"/>
                    </a:endParaRPr>
                  </a:p>
                </p:txBody>
              </p:sp>
            </p:grpSp>
            <p:grpSp>
              <p:nvGrpSpPr>
                <p:cNvPr id="536" name="Google Shape;536;p31"/>
                <p:cNvGrpSpPr/>
                <p:nvPr/>
              </p:nvGrpSpPr>
              <p:grpSpPr>
                <a:xfrm>
                  <a:off x="0" y="942975"/>
                  <a:ext cx="1905000" cy="209700"/>
                  <a:chOff x="0" y="142875"/>
                  <a:chExt cx="1905000" cy="209700"/>
                </a:xfrm>
              </p:grpSpPr>
              <p:sp>
                <p:nvSpPr>
                  <p:cNvPr id="537" name="Google Shape;537;p31"/>
                  <p:cNvSpPr/>
                  <p:nvPr/>
                </p:nvSpPr>
                <p:spPr>
                  <a:xfrm>
                    <a:off x="0" y="142875"/>
                    <a:ext cx="1905000" cy="209700"/>
                  </a:xfrm>
                  <a:prstGeom prst="roundRect">
                    <a:avLst>
                      <a:gd fmla="val 13636" name="adj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8" name="Google Shape;538;p31"/>
                  <p:cNvSpPr txBox="1"/>
                  <p:nvPr/>
                </p:nvSpPr>
                <p:spPr>
                  <a:xfrm>
                    <a:off x="47625" y="161925"/>
                    <a:ext cx="18096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1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0F172A"/>
                        </a:solidFill>
                        <a:latin typeface="Tajawal"/>
                        <a:ea typeface="Tajawal"/>
                        <a:cs typeface="Tajawal"/>
                        <a:sym typeface="Tajawal"/>
                      </a:rPr>
                      <a:t>العصر الحديدي II (1000 - 600 ق.م)</a:t>
                    </a:r>
                    <a:endParaRPr b="0" sz="1000">
                      <a:solidFill>
                        <a:srgbClr val="0F172A"/>
                      </a:solidFill>
                      <a:latin typeface="Tajawal"/>
                      <a:ea typeface="Tajawal"/>
                      <a:cs typeface="Tajawal"/>
                      <a:sym typeface="Tajawal"/>
                    </a:endParaRPr>
                  </a:p>
                </p:txBody>
              </p:sp>
            </p:grpSp>
            <p:grpSp>
              <p:nvGrpSpPr>
                <p:cNvPr id="539" name="Google Shape;539;p31"/>
                <p:cNvGrpSpPr/>
                <p:nvPr/>
              </p:nvGrpSpPr>
              <p:grpSpPr>
                <a:xfrm>
                  <a:off x="0" y="1343025"/>
                  <a:ext cx="1905000" cy="209700"/>
                  <a:chOff x="0" y="142875"/>
                  <a:chExt cx="1905000" cy="209700"/>
                </a:xfrm>
              </p:grpSpPr>
              <p:sp>
                <p:nvSpPr>
                  <p:cNvPr id="540" name="Google Shape;540;p31"/>
                  <p:cNvSpPr/>
                  <p:nvPr/>
                </p:nvSpPr>
                <p:spPr>
                  <a:xfrm>
                    <a:off x="0" y="142875"/>
                    <a:ext cx="1905000" cy="209700"/>
                  </a:xfrm>
                  <a:prstGeom prst="roundRect">
                    <a:avLst>
                      <a:gd fmla="val 13636" name="adj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1" name="Google Shape;541;p31"/>
                  <p:cNvSpPr txBox="1"/>
                  <p:nvPr/>
                </p:nvSpPr>
                <p:spPr>
                  <a:xfrm>
                    <a:off x="47625" y="161925"/>
                    <a:ext cx="18096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1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0F172A"/>
                        </a:solidFill>
                        <a:latin typeface="Tajawal"/>
                        <a:ea typeface="Tajawal"/>
                        <a:cs typeface="Tajawal"/>
                        <a:sym typeface="Tajawal"/>
                      </a:rPr>
                      <a:t>جيدة (مستقرة / ترميم جزئي)</a:t>
                    </a:r>
                    <a:endParaRPr b="0" sz="1000">
                      <a:solidFill>
                        <a:srgbClr val="0F172A"/>
                      </a:solidFill>
                      <a:latin typeface="Tajawal"/>
                      <a:ea typeface="Tajawal"/>
                      <a:cs typeface="Tajawal"/>
                      <a:sym typeface="Tajawal"/>
                    </a:endParaRPr>
                  </a:p>
                </p:txBody>
              </p:sp>
            </p:grpSp>
          </p:grpSp>
        </p:grpSp>
        <p:grpSp>
          <p:nvGrpSpPr>
            <p:cNvPr id="542" name="Google Shape;542;p31"/>
            <p:cNvGrpSpPr/>
            <p:nvPr/>
          </p:nvGrpSpPr>
          <p:grpSpPr>
            <a:xfrm>
              <a:off x="142875" y="2552700"/>
              <a:ext cx="2095500" cy="552600"/>
              <a:chOff x="0" y="0"/>
              <a:chExt cx="2095500" cy="552600"/>
            </a:xfrm>
          </p:grpSpPr>
          <p:sp>
            <p:nvSpPr>
              <p:cNvPr id="543" name="Google Shape;543;p31"/>
              <p:cNvSpPr/>
              <p:nvPr/>
            </p:nvSpPr>
            <p:spPr>
              <a:xfrm>
                <a:off x="0" y="0"/>
                <a:ext cx="2095500" cy="552600"/>
              </a:xfrm>
              <a:prstGeom prst="roundRect">
                <a:avLst>
                  <a:gd fmla="val 10344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31"/>
              <p:cNvSpPr txBox="1"/>
              <p:nvPr/>
            </p:nvSpPr>
            <p:spPr>
              <a:xfrm>
                <a:off x="95250" y="47625"/>
                <a:ext cx="1905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التوافق العالمي:</a:t>
                </a:r>
                <a:endParaRPr b="1" sz="95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متوافق بالكامل مع معايير CIDOC-CRM للمتاحف العالمية لتحقيق التشغيل البيني.</a:t>
                </a:r>
                <a:endParaRPr sz="850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545" name="Google Shape;545;p31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32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551" name="Google Shape;551;p32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552" name="Google Shape;552;p3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32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32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5" name="Google Shape;555;p32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556" name="Google Shape;556;p32"/>
          <p:cNvGrpSpPr/>
          <p:nvPr/>
        </p:nvGrpSpPr>
        <p:grpSpPr>
          <a:xfrm>
            <a:off x="381000" y="571500"/>
            <a:ext cx="8382000" cy="495300"/>
            <a:chOff x="0" y="0"/>
            <a:chExt cx="8382000" cy="495300"/>
          </a:xfrm>
        </p:grpSpPr>
        <p:sp>
          <p:nvSpPr>
            <p:cNvPr id="557" name="Google Shape;557;p32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العائد التشغيلي لتطبيقات الذكاء الاصطناعي في الهيئة</a:t>
              </a:r>
              <a:endParaRPr b="1" sz="24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58" name="Google Shape;558;p32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9" name="Google Shape;559;p32"/>
          <p:cNvGrpSpPr/>
          <p:nvPr/>
        </p:nvGrpSpPr>
        <p:grpSpPr>
          <a:xfrm>
            <a:off x="4714875" y="1428750"/>
            <a:ext cx="4048200" cy="1428900"/>
            <a:chOff x="0" y="0"/>
            <a:chExt cx="4048200" cy="1428900"/>
          </a:xfrm>
        </p:grpSpPr>
        <p:sp>
          <p:nvSpPr>
            <p:cNvPr id="560" name="Google Shape;560;p32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666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2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2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4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80%</a:t>
              </a:r>
              <a:endParaRPr b="1" i="0" sz="34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250" u="none" strike="noStrike">
                  <a:solidFill>
                    <a:srgbClr val="0F172A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توفير في زمن الفهرسة والتوثيق المكتبي للقطع الأثرية.</a:t>
              </a:r>
              <a:endParaRPr b="1" i="0" sz="12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563" name="Google Shape;563;p32"/>
          <p:cNvGrpSpPr/>
          <p:nvPr/>
        </p:nvGrpSpPr>
        <p:grpSpPr>
          <a:xfrm>
            <a:off x="381000" y="1428750"/>
            <a:ext cx="4048200" cy="1428900"/>
            <a:chOff x="0" y="0"/>
            <a:chExt cx="4048200" cy="1428900"/>
          </a:xfrm>
        </p:grpSpPr>
        <p:sp>
          <p:nvSpPr>
            <p:cNvPr id="564" name="Google Shape;564;p32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666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2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2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4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0.1 ملم</a:t>
              </a:r>
              <a:endParaRPr b="1" i="0" sz="34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250" u="none" strike="noStrike">
                  <a:solidFill>
                    <a:srgbClr val="0F172A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دقة مطابقة السمات المورفولوجية الدقيقة للقى والمسكوكات.</a:t>
              </a:r>
              <a:endParaRPr b="1" i="0" sz="12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567" name="Google Shape;567;p32"/>
          <p:cNvGrpSpPr/>
          <p:nvPr/>
        </p:nvGrpSpPr>
        <p:grpSpPr>
          <a:xfrm>
            <a:off x="4714875" y="3095625"/>
            <a:ext cx="4048200" cy="1428900"/>
            <a:chOff x="0" y="0"/>
            <a:chExt cx="4048200" cy="1428900"/>
          </a:xfrm>
        </p:grpSpPr>
        <p:sp>
          <p:nvSpPr>
            <p:cNvPr id="568" name="Google Shape;568;p32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666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2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2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4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100%</a:t>
              </a:r>
              <a:endParaRPr b="1" i="0" sz="34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250" u="none" strike="noStrike">
                  <a:solidFill>
                    <a:srgbClr val="0F172A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قابلية ربط مقتنيات متاحف الشارقة بالسجل الأثري الوطني بشكل سلس.</a:t>
              </a:r>
              <a:endParaRPr b="1" i="0" sz="12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571" name="Google Shape;571;p32"/>
          <p:cNvGrpSpPr/>
          <p:nvPr/>
        </p:nvGrpSpPr>
        <p:grpSpPr>
          <a:xfrm>
            <a:off x="381000" y="3095625"/>
            <a:ext cx="4048200" cy="1428900"/>
            <a:chOff x="0" y="0"/>
            <a:chExt cx="4048200" cy="1428900"/>
          </a:xfrm>
        </p:grpSpPr>
        <p:sp>
          <p:nvSpPr>
            <p:cNvPr id="572" name="Google Shape;572;p32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666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2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2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4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Zero</a:t>
              </a:r>
              <a:endParaRPr b="1" i="0" sz="34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250" u="none" strike="noStrike">
                  <a:solidFill>
                    <a:srgbClr val="0F172A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تكرار في إدخال السجلات اليدوية أو ضياع للبيانات الميدانية.</a:t>
              </a:r>
              <a:endParaRPr b="1" i="0" sz="12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575" name="Google Shape;575;p32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p33"/>
          <p:cNvGrpSpPr/>
          <p:nvPr/>
        </p:nvGrpSpPr>
        <p:grpSpPr>
          <a:xfrm>
            <a:off x="381000" y="190500"/>
            <a:ext cx="8553450" cy="342900"/>
            <a:chOff x="381000" y="190500"/>
            <a:chExt cx="8553450" cy="342900"/>
          </a:xfrm>
        </p:grpSpPr>
        <p:grpSp>
          <p:nvGrpSpPr>
            <p:cNvPr id="581" name="Google Shape;581;p33"/>
            <p:cNvGrpSpPr/>
            <p:nvPr/>
          </p:nvGrpSpPr>
          <p:grpSpPr>
            <a:xfrm>
              <a:off x="8591550" y="190500"/>
              <a:ext cx="342900" cy="342900"/>
              <a:chOff x="19050" y="19050"/>
              <a:chExt cx="342900" cy="342900"/>
            </a:xfrm>
          </p:grpSpPr>
          <p:sp>
            <p:nvSpPr>
              <p:cNvPr id="582" name="Google Shape;582;p33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33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33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5" name="Google Shape;585;p33"/>
            <p:cNvSpPr txBox="1"/>
            <p:nvPr/>
          </p:nvSpPr>
          <p:spPr>
            <a:xfrm>
              <a:off x="381000" y="2095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0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586" name="Google Shape;586;p33"/>
          <p:cNvGrpSpPr/>
          <p:nvPr/>
        </p:nvGrpSpPr>
        <p:grpSpPr>
          <a:xfrm>
            <a:off x="381000" y="495300"/>
            <a:ext cx="8382000" cy="390450"/>
            <a:chOff x="0" y="0"/>
            <a:chExt cx="8382000" cy="390450"/>
          </a:xfrm>
        </p:grpSpPr>
        <p:sp>
          <p:nvSpPr>
            <p:cNvPr id="587" name="Google Shape;587;p33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ورشة تطبيقية (10 دقائق): استنطاق قطعة أثرية بالهاتف</a:t>
              </a:r>
              <a:endParaRPr b="1" sz="22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7620000" y="361950"/>
              <a:ext cx="762000" cy="285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9" name="Google Shape;589;p33"/>
          <p:cNvPicPr preferRelativeResize="0"/>
          <p:nvPr/>
        </p:nvPicPr>
        <p:blipFill rotWithShape="1">
          <a:blip r:embed="rId3">
            <a:alphaModFix/>
          </a:blip>
          <a:srcRect b="758" l="0" r="0" t="768"/>
          <a:stretch/>
        </p:blipFill>
        <p:spPr>
          <a:xfrm>
            <a:off x="1666875" y="1133475"/>
            <a:ext cx="58104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0" name="Google Shape;590;p33"/>
          <p:cNvGrpSpPr/>
          <p:nvPr/>
        </p:nvGrpSpPr>
        <p:grpSpPr>
          <a:xfrm>
            <a:off x="6191250" y="990600"/>
            <a:ext cx="2571900" cy="1723950"/>
            <a:chOff x="6191250" y="990600"/>
            <a:chExt cx="2571900" cy="1723950"/>
          </a:xfrm>
        </p:grpSpPr>
        <p:sp>
          <p:nvSpPr>
            <p:cNvPr id="591" name="Google Shape;591;p33"/>
            <p:cNvSpPr/>
            <p:nvPr/>
          </p:nvSpPr>
          <p:spPr>
            <a:xfrm>
              <a:off x="6191250" y="1238250"/>
              <a:ext cx="25719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6191250" y="123825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7324725" y="990600"/>
              <a:ext cx="304800" cy="304800"/>
            </a:xfrm>
            <a:prstGeom prst="ellipse">
              <a:avLst/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3"/>
            <p:cNvSpPr txBox="1"/>
            <p:nvPr/>
          </p:nvSpPr>
          <p:spPr>
            <a:xfrm>
              <a:off x="7334250" y="1028700"/>
              <a:ext cx="285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strike="noStrike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1</a:t>
              </a:r>
              <a:endParaRPr b="1" i="0" sz="1200" u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95" name="Google Shape;595;p33"/>
            <p:cNvSpPr txBox="1"/>
            <p:nvPr/>
          </p:nvSpPr>
          <p:spPr>
            <a:xfrm>
              <a:off x="6343250" y="1381125"/>
              <a:ext cx="22767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1. التقاط أو رفع الصورة</a:t>
              </a:r>
              <a:endParaRPr b="1" i="0" sz="13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10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التقاط صورة مباشرة أو رفع ملف لمسكوكة أو كسرة فخارية عبر واجهة نموذج الذكاء الاصطناعي المخصص.</a:t>
              </a:r>
              <a:br>
                <a:rPr b="0" i="0" lang="en" sz="10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</a:br>
              <a:endParaRPr b="1" i="0" sz="10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596" name="Google Shape;596;p33"/>
          <p:cNvGrpSpPr/>
          <p:nvPr/>
        </p:nvGrpSpPr>
        <p:grpSpPr>
          <a:xfrm>
            <a:off x="3286125" y="990600"/>
            <a:ext cx="2571900" cy="1723950"/>
            <a:chOff x="3286125" y="990600"/>
            <a:chExt cx="2571900" cy="1723950"/>
          </a:xfrm>
        </p:grpSpPr>
        <p:sp>
          <p:nvSpPr>
            <p:cNvPr id="597" name="Google Shape;597;p33"/>
            <p:cNvSpPr/>
            <p:nvPr/>
          </p:nvSpPr>
          <p:spPr>
            <a:xfrm>
              <a:off x="3286125" y="1238250"/>
              <a:ext cx="25719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3286125" y="123825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4419600" y="990600"/>
              <a:ext cx="304800" cy="304800"/>
            </a:xfrm>
            <a:prstGeom prst="ellipse">
              <a:avLst/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3"/>
            <p:cNvSpPr txBox="1"/>
            <p:nvPr/>
          </p:nvSpPr>
          <p:spPr>
            <a:xfrm>
              <a:off x="4429125" y="1028700"/>
              <a:ext cx="285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strike="noStrike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2</a:t>
              </a:r>
              <a:endParaRPr b="1" i="0" sz="1200" u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01" name="Google Shape;601;p33"/>
            <p:cNvSpPr txBox="1"/>
            <p:nvPr/>
          </p:nvSpPr>
          <p:spPr>
            <a:xfrm>
              <a:off x="3429000" y="1381125"/>
              <a:ext cx="2286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2. حقن البرومبت الأثري</a:t>
              </a:r>
              <a:endParaRPr b="1" i="0" sz="13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0" lang="en" sz="10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إدخال الأمر الدقيق:</a:t>
              </a:r>
              <a:endParaRPr b="1" i="0" sz="10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950" u="none" strike="noStrike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«استخرج الميتاداتا، نوع الخط، تقييم التآكل، وبطاقة التوثيق وفق معيار </a:t>
              </a:r>
              <a:r>
                <a:rPr lang="en" sz="950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 </a:t>
              </a:r>
              <a:r>
                <a:rPr b="0" i="0" lang="en" sz="950" u="none" strike="noStrike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Dublin Core</a:t>
              </a:r>
              <a:r>
                <a:rPr lang="en" sz="950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،</a:t>
              </a:r>
              <a:r>
                <a:rPr b="0" i="0" lang="en" sz="950" u="none" strike="noStrike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 قراءة وترجمة حرفية للنص المكتوب»</a:t>
              </a:r>
              <a:endParaRPr b="1" i="0" sz="9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602" name="Google Shape;602;p33"/>
          <p:cNvGrpSpPr/>
          <p:nvPr/>
        </p:nvGrpSpPr>
        <p:grpSpPr>
          <a:xfrm>
            <a:off x="381000" y="990600"/>
            <a:ext cx="2571900" cy="1723950"/>
            <a:chOff x="381000" y="990600"/>
            <a:chExt cx="2571900" cy="1723950"/>
          </a:xfrm>
        </p:grpSpPr>
        <p:sp>
          <p:nvSpPr>
            <p:cNvPr id="603" name="Google Shape;603;p33"/>
            <p:cNvSpPr/>
            <p:nvPr/>
          </p:nvSpPr>
          <p:spPr>
            <a:xfrm>
              <a:off x="381000" y="1238250"/>
              <a:ext cx="25719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381000" y="123825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1514475" y="990600"/>
              <a:ext cx="304800" cy="304800"/>
            </a:xfrm>
            <a:prstGeom prst="ellipse">
              <a:avLst/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3"/>
            <p:cNvSpPr txBox="1"/>
            <p:nvPr/>
          </p:nvSpPr>
          <p:spPr>
            <a:xfrm>
              <a:off x="1524000" y="1028700"/>
              <a:ext cx="285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strike="noStrike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3</a:t>
              </a:r>
              <a:endParaRPr b="1" i="0" sz="1200" u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07" name="Google Shape;607;p33"/>
            <p:cNvSpPr txBox="1"/>
            <p:nvPr/>
          </p:nvSpPr>
          <p:spPr>
            <a:xfrm>
              <a:off x="523875" y="1381125"/>
              <a:ext cx="2286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3. مراجعة وتقييم الدقة</a:t>
              </a:r>
              <a:endParaRPr b="1" i="0" sz="13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10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مراجعة النتيجة المستخرجة آلياً ومقارنتها بالقراءة الميدانية الدقيقة للباحث الأثري المعتمد لضمان أعلى مستويات الموثوقية.</a:t>
              </a:r>
              <a:endParaRPr b="1" i="0" sz="10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608" name="Google Shape;608;p33"/>
          <p:cNvGrpSpPr/>
          <p:nvPr/>
        </p:nvGrpSpPr>
        <p:grpSpPr>
          <a:xfrm>
            <a:off x="381000" y="3114675"/>
            <a:ext cx="8382150" cy="1552500"/>
            <a:chOff x="381000" y="209550"/>
            <a:chExt cx="8382150" cy="1552500"/>
          </a:xfrm>
        </p:grpSpPr>
        <p:pic>
          <p:nvPicPr>
            <p:cNvPr id="609" name="Google Shape;609;p33"/>
            <p:cNvPicPr preferRelativeResize="0"/>
            <p:nvPr/>
          </p:nvPicPr>
          <p:blipFill rotWithShape="1">
            <a:blip r:embed="rId4">
              <a:alphaModFix/>
            </a:blip>
            <a:srcRect b="0" l="348" r="348" t="0"/>
            <a:stretch/>
          </p:blipFill>
          <p:spPr>
            <a:xfrm>
              <a:off x="381000" y="209550"/>
              <a:ext cx="2762400" cy="1552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0" name="Google Shape;610;p33"/>
            <p:cNvGrpSpPr/>
            <p:nvPr/>
          </p:nvGrpSpPr>
          <p:grpSpPr>
            <a:xfrm>
              <a:off x="3333750" y="209550"/>
              <a:ext cx="5429400" cy="1552500"/>
              <a:chOff x="3333750" y="209550"/>
              <a:chExt cx="5429400" cy="1552500"/>
            </a:xfrm>
          </p:grpSpPr>
          <p:pic>
            <p:nvPicPr>
              <p:cNvPr id="611" name="Google Shape;611;p33"/>
              <p:cNvPicPr preferRelativeResize="0"/>
              <p:nvPr/>
            </p:nvPicPr>
            <p:blipFill rotWithShape="1">
              <a:blip r:embed="rId5">
                <a:alphaModFix/>
              </a:blip>
              <a:srcRect b="2245" l="0" r="0" t="2245"/>
              <a:stretch/>
            </p:blipFill>
            <p:spPr>
              <a:xfrm>
                <a:off x="3333750" y="209550"/>
                <a:ext cx="5429400" cy="15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2" name="Google Shape;612;p33"/>
              <p:cNvSpPr/>
              <p:nvPr/>
            </p:nvSpPr>
            <p:spPr>
              <a:xfrm>
                <a:off x="3333750" y="209550"/>
                <a:ext cx="5429400" cy="247800"/>
              </a:xfrm>
              <a:custGeom>
                <a:rect b="b" l="l" r="r" t="t"/>
                <a:pathLst>
                  <a:path extrusionOk="0" h="120000" w="120000">
                    <a:moveTo>
                      <a:pt x="0" y="36923"/>
                    </a:moveTo>
                    <a:cubicBezTo>
                      <a:pt x="0" y="16531"/>
                      <a:pt x="843" y="0"/>
                      <a:pt x="1882" y="0"/>
                    </a:cubicBezTo>
                    <a:lnTo>
                      <a:pt x="118118" y="0"/>
                    </a:lnTo>
                    <a:cubicBezTo>
                      <a:pt x="119157" y="4"/>
                      <a:pt x="120000" y="16534"/>
                      <a:pt x="120000" y="3692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33"/>
              <p:cNvSpPr/>
              <p:nvPr/>
            </p:nvSpPr>
            <p:spPr>
              <a:xfrm>
                <a:off x="3486150" y="295275"/>
                <a:ext cx="76200" cy="76200"/>
              </a:xfrm>
              <a:prstGeom prst="ellipse">
                <a:avLst/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33"/>
              <p:cNvSpPr/>
              <p:nvPr/>
            </p:nvSpPr>
            <p:spPr>
              <a:xfrm>
                <a:off x="3609975" y="295275"/>
                <a:ext cx="76200" cy="76200"/>
              </a:xfrm>
              <a:prstGeom prst="ellipse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3"/>
              <p:cNvSpPr/>
              <p:nvPr/>
            </p:nvSpPr>
            <p:spPr>
              <a:xfrm>
                <a:off x="3733800" y="295275"/>
                <a:ext cx="76200" cy="76200"/>
              </a:xfrm>
              <a:prstGeom prst="ellipse">
                <a:avLst/>
              </a:prstGeom>
              <a:solidFill>
                <a:srgbClr val="4ADE80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3"/>
              <p:cNvSpPr txBox="1"/>
              <p:nvPr/>
            </p:nvSpPr>
            <p:spPr>
              <a:xfrm>
                <a:off x="3905250" y="247650"/>
                <a:ext cx="46674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050" u="none" strike="noStrike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بطاقة التوثيق والميتاداتا المستخرجة (Dublin Core Standards)</a:t>
                </a:r>
                <a:endParaRPr b="1" i="0" sz="1050" u="none" strike="noStrike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617" name="Google Shape;617;p33"/>
              <p:cNvSpPr txBox="1"/>
              <p:nvPr/>
            </p:nvSpPr>
            <p:spPr>
              <a:xfrm>
                <a:off x="4933975" y="523913"/>
                <a:ext cx="37989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b="1" i="0" lang="en" sz="950" u="none" strike="noStrike">
                    <a:solidFill>
                      <a:srgbClr val="D4A37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العنوان (Title):</a:t>
                </a: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كسرة فخارية أثرية ذات نقوش محفورة</a:t>
                </a:r>
                <a:endParaRPr b="0" i="0" sz="950" u="none" strike="noStrike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b="1" i="0" lang="en" sz="950" u="none" strike="noStrike">
                    <a:solidFill>
                      <a:srgbClr val="D4A37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نوع الخط والتآكل (Script &amp; Condition):</a:t>
                </a: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خط كوفي مبكر | نسبة التآكل: 35%</a:t>
                </a:r>
                <a:endParaRPr b="0" i="0" sz="950" u="none" strike="noStrike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b="1" i="0" lang="en" sz="950" u="none" strike="noStrike">
                    <a:solidFill>
                      <a:srgbClr val="D4A37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عناصر الميتاداتا (Dublin Core):</a:t>
                </a: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DC.Identifier: SHJ-ARCH-2026 | DC.Material: Terracotta</a:t>
                </a:r>
                <a:endParaRPr b="0" i="0" sz="950" u="none" strike="noStrike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b="1" i="0" lang="en" sz="950" u="none" strike="noStrike">
                    <a:solidFill>
                      <a:srgbClr val="4ADE8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نتيجة التقييم:</a:t>
                </a: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تطابق القراءة الآلية مع القراءة الميدانية للباحث بنسبة 96.4%</a:t>
                </a:r>
                <a:endParaRPr b="0" i="0" sz="950" u="none" strike="noStrike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618" name="Google Shape;618;p33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33" title="برومت الوصف الأثر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6125" y="2161351"/>
            <a:ext cx="900950" cy="9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3" title="Gemini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1250" y="2113500"/>
            <a:ext cx="948800" cy="9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34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626" name="Google Shape;626;p34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627" name="Google Shape;627;p34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34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34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30" name="Google Shape;630;p34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631" name="Google Shape;631;p34"/>
          <p:cNvGrpSpPr/>
          <p:nvPr/>
        </p:nvGrpSpPr>
        <p:grpSpPr>
          <a:xfrm>
            <a:off x="381000" y="590550"/>
            <a:ext cx="8382000" cy="495300"/>
            <a:chOff x="381000" y="590550"/>
            <a:chExt cx="8382000" cy="495300"/>
          </a:xfrm>
        </p:grpSpPr>
        <p:sp>
          <p:nvSpPr>
            <p:cNvPr id="632" name="Google Shape;632;p34"/>
            <p:cNvSpPr txBox="1"/>
            <p:nvPr/>
          </p:nvSpPr>
          <p:spPr>
            <a:xfrm>
              <a:off x="381000" y="590550"/>
              <a:ext cx="8382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35" u="none" strike="noStrike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الخلاصة: الذكاء الاصطناعي المساعد الفائق لعالم الآثار</a:t>
              </a:r>
              <a:endParaRPr b="1" i="0" sz="2035" u="none" strike="noStrike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8001000" y="10477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" name="Google Shape;634;p34"/>
          <p:cNvGrpSpPr/>
          <p:nvPr/>
        </p:nvGrpSpPr>
        <p:grpSpPr>
          <a:xfrm>
            <a:off x="381000" y="1238250"/>
            <a:ext cx="8382000" cy="3429000"/>
            <a:chOff x="0" y="0"/>
            <a:chExt cx="8382000" cy="3429000"/>
          </a:xfrm>
        </p:grpSpPr>
        <p:sp>
          <p:nvSpPr>
            <p:cNvPr id="635" name="Google Shape;635;p34"/>
            <p:cNvSpPr/>
            <p:nvPr/>
          </p:nvSpPr>
          <p:spPr>
            <a:xfrm>
              <a:off x="0" y="0"/>
              <a:ext cx="8382000" cy="3429000"/>
            </a:xfrm>
            <a:prstGeom prst="roundRect">
              <a:avLst>
                <a:gd fmla="val 3333" name="adj"/>
              </a:avLst>
            </a:prstGeom>
            <a:solidFill>
              <a:srgbClr val="17223B"/>
            </a:solidFill>
            <a:ln cap="flat" cmpd="sng" w="14300">
              <a:solidFill>
                <a:srgbClr val="D4A3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0" y="0"/>
              <a:ext cx="8382000" cy="47700"/>
            </a:xfrm>
            <a:prstGeom prst="roundRect">
              <a:avLst>
                <a:gd fmla="val 4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7" name="Google Shape;637;p34"/>
            <p:cNvGrpSpPr/>
            <p:nvPr/>
          </p:nvGrpSpPr>
          <p:grpSpPr>
            <a:xfrm>
              <a:off x="285750" y="238125"/>
              <a:ext cx="7810500" cy="809700"/>
              <a:chOff x="0" y="0"/>
              <a:chExt cx="7810500" cy="809700"/>
            </a:xfrm>
          </p:grpSpPr>
          <p:sp>
            <p:nvSpPr>
              <p:cNvPr id="638" name="Google Shape;638;p34"/>
              <p:cNvSpPr/>
              <p:nvPr/>
            </p:nvSpPr>
            <p:spPr>
              <a:xfrm>
                <a:off x="0" y="0"/>
                <a:ext cx="78105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4"/>
              <p:cNvSpPr/>
              <p:nvPr/>
            </p:nvSpPr>
            <p:spPr>
              <a:xfrm>
                <a:off x="6048375" y="114300"/>
                <a:ext cx="15240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D4A373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34"/>
              <p:cNvSpPr txBox="1"/>
              <p:nvPr/>
            </p:nvSpPr>
            <p:spPr>
              <a:xfrm>
                <a:off x="6048375" y="142875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D4A37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قدرات الذكاء الاصطناعي</a:t>
                </a:r>
                <a:endParaRPr b="1" sz="1000">
                  <a:solidFill>
                    <a:srgbClr val="D4A37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  <p:sp>
            <p:nvSpPr>
              <p:cNvPr id="641" name="Google Shape;641;p34"/>
              <p:cNvSpPr txBox="1"/>
              <p:nvPr/>
            </p:nvSpPr>
            <p:spPr>
              <a:xfrm>
                <a:off x="238125" y="400050"/>
                <a:ext cx="7334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تقدم الخوارزميات ونماذج الذكاء الاصطناعي ترجيحات إحصائية دقيقة وسرعة معالجة فائقة للبيانات الضخمة.</a:t>
                </a:r>
                <a:endParaRPr b="0" sz="1300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642" name="Google Shape;642;p34"/>
            <p:cNvGrpSpPr/>
            <p:nvPr/>
          </p:nvGrpSpPr>
          <p:grpSpPr>
            <a:xfrm>
              <a:off x="285750" y="1190625"/>
              <a:ext cx="7810500" cy="1952700"/>
              <a:chOff x="0" y="0"/>
              <a:chExt cx="7810500" cy="1952700"/>
            </a:xfrm>
          </p:grpSpPr>
          <p:sp>
            <p:nvSpPr>
              <p:cNvPr id="643" name="Google Shape;643;p34"/>
              <p:cNvSpPr/>
              <p:nvPr/>
            </p:nvSpPr>
            <p:spPr>
              <a:xfrm>
                <a:off x="0" y="0"/>
                <a:ext cx="7810500" cy="1952700"/>
              </a:xfrm>
              <a:prstGeom prst="roundRect">
                <a:avLst>
                  <a:gd fmla="val 4878" name="adj"/>
                </a:avLst>
              </a:prstGeom>
              <a:solidFill>
                <a:srgbClr val="0F172A"/>
              </a:solidFill>
              <a:ln cap="flat" cmpd="sng" w="19050">
                <a:solidFill>
                  <a:srgbClr val="B23A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34"/>
              <p:cNvSpPr/>
              <p:nvPr/>
            </p:nvSpPr>
            <p:spPr>
              <a:xfrm>
                <a:off x="5572125" y="142875"/>
                <a:ext cx="20001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34"/>
              <p:cNvSpPr txBox="1"/>
              <p:nvPr/>
            </p:nvSpPr>
            <p:spPr>
              <a:xfrm>
                <a:off x="5572125" y="180975"/>
                <a:ext cx="2000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Cairo"/>
                    <a:ea typeface="Cairo"/>
                    <a:cs typeface="Cairo"/>
                    <a:sym typeface="Cairo"/>
                  </a:rPr>
                  <a:t>الرسالة المحورية والمسؤولية</a:t>
                </a:r>
                <a:endParaRPr b="1" sz="105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646" name="Google Shape;646;p34"/>
              <p:cNvSpPr txBox="1"/>
              <p:nvPr/>
            </p:nvSpPr>
            <p:spPr>
              <a:xfrm>
                <a:off x="285750" y="495300"/>
                <a:ext cx="7239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D4A373"/>
                    </a:solidFill>
                    <a:latin typeface="Tajawal Medium"/>
                    <a:ea typeface="Tajawal Medium"/>
                    <a:cs typeface="Tajawal Medium"/>
                    <a:sym typeface="Tajawal Medium"/>
                  </a:rPr>
                  <a:t>ومع ذلك، يظل القرار الأثري النهائي، والتفسير التاريخي العميق، وفهم السياق الثقافي مسؤولية حصرية للباحث البشري.</a:t>
                </a:r>
                <a:endParaRPr b="0" sz="130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endParaRPr>
              </a:p>
            </p:txBody>
          </p:sp>
          <p:grpSp>
            <p:nvGrpSpPr>
              <p:cNvPr id="647" name="Google Shape;647;p34"/>
              <p:cNvGrpSpPr/>
              <p:nvPr/>
            </p:nvGrpSpPr>
            <p:grpSpPr>
              <a:xfrm>
                <a:off x="280988" y="1090613"/>
                <a:ext cx="7248600" cy="628800"/>
                <a:chOff x="-4762" y="-4762"/>
                <a:chExt cx="7248600" cy="628800"/>
              </a:xfrm>
            </p:grpSpPr>
            <p:pic>
              <p:nvPicPr>
                <p:cNvPr id="648" name="Google Shape;648;p3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-4762" y="-4762"/>
                  <a:ext cx="7248600" cy="628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49" name="Google Shape;649;p34"/>
                <p:cNvSpPr txBox="1"/>
                <p:nvPr/>
              </p:nvSpPr>
              <p:spPr>
                <a:xfrm>
                  <a:off x="142875" y="95250"/>
                  <a:ext cx="69534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1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500">
                      <a:solidFill>
                        <a:srgbClr val="FDFCF0"/>
                      </a:solidFill>
                      <a:latin typeface="Cairo"/>
                      <a:ea typeface="Cairo"/>
                      <a:cs typeface="Cairo"/>
                      <a:sym typeface="Cairo"/>
                    </a:rPr>
                    <a:t>"القرار الأثري والتفسير التاريخي يظل مسؤولية الباحث البشري حصراً"</a:t>
                  </a:r>
                  <a:endParaRPr b="1" sz="1500">
                    <a:solidFill>
                      <a:srgbClr val="FDFCF0"/>
                    </a:solidFill>
                    <a:latin typeface="Cairo"/>
                    <a:ea typeface="Cairo"/>
                    <a:cs typeface="Cairo"/>
                    <a:sym typeface="Cairo"/>
                  </a:endParaRPr>
                </a:p>
              </p:txBody>
            </p:sp>
          </p:grpSp>
        </p:grpSp>
      </p:grpSp>
      <p:sp>
        <p:nvSpPr>
          <p:cNvPr id="650" name="Google Shape;650;p34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" name="Google Shape;655;p35"/>
          <p:cNvGrpSpPr/>
          <p:nvPr/>
        </p:nvGrpSpPr>
        <p:grpSpPr>
          <a:xfrm>
            <a:off x="5594011" y="190509"/>
            <a:ext cx="3150641" cy="990667"/>
            <a:chOff x="4191000" y="190500"/>
            <a:chExt cx="4552950" cy="1431600"/>
          </a:xfrm>
        </p:grpSpPr>
        <p:pic>
          <p:nvPicPr>
            <p:cNvPr id="656" name="Google Shape;656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91000" y="190500"/>
              <a:ext cx="3999900" cy="1431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57" name="Google Shape;657;p35"/>
            <p:cNvGrpSpPr/>
            <p:nvPr/>
          </p:nvGrpSpPr>
          <p:grpSpPr>
            <a:xfrm>
              <a:off x="8401050" y="400050"/>
              <a:ext cx="342900" cy="342900"/>
              <a:chOff x="19050" y="19050"/>
              <a:chExt cx="342900" cy="342900"/>
            </a:xfrm>
          </p:grpSpPr>
          <p:sp>
            <p:nvSpPr>
              <p:cNvPr id="658" name="Google Shape;658;p35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320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5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320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35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661" name="Google Shape;66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666875"/>
            <a:ext cx="3905400" cy="2196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2" name="Google Shape;662;p35"/>
          <p:cNvGrpSpPr/>
          <p:nvPr/>
        </p:nvGrpSpPr>
        <p:grpSpPr>
          <a:xfrm>
            <a:off x="4286250" y="1666875"/>
            <a:ext cx="4476900" cy="2038350"/>
            <a:chOff x="0" y="0"/>
            <a:chExt cx="4476900" cy="2038350"/>
          </a:xfrm>
        </p:grpSpPr>
        <p:sp>
          <p:nvSpPr>
            <p:cNvPr id="663" name="Google Shape;663;p35"/>
            <p:cNvSpPr txBox="1"/>
            <p:nvPr/>
          </p:nvSpPr>
          <p:spPr>
            <a:xfrm>
              <a:off x="0" y="0"/>
              <a:ext cx="4476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التوثيق الميداني الذكي</a:t>
              </a:r>
              <a:b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</a:br>
              <a: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والتوائم الرقمية </a:t>
              </a:r>
              <a:b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</a:br>
              <a:r>
                <a:rPr b="1" i="0" lang="en" sz="2600" u="none" strike="noStrike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(3D Digital Twins)</a:t>
              </a:r>
              <a:endParaRPr b="1" i="0" sz="2600" u="none" strike="noStrike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0" lang="en" sz="1350" u="none" strike="noStrike">
                  <a:solidFill>
                    <a:srgbClr val="5C403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حوسبة الحفريات والتسجيل الميداني المتقدم</a:t>
              </a:r>
              <a:endParaRPr b="1" i="0" sz="1350" u="none" strike="noStrike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64" name="Google Shape;664;p35"/>
            <p:cNvSpPr/>
            <p:nvPr/>
          </p:nvSpPr>
          <p:spPr>
            <a:xfrm>
              <a:off x="3714750" y="20002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5" name="Google Shape;665;p35"/>
          <p:cNvSpPr txBox="1"/>
          <p:nvPr/>
        </p:nvSpPr>
        <p:spPr>
          <a:xfrm>
            <a:off x="381000" y="419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هيئة الشارقة للآثار — حكومة الشارقة</a:t>
            </a:r>
            <a:endParaRPr b="1" sz="14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" name="Google Shape;670;p36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671" name="Google Shape;671;p36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4" name="Google Shape;674;p36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675" name="Google Shape;675;p36"/>
          <p:cNvGrpSpPr/>
          <p:nvPr/>
        </p:nvGrpSpPr>
        <p:grpSpPr>
          <a:xfrm>
            <a:off x="381000" y="619125"/>
            <a:ext cx="8382000" cy="438150"/>
            <a:chOff x="0" y="0"/>
            <a:chExt cx="8382000" cy="438150"/>
          </a:xfrm>
        </p:grpSpPr>
        <p:sp>
          <p:nvSpPr>
            <p:cNvPr id="676" name="Google Shape;676;p36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التوأم الرقمي: حفظ السياق الطبقي وتجميد الزمن الأثري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620000" y="4000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8" name="Google Shape;678;p36"/>
          <p:cNvSpPr txBox="1"/>
          <p:nvPr/>
        </p:nvSpPr>
        <p:spPr>
          <a:xfrm>
            <a:off x="381000" y="1162050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تحويل الحفريات غير القابلة للتكرار إلى بيئات تفاعلية ثلاثية الأبعاد تضمن استدامة المعرفة</a:t>
            </a:r>
            <a:endParaRPr b="0" sz="125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679" name="Google Shape;679;p36"/>
          <p:cNvGrpSpPr/>
          <p:nvPr/>
        </p:nvGrpSpPr>
        <p:grpSpPr>
          <a:xfrm>
            <a:off x="6191250" y="1666875"/>
            <a:ext cx="2571900" cy="2905200"/>
            <a:chOff x="0" y="0"/>
            <a:chExt cx="2571900" cy="2905200"/>
          </a:xfrm>
        </p:grpSpPr>
        <p:sp>
          <p:nvSpPr>
            <p:cNvPr id="680" name="Google Shape;680;p36"/>
            <p:cNvSpPr/>
            <p:nvPr/>
          </p:nvSpPr>
          <p:spPr>
            <a:xfrm>
              <a:off x="0" y="0"/>
              <a:ext cx="2571900" cy="2905200"/>
            </a:xfrm>
            <a:prstGeom prst="roundRect">
              <a:avLst>
                <a:gd fmla="val 370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0" y="38100"/>
              <a:ext cx="2571900" cy="428700"/>
            </a:xfrm>
            <a:prstGeom prst="roundRect">
              <a:avLst>
                <a:gd fmla="val 22222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0" y="276225"/>
              <a:ext cx="25719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6"/>
            <p:cNvSpPr txBox="1"/>
            <p:nvPr/>
          </p:nvSpPr>
          <p:spPr>
            <a:xfrm>
              <a:off x="95250" y="11430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طبيعة الحفرية الأثرية</a:t>
              </a:r>
              <a:endParaRPr b="1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5" name="Google Shape;685;p36"/>
            <p:cNvSpPr txBox="1"/>
            <p:nvPr/>
          </p:nvSpPr>
          <p:spPr>
            <a:xfrm>
              <a:off x="142875" y="590550"/>
              <a:ext cx="2286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عملية تدميرية بطبيعتها: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إزالة الطبقات الترابية أثناء التنقيب هي إجراء ينتهي بإزالة الشواهد الفيزيائية نهائياً.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غير قابلة للتكرار: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لا يمكن إعادة الموقع إلى حالته الأصليـة أو إعادة إجراء الحفرية في الميدان مرة أخرى.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686" name="Google Shape;686;p36"/>
          <p:cNvSpPr/>
          <p:nvPr/>
        </p:nvSpPr>
        <p:spPr>
          <a:xfrm>
            <a:off x="5934075" y="2990850"/>
            <a:ext cx="162000" cy="1143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14118" y="60000"/>
                </a:lnTo>
                <a:moveTo>
                  <a:pt x="49412" y="0"/>
                </a:moveTo>
                <a:lnTo>
                  <a:pt x="0" y="60000"/>
                </a:lnTo>
                <a:lnTo>
                  <a:pt x="49412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8B5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7" name="Google Shape;687;p36"/>
          <p:cNvGrpSpPr/>
          <p:nvPr/>
        </p:nvGrpSpPr>
        <p:grpSpPr>
          <a:xfrm>
            <a:off x="3286125" y="1666875"/>
            <a:ext cx="2571900" cy="2905200"/>
            <a:chOff x="0" y="0"/>
            <a:chExt cx="2571900" cy="2905200"/>
          </a:xfrm>
        </p:grpSpPr>
        <p:sp>
          <p:nvSpPr>
            <p:cNvPr id="688" name="Google Shape;688;p36"/>
            <p:cNvSpPr/>
            <p:nvPr/>
          </p:nvSpPr>
          <p:spPr>
            <a:xfrm>
              <a:off x="0" y="0"/>
              <a:ext cx="2571900" cy="2905200"/>
            </a:xfrm>
            <a:prstGeom prst="roundRect">
              <a:avLst>
                <a:gd fmla="val 3703" name="adj"/>
              </a:avLst>
            </a:prstGeom>
            <a:solidFill>
              <a:srgbClr val="FFFFFF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0" y="0"/>
              <a:ext cx="2571900" cy="428700"/>
            </a:xfrm>
            <a:prstGeom prst="roundRect">
              <a:avLst>
                <a:gd fmla="val 22222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0" y="238125"/>
              <a:ext cx="2571900" cy="1905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6"/>
            <p:cNvSpPr txBox="1"/>
            <p:nvPr/>
          </p:nvSpPr>
          <p:spPr>
            <a:xfrm>
              <a:off x="95250" y="9525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DFCF0"/>
                  </a:solidFill>
                  <a:latin typeface="Cairo"/>
                  <a:ea typeface="Cairo"/>
                  <a:cs typeface="Cairo"/>
                  <a:sym typeface="Cairo"/>
                </a:rPr>
                <a:t>التوأم الرقمي (Digital Twin)</a:t>
              </a:r>
              <a:endParaRPr b="1" sz="1300">
                <a:solidFill>
                  <a:srgbClr val="FDFCF0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92" name="Google Shape;692;p36"/>
            <p:cNvSpPr txBox="1"/>
            <p:nvPr/>
          </p:nvSpPr>
          <p:spPr>
            <a:xfrm>
              <a:off x="142875" y="590550"/>
              <a:ext cx="2286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إعادة تجميد الزمن: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يمثل الوسيلة العلمية الوحيدة لإيقاف التدهور وحفظ اللحظة التاريخية للموقع.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حفظ السياق الطبقي: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توثيق الدلائل والأصل الطبقي (Stratigraphy) بكامل الإحداثيات الحقيقية ثلاثية الأبعاد (3D).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693" name="Google Shape;693;p36"/>
          <p:cNvSpPr/>
          <p:nvPr/>
        </p:nvSpPr>
        <p:spPr>
          <a:xfrm>
            <a:off x="3028950" y="2990850"/>
            <a:ext cx="162000" cy="1143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14118" y="60000"/>
                </a:lnTo>
                <a:moveTo>
                  <a:pt x="49412" y="0"/>
                </a:moveTo>
                <a:lnTo>
                  <a:pt x="0" y="60000"/>
                </a:lnTo>
                <a:lnTo>
                  <a:pt x="49412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8B5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4" name="Google Shape;694;p36"/>
          <p:cNvGrpSpPr/>
          <p:nvPr/>
        </p:nvGrpSpPr>
        <p:grpSpPr>
          <a:xfrm>
            <a:off x="381000" y="1666875"/>
            <a:ext cx="2571900" cy="2905200"/>
            <a:chOff x="0" y="0"/>
            <a:chExt cx="2571900" cy="2905200"/>
          </a:xfrm>
        </p:grpSpPr>
        <p:sp>
          <p:nvSpPr>
            <p:cNvPr id="695" name="Google Shape;695;p36"/>
            <p:cNvSpPr/>
            <p:nvPr/>
          </p:nvSpPr>
          <p:spPr>
            <a:xfrm>
              <a:off x="0" y="0"/>
              <a:ext cx="2571900" cy="2905200"/>
            </a:xfrm>
            <a:prstGeom prst="roundRect">
              <a:avLst>
                <a:gd fmla="val 370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0" y="38100"/>
              <a:ext cx="2571900" cy="428700"/>
            </a:xfrm>
            <a:prstGeom prst="roundRect">
              <a:avLst>
                <a:gd fmla="val 22222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0" y="276225"/>
              <a:ext cx="25719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6"/>
            <p:cNvSpPr txBox="1"/>
            <p:nvPr/>
          </p:nvSpPr>
          <p:spPr>
            <a:xfrm>
              <a:off x="95250" y="11430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التنقيب الافتراضي المستدام</a:t>
              </a:r>
              <a:endParaRPr b="1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00" name="Google Shape;700;p36"/>
            <p:cNvSpPr txBox="1"/>
            <p:nvPr/>
          </p:nvSpPr>
          <p:spPr>
            <a:xfrm>
              <a:off x="142875" y="590550"/>
              <a:ext cx="2286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تمكين الأجيال القادمة: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يتيح للباحثين مستقبلاً إعادة التنقيب الافتراضي وتحليل البيانات بتقنيات جديدة.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• استدامة المعرفة:</a:t>
              </a:r>
              <a:endParaRPr b="1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ضمان بقاء المعلومات كاملة ومتاحة للدراسة حتى بعد ردم الموقع أو انتهاء العمل الميداني.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701" name="Google Shape;701;p36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oogle Shape;706;p37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707" name="Google Shape;707;p37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7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7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0" name="Google Shape;710;p37"/>
          <p:cNvGrpSpPr/>
          <p:nvPr/>
        </p:nvGrpSpPr>
        <p:grpSpPr>
          <a:xfrm>
            <a:off x="381000" y="238125"/>
            <a:ext cx="8001000" cy="285900"/>
            <a:chOff x="0" y="0"/>
            <a:chExt cx="8001000" cy="285900"/>
          </a:xfrm>
        </p:grpSpPr>
        <p:sp>
          <p:nvSpPr>
            <p:cNvPr id="711" name="Google Shape;711;p37"/>
            <p:cNvSpPr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7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713" name="Google Shape;713;p37"/>
          <p:cNvGrpSpPr/>
          <p:nvPr/>
        </p:nvGrpSpPr>
        <p:grpSpPr>
          <a:xfrm>
            <a:off x="381000" y="571500"/>
            <a:ext cx="8382000" cy="466725"/>
            <a:chOff x="0" y="0"/>
            <a:chExt cx="8382000" cy="466725"/>
          </a:xfrm>
        </p:grpSpPr>
        <p:sp>
          <p:nvSpPr>
            <p:cNvPr id="714" name="Google Shape;714;p37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تطور تقنيات النمذجة ثلاثية الأبعاد في التوثيق الأثري</a:t>
              </a:r>
              <a:endParaRPr b="1" sz="2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7620000" y="4286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6" name="Google Shape;716;p37"/>
          <p:cNvSpPr txBox="1"/>
          <p:nvPr/>
        </p:nvSpPr>
        <p:spPr>
          <a:xfrm>
            <a:off x="381000" y="11430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مقارنة تقنية تستعرض مراحل الانتقال والتطور من التصوير المساحي إلى المعالجة الحجمية والرذاذ ثلاثي الأبعاد:</a:t>
            </a:r>
            <a:endParaRPr b="0" sz="13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717" name="Google Shape;717;p37"/>
          <p:cNvGrpSpPr/>
          <p:nvPr/>
        </p:nvGrpSpPr>
        <p:grpSpPr>
          <a:xfrm>
            <a:off x="6286500" y="1619250"/>
            <a:ext cx="2476500" cy="3048000"/>
            <a:chOff x="0" y="0"/>
            <a:chExt cx="2476500" cy="3048000"/>
          </a:xfrm>
        </p:grpSpPr>
        <p:sp>
          <p:nvSpPr>
            <p:cNvPr id="718" name="Google Shape;718;p37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7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7"/>
            <p:cNvSpPr txBox="1"/>
            <p:nvPr/>
          </p:nvSpPr>
          <p:spPr>
            <a:xfrm>
              <a:off x="142875" y="171450"/>
              <a:ext cx="2190900" cy="19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المرحلة 01 • التصوير</a:t>
              </a:r>
              <a:endParaRPr b="1" i="0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التصوير المساحي</a:t>
              </a:r>
              <a:endParaRPr b="1" i="0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8B5A2B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(Photogrammetry)</a:t>
              </a:r>
              <a:endParaRPr b="0" i="0" sz="1050">
                <a:solidFill>
                  <a:srgbClr val="8B5A2B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يعتمد على مئات الصور المتداخلة. يتميز بالدقة العالية، ولكنه بطيء ومعقد ويتأثر بظروف الإضاءة وانعكاس شمس الصحراء.</a:t>
              </a:r>
              <a:endParaRPr b="0" i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721" name="Google Shape;721;p37"/>
            <p:cNvSpPr/>
            <p:nvPr/>
          </p:nvSpPr>
          <p:spPr>
            <a:xfrm>
              <a:off x="142875" y="2219325"/>
              <a:ext cx="2190900" cy="6669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7"/>
            <p:cNvSpPr txBox="1"/>
            <p:nvPr/>
          </p:nvSpPr>
          <p:spPr>
            <a:xfrm>
              <a:off x="142875" y="2266061"/>
              <a:ext cx="2190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camera_enhance</a:t>
              </a:r>
              <a:endParaRPr b="0" i="0" sz="3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723" name="Google Shape;723;p37"/>
          <p:cNvGrpSpPr/>
          <p:nvPr/>
        </p:nvGrpSpPr>
        <p:grpSpPr>
          <a:xfrm>
            <a:off x="3333750" y="1619250"/>
            <a:ext cx="2476500" cy="3048000"/>
            <a:chOff x="0" y="0"/>
            <a:chExt cx="2476500" cy="3048000"/>
          </a:xfrm>
        </p:grpSpPr>
        <p:sp>
          <p:nvSpPr>
            <p:cNvPr id="724" name="Google Shape;724;p37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7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7"/>
            <p:cNvSpPr txBox="1"/>
            <p:nvPr/>
          </p:nvSpPr>
          <p:spPr>
            <a:xfrm>
              <a:off x="142875" y="171450"/>
              <a:ext cx="2190900" cy="19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المرحلة 02 • التمثيل الحجمي</a:t>
              </a:r>
              <a:endParaRPr b="1" i="0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حقول الإشعاع العصبي</a:t>
              </a:r>
              <a:endParaRPr b="1" i="0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8B5A2B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(NeRF)</a:t>
              </a:r>
              <a:endParaRPr b="0" i="0" sz="1050">
                <a:solidFill>
                  <a:srgbClr val="8B5A2B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تستخدم شبكات عصبية لتمثيل المشهد الحجمي. تتفوق في معالجة الظلال والانعكاسات والإضاءة المعقدة رغم ثقل المعالجة.</a:t>
              </a:r>
              <a:endParaRPr b="0" i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727" name="Google Shape;727;p37"/>
            <p:cNvSpPr/>
            <p:nvPr/>
          </p:nvSpPr>
          <p:spPr>
            <a:xfrm>
              <a:off x="142875" y="2219325"/>
              <a:ext cx="2190900" cy="6669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7"/>
            <p:cNvSpPr txBox="1"/>
            <p:nvPr/>
          </p:nvSpPr>
          <p:spPr>
            <a:xfrm>
              <a:off x="142875" y="2266061"/>
              <a:ext cx="2190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model_training</a:t>
              </a:r>
              <a:endParaRPr b="0" i="0" sz="3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729" name="Google Shape;729;p37"/>
          <p:cNvGrpSpPr/>
          <p:nvPr/>
        </p:nvGrpSpPr>
        <p:grpSpPr>
          <a:xfrm>
            <a:off x="381000" y="1619250"/>
            <a:ext cx="2476500" cy="3048000"/>
            <a:chOff x="0" y="0"/>
            <a:chExt cx="2476500" cy="3048000"/>
          </a:xfrm>
        </p:grpSpPr>
        <p:sp>
          <p:nvSpPr>
            <p:cNvPr id="730" name="Google Shape;730;p37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4615" name="adj"/>
              </a:avLst>
            </a:prstGeom>
            <a:solidFill>
              <a:srgbClr val="FFFDF8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7"/>
            <p:cNvSpPr/>
            <p:nvPr/>
          </p:nvSpPr>
          <p:spPr>
            <a:xfrm>
              <a:off x="0" y="0"/>
              <a:ext cx="2476500" cy="47700"/>
            </a:xfrm>
            <a:prstGeom prst="roundRect">
              <a:avLst>
                <a:gd fmla="val 4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7"/>
            <p:cNvSpPr txBox="1"/>
            <p:nvPr/>
          </p:nvSpPr>
          <p:spPr>
            <a:xfrm>
              <a:off x="142875" y="171450"/>
              <a:ext cx="2190900" cy="195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50">
                  <a:solidFill>
                    <a:srgbClr val="B38F1D"/>
                  </a:solidFill>
                  <a:latin typeface="Tajawal"/>
                  <a:ea typeface="Tajawal"/>
                  <a:cs typeface="Tajawal"/>
                  <a:sym typeface="Tajawal"/>
                </a:rPr>
                <a:t>المرحلة 03 • طفرة 2026</a:t>
              </a:r>
              <a:endParaRPr b="1" i="0" sz="13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i="0" lang="en" sz="1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رذاذ غاوس</a:t>
              </a:r>
              <a:endParaRPr b="1" i="0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B38F1D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(3D Gaussian Splatting)</a:t>
              </a:r>
              <a:endParaRPr b="0" i="0" sz="1050">
                <a:solidFill>
                  <a:srgbClr val="B38F1D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طفرة عام 2026؛ توفر معالجة شبه فورية وسرعة عرض فائقة (60 إطاراً/ثانية) مباشرة عبر الأجهزة اللوحية الميدانية.</a:t>
              </a:r>
              <a:endParaRPr b="0" i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733" name="Google Shape;733;p37"/>
            <p:cNvSpPr/>
            <p:nvPr/>
          </p:nvSpPr>
          <p:spPr>
            <a:xfrm>
              <a:off x="142875" y="2219325"/>
              <a:ext cx="2190900" cy="666900"/>
            </a:xfrm>
            <a:prstGeom prst="rect">
              <a:avLst/>
            </a:prstGeom>
            <a:solidFill>
              <a:srgbClr val="D4AF37">
                <a:alpha val="1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7"/>
            <p:cNvSpPr txBox="1"/>
            <p:nvPr/>
          </p:nvSpPr>
          <p:spPr>
            <a:xfrm>
              <a:off x="142875" y="2266061"/>
              <a:ext cx="2190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3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view_in_ar</a:t>
              </a:r>
              <a:endParaRPr b="0" i="0" sz="3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735" name="Google Shape;735;p37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6" name="Google Shape;736;p37"/>
          <p:cNvGrpSpPr/>
          <p:nvPr/>
        </p:nvGrpSpPr>
        <p:grpSpPr>
          <a:xfrm>
            <a:off x="5867400" y="2819400"/>
            <a:ext cx="266700" cy="266700"/>
            <a:chOff x="5867400" y="2819400"/>
            <a:chExt cx="266700" cy="266700"/>
          </a:xfrm>
        </p:grpSpPr>
        <p:sp>
          <p:nvSpPr>
            <p:cNvPr id="737" name="Google Shape;737;p37"/>
            <p:cNvSpPr/>
            <p:nvPr/>
          </p:nvSpPr>
          <p:spPr>
            <a:xfrm>
              <a:off x="5867400" y="281940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7"/>
            <p:cNvSpPr/>
            <p:nvPr/>
          </p:nvSpPr>
          <p:spPr>
            <a:xfrm>
              <a:off x="5943600" y="291465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60000"/>
                  </a:lnTo>
                  <a:moveTo>
                    <a:pt x="48000" y="0"/>
                  </a:moveTo>
                  <a:lnTo>
                    <a:pt x="0" y="60000"/>
                  </a:lnTo>
                  <a:lnTo>
                    <a:pt x="4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9" name="Google Shape;739;p37"/>
          <p:cNvGrpSpPr/>
          <p:nvPr/>
        </p:nvGrpSpPr>
        <p:grpSpPr>
          <a:xfrm>
            <a:off x="2914650" y="2819400"/>
            <a:ext cx="266700" cy="266700"/>
            <a:chOff x="2914650" y="2819400"/>
            <a:chExt cx="266700" cy="266700"/>
          </a:xfrm>
        </p:grpSpPr>
        <p:sp>
          <p:nvSpPr>
            <p:cNvPr id="740" name="Google Shape;740;p37"/>
            <p:cNvSpPr/>
            <p:nvPr/>
          </p:nvSpPr>
          <p:spPr>
            <a:xfrm>
              <a:off x="2914650" y="281940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7"/>
            <p:cNvSpPr/>
            <p:nvPr/>
          </p:nvSpPr>
          <p:spPr>
            <a:xfrm>
              <a:off x="2990850" y="291465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60000"/>
                  </a:lnTo>
                  <a:moveTo>
                    <a:pt x="48000" y="0"/>
                  </a:moveTo>
                  <a:lnTo>
                    <a:pt x="0" y="60000"/>
                  </a:lnTo>
                  <a:lnTo>
                    <a:pt x="4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C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7" name="Google Shape;747;p38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748" name="Google Shape;748;p38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8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8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1" name="Google Shape;751;p38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752" name="Google Shape;752;p38"/>
          <p:cNvSpPr txBox="1"/>
          <p:nvPr/>
        </p:nvSpPr>
        <p:spPr>
          <a:xfrm>
            <a:off x="381000" y="552450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التحول الرقمي في أتمتة التسجيل الميداني</a:t>
            </a:r>
            <a:endParaRPr b="1" sz="21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الانتقال من الدفاتر الورقية إلى قواعد بيانات حية وذكية لرفع كفاءة التوثيق الأثري</a:t>
            </a:r>
            <a:endParaRPr b="0" sz="11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53" name="Google Shape;753;p38"/>
          <p:cNvSpPr/>
          <p:nvPr/>
        </p:nvSpPr>
        <p:spPr>
          <a:xfrm>
            <a:off x="8001000" y="9144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4" name="Google Shape;754;p38"/>
          <p:cNvGrpSpPr/>
          <p:nvPr/>
        </p:nvGrpSpPr>
        <p:grpSpPr>
          <a:xfrm>
            <a:off x="381000" y="1381125"/>
            <a:ext cx="8382000" cy="1000200"/>
            <a:chOff x="0" y="0"/>
            <a:chExt cx="8382000" cy="1000200"/>
          </a:xfrm>
        </p:grpSpPr>
        <p:sp>
          <p:nvSpPr>
            <p:cNvPr id="755" name="Google Shape;755;p38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8"/>
            <p:cNvSpPr/>
            <p:nvPr/>
          </p:nvSpPr>
          <p:spPr>
            <a:xfrm>
              <a:off x="0" y="0"/>
              <a:ext cx="838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8"/>
            <p:cNvSpPr/>
            <p:nvPr/>
          </p:nvSpPr>
          <p:spPr>
            <a:xfrm>
              <a:off x="7772400" y="2667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8"/>
            <p:cNvSpPr/>
            <p:nvPr/>
          </p:nvSpPr>
          <p:spPr>
            <a:xfrm>
              <a:off x="7943850" y="390525"/>
              <a:ext cx="76200" cy="133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93000" y="0"/>
                    <a:pt x="120000" y="15429"/>
                    <a:pt x="120000" y="34286"/>
                  </a:cubicBezTo>
                  <a:lnTo>
                    <a:pt x="120000" y="85714"/>
                  </a:lnTo>
                  <a:cubicBezTo>
                    <a:pt x="120000" y="104571"/>
                    <a:pt x="93000" y="120000"/>
                    <a:pt x="60000" y="120000"/>
                  </a:cubicBezTo>
                  <a:cubicBezTo>
                    <a:pt x="27000" y="120000"/>
                    <a:pt x="0" y="104571"/>
                    <a:pt x="0" y="85714"/>
                  </a:cubicBezTo>
                  <a:lnTo>
                    <a:pt x="0" y="34286"/>
                  </a:lnTo>
                  <a:cubicBezTo>
                    <a:pt x="0" y="15429"/>
                    <a:pt x="27000" y="0"/>
                    <a:pt x="60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8"/>
            <p:cNvSpPr/>
            <p:nvPr/>
          </p:nvSpPr>
          <p:spPr>
            <a:xfrm>
              <a:off x="7905750" y="476250"/>
              <a:ext cx="1524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0" y="66000"/>
                    <a:pt x="27000" y="120000"/>
                    <a:pt x="60000" y="120000"/>
                  </a:cubicBezTo>
                  <a:cubicBezTo>
                    <a:pt x="93000" y="120000"/>
                    <a:pt x="120000" y="66000"/>
                    <a:pt x="120000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8"/>
            <p:cNvSpPr/>
            <p:nvPr/>
          </p:nvSpPr>
          <p:spPr>
            <a:xfrm>
              <a:off x="7943850" y="552450"/>
              <a:ext cx="76200" cy="477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8"/>
            <p:cNvSpPr txBox="1"/>
            <p:nvPr/>
          </p:nvSpPr>
          <p:spPr>
            <a:xfrm>
              <a:off x="285750" y="171450"/>
              <a:ext cx="7296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تحويل الملاحظات الصوتية إلى بطاقات سياق رقمية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تحويل التسجيل الصوتي لملاحظات المنقب آلياً إلى بطاقات سياق طبقي رقمية (Context Sheets) مصنفة بدقة عالية، مما يضمن التوثيق الفوري والتخلص من الدفاتر الورقية Traditional Notebooks.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762" name="Google Shape;762;p38"/>
          <p:cNvGrpSpPr/>
          <p:nvPr/>
        </p:nvGrpSpPr>
        <p:grpSpPr>
          <a:xfrm>
            <a:off x="381000" y="2524125"/>
            <a:ext cx="8382000" cy="1000200"/>
            <a:chOff x="0" y="0"/>
            <a:chExt cx="8382000" cy="1000200"/>
          </a:xfrm>
        </p:grpSpPr>
        <p:sp>
          <p:nvSpPr>
            <p:cNvPr id="763" name="Google Shape;763;p38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8"/>
            <p:cNvSpPr/>
            <p:nvPr/>
          </p:nvSpPr>
          <p:spPr>
            <a:xfrm>
              <a:off x="0" y="0"/>
              <a:ext cx="838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8"/>
            <p:cNvSpPr/>
            <p:nvPr/>
          </p:nvSpPr>
          <p:spPr>
            <a:xfrm>
              <a:off x="7772400" y="2667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8"/>
            <p:cNvSpPr/>
            <p:nvPr/>
          </p:nvSpPr>
          <p:spPr>
            <a:xfrm>
              <a:off x="7877175" y="371475"/>
              <a:ext cx="209700" cy="2097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8"/>
            <p:cNvSpPr/>
            <p:nvPr/>
          </p:nvSpPr>
          <p:spPr>
            <a:xfrm>
              <a:off x="7929563" y="414338"/>
              <a:ext cx="28500" cy="28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8"/>
            <p:cNvSpPr/>
            <p:nvPr/>
          </p:nvSpPr>
          <p:spPr>
            <a:xfrm>
              <a:off x="7996238" y="404813"/>
              <a:ext cx="28500" cy="285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8"/>
            <p:cNvSpPr/>
            <p:nvPr/>
          </p:nvSpPr>
          <p:spPr>
            <a:xfrm>
              <a:off x="8015288" y="461963"/>
              <a:ext cx="28500" cy="28500"/>
            </a:xfrm>
            <a:prstGeom prst="ellipse">
              <a:avLst/>
            </a:prstGeom>
            <a:solidFill>
              <a:srgbClr val="5C40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8"/>
            <p:cNvSpPr txBox="1"/>
            <p:nvPr/>
          </p:nvSpPr>
          <p:spPr>
            <a:xfrm>
              <a:off x="285750" y="171450"/>
              <a:ext cx="7296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التحديد التلقائي لألوان التربة (Munsell Soil Color)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تطبيق خوارزميات تصحيح توازن البياض الكاميرية لمعايرة الصور رقمياً، والتحديد التلقائي الدقيق لرموز الألوان القياسية للتربة وفق نظام Munsell العالمي دون تدخل بشري تقديري.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771" name="Google Shape;771;p38"/>
          <p:cNvGrpSpPr/>
          <p:nvPr/>
        </p:nvGrpSpPr>
        <p:grpSpPr>
          <a:xfrm>
            <a:off x="381000" y="3667125"/>
            <a:ext cx="8382000" cy="1000200"/>
            <a:chOff x="0" y="0"/>
            <a:chExt cx="8382000" cy="1000200"/>
          </a:xfrm>
        </p:grpSpPr>
        <p:sp>
          <p:nvSpPr>
            <p:cNvPr id="772" name="Google Shape;772;p38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8"/>
            <p:cNvSpPr/>
            <p:nvPr/>
          </p:nvSpPr>
          <p:spPr>
            <a:xfrm>
              <a:off x="0" y="0"/>
              <a:ext cx="8382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8"/>
            <p:cNvSpPr/>
            <p:nvPr/>
          </p:nvSpPr>
          <p:spPr>
            <a:xfrm>
              <a:off x="7772400" y="2667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8"/>
            <p:cNvSpPr/>
            <p:nvPr/>
          </p:nvSpPr>
          <p:spPr>
            <a:xfrm>
              <a:off x="7877175" y="371475"/>
              <a:ext cx="180900" cy="123900"/>
            </a:xfrm>
            <a:custGeom>
              <a:rect b="b" l="l" r="r" t="t"/>
              <a:pathLst>
                <a:path extrusionOk="0" h="120000" w="120000">
                  <a:moveTo>
                    <a:pt x="25263" y="120000"/>
                  </a:moveTo>
                  <a:cubicBezTo>
                    <a:pt x="12632" y="120000"/>
                    <a:pt x="0" y="101538"/>
                    <a:pt x="0" y="78462"/>
                  </a:cubicBezTo>
                  <a:cubicBezTo>
                    <a:pt x="0" y="58154"/>
                    <a:pt x="10105" y="41538"/>
                    <a:pt x="24000" y="37846"/>
                  </a:cubicBezTo>
                  <a:cubicBezTo>
                    <a:pt x="29052" y="15692"/>
                    <a:pt x="42947" y="0"/>
                    <a:pt x="60000" y="0"/>
                  </a:cubicBezTo>
                  <a:cubicBezTo>
                    <a:pt x="79579" y="0"/>
                    <a:pt x="95368" y="20308"/>
                    <a:pt x="99789" y="47077"/>
                  </a:cubicBezTo>
                  <a:cubicBezTo>
                    <a:pt x="111158" y="49846"/>
                    <a:pt x="120000" y="64615"/>
                    <a:pt x="120000" y="83077"/>
                  </a:cubicBezTo>
                  <a:cubicBezTo>
                    <a:pt x="120000" y="103385"/>
                    <a:pt x="108632" y="120000"/>
                    <a:pt x="94737" y="12000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8"/>
            <p:cNvSpPr/>
            <p:nvPr/>
          </p:nvSpPr>
          <p:spPr>
            <a:xfrm>
              <a:off x="7939088" y="495300"/>
              <a:ext cx="57300" cy="85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80000"/>
                  </a:moveTo>
                  <a:lnTo>
                    <a:pt x="60000" y="120000"/>
                  </a:lnTo>
                  <a:lnTo>
                    <a:pt x="120000" y="8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8"/>
            <p:cNvSpPr txBox="1"/>
            <p:nvPr/>
          </p:nvSpPr>
          <p:spPr>
            <a:xfrm>
              <a:off x="285750" y="171450"/>
              <a:ext cx="7296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الإحداثيات السنتيمترية والربط السحابي المركزي</a:t>
              </a:r>
              <a:endParaRPr b="1" sz="135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ربط كل عينة أو لُقية أثرية بملاحظات وإحداثيات مكانية سنتيمترية فائقة الدقة، ورفعها فورياً للربط بالخوادم السحابية التابعة لهيئة الشارقة للآثار لضمان حفظ البيانات الموحد والآمن.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778" name="Google Shape;778;p38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39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784" name="Google Shape;784;p39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9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9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7" name="Google Shape;787;p39"/>
          <p:cNvGrpSpPr/>
          <p:nvPr/>
        </p:nvGrpSpPr>
        <p:grpSpPr>
          <a:xfrm>
            <a:off x="381000" y="238125"/>
            <a:ext cx="8001000" cy="285900"/>
            <a:chOff x="0" y="0"/>
            <a:chExt cx="8001000" cy="285900"/>
          </a:xfrm>
        </p:grpSpPr>
        <p:sp>
          <p:nvSpPr>
            <p:cNvPr id="788" name="Google Shape;788;p39"/>
            <p:cNvSpPr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9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790" name="Google Shape;790;p39"/>
          <p:cNvSpPr txBox="1"/>
          <p:nvPr/>
        </p:nvSpPr>
        <p:spPr>
          <a:xfrm>
            <a:off x="381000" y="523875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الرؤية الحاسوبية في رسم ومطابقة القطع الفخارية</a:t>
            </a:r>
            <a:endParaRPr b="1" sz="20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تحويل عملية التوثيق الفخاري التقليدية إلى آلية رقمية فائقة السرعة والدقة</a:t>
            </a:r>
            <a:endParaRPr b="0" sz="11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1" name="Google Shape;791;p39"/>
          <p:cNvSpPr/>
          <p:nvPr/>
        </p:nvSpPr>
        <p:spPr>
          <a:xfrm>
            <a:off x="8001000" y="111442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2" name="Google Shape;792;p39"/>
          <p:cNvGrpSpPr/>
          <p:nvPr/>
        </p:nvGrpSpPr>
        <p:grpSpPr>
          <a:xfrm>
            <a:off x="4572000" y="1143000"/>
            <a:ext cx="4191000" cy="1000200"/>
            <a:chOff x="0" y="0"/>
            <a:chExt cx="4191000" cy="1000200"/>
          </a:xfrm>
        </p:grpSpPr>
        <p:sp>
          <p:nvSpPr>
            <p:cNvPr id="793" name="Google Shape;793;p39"/>
            <p:cNvSpPr/>
            <p:nvPr/>
          </p:nvSpPr>
          <p:spPr>
            <a:xfrm>
              <a:off x="0" y="0"/>
              <a:ext cx="4191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9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3657600" y="1524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3752850" y="247650"/>
              <a:ext cx="152400" cy="152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3829050" y="285750"/>
              <a:ext cx="28500" cy="381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9"/>
            <p:cNvSpPr txBox="1"/>
            <p:nvPr/>
          </p:nvSpPr>
          <p:spPr>
            <a:xfrm>
              <a:off x="142875" y="133350"/>
              <a:ext cx="3381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التحدي التقليدي في التوثيق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يعاني الباحثون من استغراق أسابيع طويلة في رسم مقاطع الكسرات الفخارية يدوياً باستخدام المشط والفرجار.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799" name="Google Shape;799;p39"/>
          <p:cNvGrpSpPr/>
          <p:nvPr/>
        </p:nvGrpSpPr>
        <p:grpSpPr>
          <a:xfrm>
            <a:off x="4572000" y="2286000"/>
            <a:ext cx="4191000" cy="1095300"/>
            <a:chOff x="0" y="0"/>
            <a:chExt cx="4191000" cy="1095300"/>
          </a:xfrm>
        </p:grpSpPr>
        <p:sp>
          <p:nvSpPr>
            <p:cNvPr id="800" name="Google Shape;800;p39"/>
            <p:cNvSpPr/>
            <p:nvPr/>
          </p:nvSpPr>
          <p:spPr>
            <a:xfrm>
              <a:off x="0" y="0"/>
              <a:ext cx="4191000" cy="10953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3657600" y="1524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9"/>
            <p:cNvSpPr/>
            <p:nvPr/>
          </p:nvSpPr>
          <p:spPr>
            <a:xfrm>
              <a:off x="3762375" y="285750"/>
              <a:ext cx="133500" cy="954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9"/>
            <p:cNvSpPr/>
            <p:nvPr/>
          </p:nvSpPr>
          <p:spPr>
            <a:xfrm>
              <a:off x="3805238" y="309563"/>
              <a:ext cx="47700" cy="477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9"/>
            <p:cNvSpPr txBox="1"/>
            <p:nvPr/>
          </p:nvSpPr>
          <p:spPr>
            <a:xfrm>
              <a:off x="142875" y="133350"/>
              <a:ext cx="3381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حلول الرؤية الحاسوبية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التقاط صورة واحدة للكسرة الفخارية لاستخراج المنحنى الهندسي وحساب القطر التقديري للإناء ومطابقته آلياً بأطلس الفخار (مثل مليحة ومويلح).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06" name="Google Shape;806;p39"/>
          <p:cNvGrpSpPr/>
          <p:nvPr/>
        </p:nvGrpSpPr>
        <p:grpSpPr>
          <a:xfrm>
            <a:off x="4572000" y="3524250"/>
            <a:ext cx="4191000" cy="1095300"/>
            <a:chOff x="0" y="0"/>
            <a:chExt cx="4191000" cy="1095300"/>
          </a:xfrm>
        </p:grpSpPr>
        <p:sp>
          <p:nvSpPr>
            <p:cNvPr id="807" name="Google Shape;807;p39"/>
            <p:cNvSpPr/>
            <p:nvPr/>
          </p:nvSpPr>
          <p:spPr>
            <a:xfrm>
              <a:off x="0" y="0"/>
              <a:ext cx="4191000" cy="10953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9"/>
            <p:cNvSpPr/>
            <p:nvPr/>
          </p:nvSpPr>
          <p:spPr>
            <a:xfrm>
              <a:off x="0" y="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9"/>
            <p:cNvSpPr/>
            <p:nvPr/>
          </p:nvSpPr>
          <p:spPr>
            <a:xfrm>
              <a:off x="3048000" y="142875"/>
              <a:ext cx="1000200" cy="809700"/>
            </a:xfrm>
            <a:prstGeom prst="roundRect">
              <a:avLst>
                <a:gd fmla="val 9411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9"/>
            <p:cNvSpPr txBox="1"/>
            <p:nvPr/>
          </p:nvSpPr>
          <p:spPr>
            <a:xfrm>
              <a:off x="3048000" y="142875"/>
              <a:ext cx="1000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75%+</a:t>
              </a:r>
              <a:endParaRPr b="1" sz="28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توفير الوقت</a:t>
              </a:r>
              <a:endParaRPr b="1" sz="8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811" name="Google Shape;811;p39"/>
            <p:cNvSpPr txBox="1"/>
            <p:nvPr/>
          </p:nvSpPr>
          <p:spPr>
            <a:xfrm>
              <a:off x="142875" y="142875"/>
              <a:ext cx="2762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رفع كفاءة العمل الميداني</a:t>
              </a:r>
              <a:endParaRPr b="1" sz="125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توفير أكثر من 75% من الوقت المكتبي والميداني المخصص للتوثيق والرسم التحليلي.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12" name="Google Shape;812;p39"/>
          <p:cNvGrpSpPr/>
          <p:nvPr/>
        </p:nvGrpSpPr>
        <p:grpSpPr>
          <a:xfrm>
            <a:off x="381000" y="1143000"/>
            <a:ext cx="3952800" cy="3476700"/>
            <a:chOff x="0" y="0"/>
            <a:chExt cx="3952800" cy="3476700"/>
          </a:xfrm>
        </p:grpSpPr>
        <p:sp>
          <p:nvSpPr>
            <p:cNvPr id="813" name="Google Shape;813;p39"/>
            <p:cNvSpPr/>
            <p:nvPr/>
          </p:nvSpPr>
          <p:spPr>
            <a:xfrm>
              <a:off x="0" y="0"/>
              <a:ext cx="3952800" cy="3476700"/>
            </a:xfrm>
            <a:prstGeom prst="roundRect">
              <a:avLst>
                <a:gd fmla="val 219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9"/>
            <p:cNvSpPr/>
            <p:nvPr/>
          </p:nvSpPr>
          <p:spPr>
            <a:xfrm>
              <a:off x="0" y="0"/>
              <a:ext cx="39528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5" name="Google Shape;815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" y="142875"/>
              <a:ext cx="3724200" cy="279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6" name="Google Shape;816;p39"/>
            <p:cNvSpPr/>
            <p:nvPr/>
          </p:nvSpPr>
          <p:spPr>
            <a:xfrm>
              <a:off x="114300" y="2981325"/>
              <a:ext cx="3724200" cy="381000"/>
            </a:xfrm>
            <a:prstGeom prst="roundRect">
              <a:avLst>
                <a:gd fmla="val 10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9"/>
            <p:cNvSpPr txBox="1"/>
            <p:nvPr/>
          </p:nvSpPr>
          <p:spPr>
            <a:xfrm>
              <a:off x="190500" y="2981325"/>
              <a:ext cx="35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رسم مقارن: الكسرة الفخارية الحقيقية (يمين) مقابل المقطع الهندسي المولد بالذكاء الاصطناعي (يسار)</a:t>
              </a:r>
              <a:endParaRPr b="0" sz="9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818" name="Google Shape;818;p39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3" name="Google Shape;823;p40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824" name="Google Shape;824;p40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825" name="Google Shape;825;p40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4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40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8" name="Google Shape;828;p40"/>
            <p:cNvGrpSpPr/>
            <p:nvPr/>
          </p:nvGrpSpPr>
          <p:grpSpPr>
            <a:xfrm>
              <a:off x="381000" y="238125"/>
              <a:ext cx="8001000" cy="285900"/>
              <a:chOff x="0" y="0"/>
              <a:chExt cx="8001000" cy="285900"/>
            </a:xfrm>
          </p:grpSpPr>
          <p:sp>
            <p:nvSpPr>
              <p:cNvPr id="829" name="Google Shape;829;p40"/>
              <p:cNvSpPr/>
              <p:nvPr/>
            </p:nvSpPr>
            <p:spPr>
              <a:xfrm>
                <a:off x="0" y="0"/>
                <a:ext cx="80010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40"/>
              <p:cNvSpPr txBox="1"/>
              <p:nvPr/>
            </p:nvSpPr>
            <p:spPr>
              <a:xfrm>
                <a:off x="0" y="0"/>
                <a:ext cx="8001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 Medium"/>
                    <a:ea typeface="Tajawal Medium"/>
                    <a:cs typeface="Tajawal Medium"/>
                    <a:sym typeface="Tajawal Medium"/>
                  </a:rPr>
                  <a:t>الذكاء الاصطناعي وتطبيقاته في علم الآثار | هيئة الشارقة للآثار</a:t>
                </a:r>
                <a:endParaRPr b="0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endParaRPr>
              </a:p>
            </p:txBody>
          </p:sp>
        </p:grpSp>
      </p:grpSp>
      <p:grpSp>
        <p:nvGrpSpPr>
          <p:cNvPr id="831" name="Google Shape;831;p40"/>
          <p:cNvGrpSpPr/>
          <p:nvPr/>
        </p:nvGrpSpPr>
        <p:grpSpPr>
          <a:xfrm>
            <a:off x="381000" y="571500"/>
            <a:ext cx="8382000" cy="714300"/>
            <a:chOff x="0" y="0"/>
            <a:chExt cx="8382000" cy="714300"/>
          </a:xfrm>
        </p:grpSpPr>
        <p:sp>
          <p:nvSpPr>
            <p:cNvPr id="832" name="Google Shape;832;p40"/>
            <p:cNvSpPr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0"/>
            <p:cNvSpPr txBox="1"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100">
                  <a:solidFill>
                    <a:srgbClr val="5C4033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أدوات التوثيق الرقمي والمسح الأثري الميداني</a:t>
              </a:r>
              <a:endParaRPr b="0" i="0" sz="2100">
                <a:solidFill>
                  <a:srgbClr val="5C4033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تطبيقات وتقنيات حديثة تضع دقة النمذجة والمزامنة المباشرة في متناول الآثاري بالميدان</a:t>
              </a:r>
              <a:endParaRPr b="0" i="0" sz="1100">
                <a:solidFill>
                  <a:srgbClr val="5C4033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</p:txBody>
        </p:sp>
        <p:sp>
          <p:nvSpPr>
            <p:cNvPr id="834" name="Google Shape;834;p40"/>
            <p:cNvSpPr/>
            <p:nvPr/>
          </p:nvSpPr>
          <p:spPr>
            <a:xfrm>
              <a:off x="7620000" y="3619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40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836" name="Google Shape;836;p40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8" name="Google Shape;838;p40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839" name="Google Shape;839;p40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76200" y="114300"/>
                <a:ext cx="190500" cy="133500"/>
              </a:xfrm>
              <a:custGeom>
                <a:rect b="b" l="l" r="r" t="t"/>
                <a:pathLst>
                  <a:path extrusionOk="0" h="120000" w="120000">
                    <a:moveTo>
                      <a:pt x="12000" y="0"/>
                    </a:moveTo>
                    <a:lnTo>
                      <a:pt x="36000" y="0"/>
                    </a:lnTo>
                    <a:lnTo>
                      <a:pt x="48000" y="17143"/>
                    </a:lnTo>
                    <a:lnTo>
                      <a:pt x="84000" y="17143"/>
                    </a:lnTo>
                    <a:lnTo>
                      <a:pt x="96000" y="0"/>
                    </a:lnTo>
                    <a:lnTo>
                      <a:pt x="108000" y="0"/>
                    </a:lnTo>
                    <a:cubicBezTo>
                      <a:pt x="114600" y="0"/>
                      <a:pt x="120000" y="7714"/>
                      <a:pt x="120000" y="17143"/>
                    </a:cubicBezTo>
                    <a:lnTo>
                      <a:pt x="120000" y="102857"/>
                    </a:lnTo>
                    <a:cubicBezTo>
                      <a:pt x="120000" y="112286"/>
                      <a:pt x="114600" y="120000"/>
                      <a:pt x="108000" y="120000"/>
                    </a:cubicBezTo>
                    <a:lnTo>
                      <a:pt x="12000" y="120000"/>
                    </a:lnTo>
                    <a:cubicBezTo>
                      <a:pt x="5400" y="120000"/>
                      <a:pt x="0" y="112286"/>
                      <a:pt x="0" y="102857"/>
                    </a:cubicBezTo>
                    <a:lnTo>
                      <a:pt x="0" y="17143"/>
                    </a:lnTo>
                    <a:cubicBezTo>
                      <a:pt x="0" y="7714"/>
                      <a:pt x="5400" y="0"/>
                      <a:pt x="12000" y="0"/>
                    </a:cubicBezTo>
                    <a:close/>
                    <a:moveTo>
                      <a:pt x="60000" y="94286"/>
                    </a:moveTo>
                    <a:cubicBezTo>
                      <a:pt x="73200" y="94286"/>
                      <a:pt x="84000" y="78857"/>
                      <a:pt x="84000" y="60000"/>
                    </a:cubicBezTo>
                    <a:cubicBezTo>
                      <a:pt x="84000" y="41143"/>
                      <a:pt x="73200" y="25714"/>
                      <a:pt x="60000" y="25714"/>
                    </a:cubicBezTo>
                    <a:cubicBezTo>
                      <a:pt x="46800" y="25714"/>
                      <a:pt x="36000" y="41143"/>
                      <a:pt x="36000" y="60000"/>
                    </a:cubicBezTo>
                    <a:cubicBezTo>
                      <a:pt x="36000" y="78857"/>
                      <a:pt x="46800" y="94286"/>
                      <a:pt x="60000" y="9428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1" name="Google Shape;841;p40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تطبيق Polycam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يُستخدم للمسح السريع في الميدان باستعمال تقنية الليدار (LiDAR) وكاميرا الهاتف، لإنتاج نماذج أثرية ثلاثية الأبعاد بمقاييس هندسية حقيقية.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42" name="Google Shape;842;p40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843" name="Google Shape;843;p40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5" name="Google Shape;845;p40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846" name="Google Shape;846;p40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40"/>
              <p:cNvSpPr/>
              <p:nvPr/>
            </p:nvSpPr>
            <p:spPr>
              <a:xfrm>
                <a:off x="95250" y="95250"/>
                <a:ext cx="152400" cy="152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40"/>
              <p:cNvSpPr/>
              <p:nvPr/>
            </p:nvSpPr>
            <p:spPr>
              <a:xfrm>
                <a:off x="95250" y="123825"/>
                <a:ext cx="152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cubicBezTo>
                      <a:pt x="0" y="60000"/>
                      <a:pt x="22500" y="120000"/>
                      <a:pt x="60000" y="120000"/>
                    </a:cubicBezTo>
                    <a:cubicBezTo>
                      <a:pt x="97500" y="120000"/>
                      <a:pt x="120000" y="60000"/>
                      <a:pt x="120000" y="60000"/>
                    </a:cubicBezTo>
                    <a:cubicBezTo>
                      <a:pt x="120000" y="60000"/>
                      <a:pt x="97500" y="0"/>
                      <a:pt x="60000" y="0"/>
                    </a:cubicBezTo>
                    <a:cubicBezTo>
                      <a:pt x="22500" y="0"/>
                      <a:pt x="0" y="60000"/>
                      <a:pt x="0" y="6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40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تطبيق Luma AI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يعمل على تحويل مقاطع الفيديو الملتقطة بزاوية 360 درجة إلى مشاهد تفاعلية عالية الدقة والواقعية باستخدام تقنية Gaussian Splatting (3DGS).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50" name="Google Shape;850;p40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851" name="Google Shape;851;p40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0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3" name="Google Shape;853;p40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854" name="Google Shape;854;p40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40"/>
              <p:cNvSpPr/>
              <p:nvPr/>
            </p:nvSpPr>
            <p:spPr>
              <a:xfrm>
                <a:off x="85725" y="104775"/>
                <a:ext cx="1716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88000"/>
                    </a:lnTo>
                    <a:lnTo>
                      <a:pt x="0" y="88000"/>
                    </a:lnTo>
                    <a:close/>
                    <a:moveTo>
                      <a:pt x="33333" y="120000"/>
                    </a:moveTo>
                    <a:lnTo>
                      <a:pt x="86667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40"/>
              <p:cNvSpPr/>
              <p:nvPr/>
            </p:nvSpPr>
            <p:spPr>
              <a:xfrm>
                <a:off x="147638" y="133350"/>
                <a:ext cx="47700" cy="47700"/>
              </a:xfrm>
              <a:prstGeom prst="ellipse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7" name="Google Shape;857;p40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برمجية Meshroom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برمجية مفتوحة المصدر مخصصة للتحليل المكتبي، تُستخدم لإجراء المسح التصويري (Photogrammetry) عالي الدقة واستخراج المجسمات التفصيلية.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58" name="Google Shape;858;p40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859" name="Google Shape;859;p40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40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1" name="Google Shape;861;p40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862" name="Google Shape;862;p40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40"/>
              <p:cNvSpPr/>
              <p:nvPr/>
            </p:nvSpPr>
            <p:spPr>
              <a:xfrm>
                <a:off x="95250" y="85725"/>
                <a:ext cx="1524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7000" y="0"/>
                      <a:pt x="0" y="24000"/>
                      <a:pt x="0" y="53333"/>
                    </a:cubicBezTo>
                    <a:cubicBezTo>
                      <a:pt x="0" y="93333"/>
                      <a:pt x="60000" y="120000"/>
                      <a:pt x="60000" y="120000"/>
                    </a:cubicBezTo>
                    <a:cubicBezTo>
                      <a:pt x="60000" y="120000"/>
                      <a:pt x="120000" y="93333"/>
                      <a:pt x="120000" y="53333"/>
                    </a:cubicBezTo>
                    <a:cubicBezTo>
                      <a:pt x="120000" y="24000"/>
                      <a:pt x="93000" y="0"/>
                      <a:pt x="60000" y="0"/>
                    </a:cubicBezTo>
                    <a:close/>
                    <a:moveTo>
                      <a:pt x="60000" y="70000"/>
                    </a:moveTo>
                    <a:cubicBezTo>
                      <a:pt x="49500" y="70000"/>
                      <a:pt x="41250" y="62667"/>
                      <a:pt x="41250" y="53333"/>
                    </a:cubicBezTo>
                    <a:cubicBezTo>
                      <a:pt x="41250" y="44000"/>
                      <a:pt x="49500" y="36667"/>
                      <a:pt x="60000" y="36667"/>
                    </a:cubicBezTo>
                    <a:cubicBezTo>
                      <a:pt x="70500" y="36667"/>
                      <a:pt x="78750" y="44000"/>
                      <a:pt x="78750" y="53333"/>
                    </a:cubicBezTo>
                    <a:cubicBezTo>
                      <a:pt x="78750" y="62667"/>
                      <a:pt x="70500" y="70000"/>
                      <a:pt x="60000" y="7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64" name="Google Shape;864;p40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تطبيق NRASS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يتيح مزامنة البيانات الجغرافية والمسح الميداني بشكل مباشر ومفهوم مع منظومة نظم المعلومات الجغرافية (GIS) المركزية التابعة للهيئة.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865" name="Google Shape;865;p40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oogle Shape;870;p41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871" name="Google Shape;871;p41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41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41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4" name="Google Shape;874;p41"/>
          <p:cNvGrpSpPr/>
          <p:nvPr/>
        </p:nvGrpSpPr>
        <p:grpSpPr>
          <a:xfrm>
            <a:off x="381000" y="238125"/>
            <a:ext cx="8001000" cy="285900"/>
            <a:chOff x="0" y="0"/>
            <a:chExt cx="8001000" cy="285900"/>
          </a:xfrm>
        </p:grpSpPr>
        <p:sp>
          <p:nvSpPr>
            <p:cNvPr id="875" name="Google Shape;875;p41"/>
            <p:cNvSpPr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41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877" name="Google Shape;877;p41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41"/>
          <p:cNvSpPr txBox="1"/>
          <p:nvPr/>
        </p:nvSpPr>
        <p:spPr>
          <a:xfrm>
            <a:off x="381000" y="5524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خط سير التوثيق الذكي: من الحفرية إلى السحابة</a:t>
            </a:r>
            <a:endParaRPr b="1" sz="22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79" name="Google Shape;879;p41"/>
          <p:cNvSpPr/>
          <p:nvPr/>
        </p:nvSpPr>
        <p:spPr>
          <a:xfrm>
            <a:off x="8001000" y="9525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41"/>
          <p:cNvSpPr txBox="1"/>
          <p:nvPr/>
        </p:nvSpPr>
        <p:spPr>
          <a:xfrm>
            <a:off x="381000" y="10668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مسار تدفقي متكامل يوضح مراحل التوثيق الرقمي الميداني والمعالجة الآلية:</a:t>
            </a:r>
            <a:endParaRPr b="0" sz="12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881" name="Google Shape;881;p41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 flipH="1">
            <a:off x="6667502" y="2609850"/>
            <a:ext cx="21909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41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 flipH="1">
            <a:off x="4572002" y="2609850"/>
            <a:ext cx="21909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41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 flipH="1">
            <a:off x="2476502" y="2609850"/>
            <a:ext cx="21909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4" name="Google Shape;884;p41"/>
          <p:cNvGrpSpPr/>
          <p:nvPr/>
        </p:nvGrpSpPr>
        <p:grpSpPr>
          <a:xfrm>
            <a:off x="6762750" y="1524000"/>
            <a:ext cx="1905000" cy="2667000"/>
            <a:chOff x="0" y="0"/>
            <a:chExt cx="1905000" cy="2667000"/>
          </a:xfrm>
        </p:grpSpPr>
        <p:sp>
          <p:nvSpPr>
            <p:cNvPr id="885" name="Google Shape;885;p41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1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1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1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١</a:t>
              </a:r>
              <a:endParaRPr b="1" sz="11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889" name="Google Shape;889;p41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المسح الميداني</a:t>
              </a:r>
              <a:endParaRPr b="1" sz="1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بدء العملية بالمسح الميداني للموقع الأثري باستخدام طائرات الدرون والهواتف الذكية.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90" name="Google Shape;890;p41"/>
          <p:cNvGrpSpPr/>
          <p:nvPr/>
        </p:nvGrpSpPr>
        <p:grpSpPr>
          <a:xfrm>
            <a:off x="4667250" y="1524000"/>
            <a:ext cx="1905000" cy="2667000"/>
            <a:chOff x="0" y="0"/>
            <a:chExt cx="1905000" cy="2667000"/>
          </a:xfrm>
        </p:grpSpPr>
        <p:sp>
          <p:nvSpPr>
            <p:cNvPr id="891" name="Google Shape;891;p41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1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1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1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٢</a:t>
              </a:r>
              <a:endParaRPr b="1" sz="11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895" name="Google Shape;895;p41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معالجة AI اللحظية</a:t>
              </a:r>
              <a:endParaRPr b="1" sz="1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انتقال البيانات فوراً للذكاء الاصطناعي لتوليد السحابة النقطية الدقيقة للموقع.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96" name="Google Shape;896;p41"/>
          <p:cNvGrpSpPr/>
          <p:nvPr/>
        </p:nvGrpSpPr>
        <p:grpSpPr>
          <a:xfrm>
            <a:off x="2571750" y="1524000"/>
            <a:ext cx="1905000" cy="2667000"/>
            <a:chOff x="0" y="0"/>
            <a:chExt cx="1905000" cy="2667000"/>
          </a:xfrm>
        </p:grpSpPr>
        <p:sp>
          <p:nvSpPr>
            <p:cNvPr id="897" name="Google Shape;897;p41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1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1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41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٣</a:t>
              </a:r>
              <a:endParaRPr b="1" sz="11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01" name="Google Shape;901;p41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استخراج الميتاداتا</a:t>
              </a:r>
              <a:endParaRPr b="1" sz="1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استخراج الميتاداتا والمقاطع الإنشائية الدقيقة الخاصة باللقى الأثرية.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902" name="Google Shape;902;p41"/>
          <p:cNvGrpSpPr/>
          <p:nvPr/>
        </p:nvGrpSpPr>
        <p:grpSpPr>
          <a:xfrm>
            <a:off x="476250" y="1524000"/>
            <a:ext cx="1905000" cy="2667000"/>
            <a:chOff x="0" y="0"/>
            <a:chExt cx="1905000" cy="2667000"/>
          </a:xfrm>
        </p:grpSpPr>
        <p:sp>
          <p:nvSpPr>
            <p:cNvPr id="903" name="Google Shape;903;p41"/>
            <p:cNvSpPr/>
            <p:nvPr/>
          </p:nvSpPr>
          <p:spPr>
            <a:xfrm>
              <a:off x="0" y="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41"/>
            <p:cNvSpPr/>
            <p:nvPr/>
          </p:nvSpPr>
          <p:spPr>
            <a:xfrm>
              <a:off x="0" y="0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1"/>
            <p:cNvSpPr/>
            <p:nvPr/>
          </p:nvSpPr>
          <p:spPr>
            <a:xfrm>
              <a:off x="800100" y="152400"/>
              <a:ext cx="304800" cy="3048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41"/>
            <p:cNvSpPr txBox="1"/>
            <p:nvPr/>
          </p:nvSpPr>
          <p:spPr>
            <a:xfrm>
              <a:off x="800100" y="19050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٤</a:t>
              </a:r>
              <a:endParaRPr b="1" sz="11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07" name="Google Shape;907;p41"/>
            <p:cNvSpPr txBox="1"/>
            <p:nvPr/>
          </p:nvSpPr>
          <p:spPr>
            <a:xfrm>
              <a:off x="142875" y="571500"/>
              <a:ext cx="16191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المزامنة السحابية</a:t>
              </a:r>
              <a:endParaRPr b="1" sz="12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المزامنة الفورية مع قواعد البيانات المركزية لهيئة الشارقة للآثار لضمان تكامل السجل.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908" name="Google Shape;908;p41"/>
          <p:cNvGrpSpPr/>
          <p:nvPr/>
        </p:nvGrpSpPr>
        <p:grpSpPr>
          <a:xfrm>
            <a:off x="381000" y="4333875"/>
            <a:ext cx="8382150" cy="400200"/>
            <a:chOff x="0" y="0"/>
            <a:chExt cx="8382150" cy="400200"/>
          </a:xfrm>
        </p:grpSpPr>
        <p:sp>
          <p:nvSpPr>
            <p:cNvPr id="909" name="Google Shape;909;p41"/>
            <p:cNvSpPr/>
            <p:nvPr/>
          </p:nvSpPr>
          <p:spPr>
            <a:xfrm>
              <a:off x="0" y="0"/>
              <a:ext cx="8382000" cy="4002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41"/>
            <p:cNvSpPr/>
            <p:nvPr/>
          </p:nvSpPr>
          <p:spPr>
            <a:xfrm>
              <a:off x="8324850" y="0"/>
              <a:ext cx="57300" cy="4002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1"/>
            <p:cNvSpPr txBox="1"/>
            <p:nvPr/>
          </p:nvSpPr>
          <p:spPr>
            <a:xfrm>
              <a:off x="190500" y="0"/>
              <a:ext cx="800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الهدف الرئيسي: </a:t>
              </a: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ربط الميدان الأثري بالسحابة المركزية مباشرة لضمان حماية وتوثيق الاكتشافات الأثرية دون تأخير.</a:t>
              </a:r>
              <a:endParaRPr b="1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6" name="Google Shape;916;p42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917" name="Google Shape;917;p42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918" name="Google Shape;918;p4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42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42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21" name="Google Shape;921;p42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922" name="Google Shape;922;p42"/>
          <p:cNvGrpSpPr/>
          <p:nvPr/>
        </p:nvGrpSpPr>
        <p:grpSpPr>
          <a:xfrm>
            <a:off x="381000" y="552450"/>
            <a:ext cx="8382000" cy="495300"/>
            <a:chOff x="0" y="0"/>
            <a:chExt cx="8382000" cy="495300"/>
          </a:xfrm>
        </p:grpSpPr>
        <p:sp>
          <p:nvSpPr>
            <p:cNvPr id="923" name="Google Shape;923;p42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خطوات منهجية لبناء توأم رقمي دقيق لمجسم أثري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24" name="Google Shape;924;p42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5" name="Google Shape;925;p42"/>
          <p:cNvSpPr txBox="1"/>
          <p:nvPr/>
        </p:nvSpPr>
        <p:spPr>
          <a:xfrm>
            <a:off x="381000" y="11620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rPr>
              <a:t>تتطلب عملية بناء توأم رقمي دقيق لمجسم أثري اتباع خطوات منهجية متكاملة:</a:t>
            </a:r>
            <a:endParaRPr b="0" sz="1100">
              <a:solidFill>
                <a:srgbClr val="5C4033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926" name="Google Shape;926;p42"/>
          <p:cNvGrpSpPr/>
          <p:nvPr/>
        </p:nvGrpSpPr>
        <p:grpSpPr>
          <a:xfrm>
            <a:off x="6286500" y="1571625"/>
            <a:ext cx="2476500" cy="3008324"/>
            <a:chOff x="0" y="0"/>
            <a:chExt cx="2476500" cy="3008324"/>
          </a:xfrm>
        </p:grpSpPr>
        <p:sp>
          <p:nvSpPr>
            <p:cNvPr id="927" name="Google Shape;927;p42"/>
            <p:cNvSpPr/>
            <p:nvPr/>
          </p:nvSpPr>
          <p:spPr>
            <a:xfrm>
              <a:off x="0" y="0"/>
              <a:ext cx="2476500" cy="30003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42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الخطوة 01</a:t>
              </a:r>
              <a:endParaRPr b="1" sz="10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قاعدة الدوران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تصوير القطعة على ثلاثة ارتفاعات دائرية مختلفة (زاوية منخفضة 30 درجة، زاوية وسطى 45 درجة، وزاوية رأسية 70 درجة).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0" y="2095500"/>
              <a:ext cx="2476500" cy="9048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42"/>
            <p:cNvSpPr txBox="1"/>
            <p:nvPr/>
          </p:nvSpPr>
          <p:spPr>
            <a:xfrm>
              <a:off x="0" y="2198624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3d_rotation</a:t>
              </a:r>
              <a:endParaRPr b="0" sz="38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932" name="Google Shape;932;p42"/>
          <p:cNvGrpSpPr/>
          <p:nvPr/>
        </p:nvGrpSpPr>
        <p:grpSpPr>
          <a:xfrm>
            <a:off x="3333750" y="1571625"/>
            <a:ext cx="2476500" cy="3008324"/>
            <a:chOff x="0" y="0"/>
            <a:chExt cx="2476500" cy="3008324"/>
          </a:xfrm>
        </p:grpSpPr>
        <p:sp>
          <p:nvSpPr>
            <p:cNvPr id="933" name="Google Shape;933;p42"/>
            <p:cNvSpPr/>
            <p:nvPr/>
          </p:nvSpPr>
          <p:spPr>
            <a:xfrm>
              <a:off x="0" y="0"/>
              <a:ext cx="2476500" cy="30003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42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الخطوة 02</a:t>
              </a:r>
              <a:endParaRPr b="1" sz="10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قاعدة التداخل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من الضروري الحفاظ على نسبة تداخل بين الصور المتعاقبة لا تقل عن 70% لضمان نجاح المعالجة وتحقيق أقصى دقة.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0" y="2095500"/>
              <a:ext cx="2476500" cy="9048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42"/>
            <p:cNvSpPr txBox="1"/>
            <p:nvPr/>
          </p:nvSpPr>
          <p:spPr>
            <a:xfrm>
              <a:off x="0" y="2198624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38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938" name="Google Shape;938;p42"/>
          <p:cNvGrpSpPr/>
          <p:nvPr/>
        </p:nvGrpSpPr>
        <p:grpSpPr>
          <a:xfrm>
            <a:off x="381000" y="1571625"/>
            <a:ext cx="2476500" cy="3008324"/>
            <a:chOff x="0" y="0"/>
            <a:chExt cx="2476500" cy="3008324"/>
          </a:xfrm>
        </p:grpSpPr>
        <p:sp>
          <p:nvSpPr>
            <p:cNvPr id="939" name="Google Shape;939;p42"/>
            <p:cNvSpPr/>
            <p:nvPr/>
          </p:nvSpPr>
          <p:spPr>
            <a:xfrm>
              <a:off x="0" y="0"/>
              <a:ext cx="2476500" cy="30003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42"/>
            <p:cNvSpPr txBox="1"/>
            <p:nvPr/>
          </p:nvSpPr>
          <p:spPr>
            <a:xfrm>
              <a:off x="190500" y="190500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Cairo"/>
                  <a:ea typeface="Cairo"/>
                  <a:cs typeface="Cairo"/>
                  <a:sym typeface="Cairo"/>
                </a:rPr>
                <a:t>الخطوة 03</a:t>
              </a:r>
              <a:endParaRPr b="1" sz="1050">
                <a:solidFill>
                  <a:srgbClr val="D4AF37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فحص المخرجات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تدوير النموذج، تفعيل شبكة المضلعات (Wireframe) للتحقق من الكثافة، واستخدام أداة القياس لمطابقة الأبعاد الافتراضية مع الحقيقية.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0" y="2095500"/>
              <a:ext cx="2476500" cy="904800"/>
            </a:xfrm>
            <a:prstGeom prst="rect">
              <a:avLst/>
            </a:prstGeom>
            <a:solidFill>
              <a:srgbClr val="8B5A2B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42"/>
            <p:cNvSpPr txBox="1"/>
            <p:nvPr/>
          </p:nvSpPr>
          <p:spPr>
            <a:xfrm>
              <a:off x="0" y="2198624"/>
              <a:ext cx="2476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b="0" sz="38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944" name="Google Shape;944;p42"/>
          <p:cNvSpPr/>
          <p:nvPr/>
        </p:nvSpPr>
        <p:spPr>
          <a:xfrm>
            <a:off x="381000" y="48387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9" name="Google Shape;949;p43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950" name="Google Shape;950;p43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3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3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3" name="Google Shape;953;p43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الذكاء الاصطناعي وتطبيقاته في علم الآثار | هيئة الشارقة للآثار</a:t>
            </a:r>
            <a:endParaRPr b="0" sz="105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954" name="Google Shape;954;p43"/>
          <p:cNvGrpSpPr/>
          <p:nvPr/>
        </p:nvGrpSpPr>
        <p:grpSpPr>
          <a:xfrm>
            <a:off x="381000" y="571500"/>
            <a:ext cx="8382000" cy="714300"/>
            <a:chOff x="0" y="0"/>
            <a:chExt cx="8382000" cy="714300"/>
          </a:xfrm>
        </p:grpSpPr>
        <p:sp>
          <p:nvSpPr>
            <p:cNvPr id="955" name="Google Shape;955;p43"/>
            <p:cNvSpPr txBox="1"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العوائد الاستراتيجية والعلمية للتحول الرقمي الميداني</a:t>
              </a:r>
              <a:endParaRPr b="1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مؤشرات الأداء الإحصائية التي تبرز نجاح المنظومة الرقمية في تحسين كفاءة العمل الأثري</a:t>
              </a:r>
              <a:endParaRPr b="0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956" name="Google Shape;956;p43"/>
            <p:cNvSpPr/>
            <p:nvPr/>
          </p:nvSpPr>
          <p:spPr>
            <a:xfrm>
              <a:off x="7620000" y="3619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43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958" name="Google Shape;958;p43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3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3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fmla="val 8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3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60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FPS / إطار</a:t>
              </a:r>
              <a:endParaRPr b="1" sz="8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962" name="Google Shape;962;p43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تصفح تفاعلي فوري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توفير تصفح تفاعلي فوري عالي السلاسة للمواقع الأثرية بسرعة تصل إلى 60 إطاراً في الثانية.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963" name="Google Shape;963;p43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964" name="Google Shape;964;p43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3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3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fmla="val 8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3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1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ملم دقة</a:t>
              </a:r>
              <a:endParaRPr b="1" sz="8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968" name="Google Shape;968;p43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دقة مسح هندسية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تضمن تقنيات الليدار المتقدمة تحقيق دقة مسح هندسية فائقة تصل إلى 1 ملم للقطعة الأثرية.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969" name="Google Shape;969;p43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970" name="Google Shape;970;p43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3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43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fmla="val 8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43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75%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اختصار الوقت</a:t>
              </a:r>
              <a:endParaRPr b="1" sz="8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974" name="Google Shape;974;p43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رسم وتحليل الفخار</a:t>
              </a:r>
              <a:endParaRPr b="1" sz="135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تساهم أدوات الذكاء الاصطناعي في تحقيق اختصار بنسبة 75% من الوقت المستغرق في رسم وتحليل الفخار.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975" name="Google Shape;975;p43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976" name="Google Shape;976;p43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43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3"/>
            <p:cNvSpPr/>
            <p:nvPr/>
          </p:nvSpPr>
          <p:spPr>
            <a:xfrm>
              <a:off x="2857500" y="238125"/>
              <a:ext cx="952500" cy="952500"/>
            </a:xfrm>
            <a:prstGeom prst="roundRect">
              <a:avLst>
                <a:gd fmla="val 8000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43"/>
            <p:cNvSpPr txBox="1"/>
            <p:nvPr/>
          </p:nvSpPr>
          <p:spPr>
            <a:xfrm>
              <a:off x="2857500" y="238125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100%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حفظ مستدام</a:t>
              </a:r>
              <a:endParaRPr b="1" sz="8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980" name="Google Shape;980;p43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الحفظ الرقمي المستدام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تتوج الجهود بتحقيق نسبة 100% في الحفظ الرقمي الدائم والمستدام للسجل الأثري بأكمله.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981" name="Google Shape;981;p43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5475" y="190500"/>
            <a:ext cx="2675400" cy="95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7" name="Google Shape;987;p44"/>
          <p:cNvGrpSpPr/>
          <p:nvPr/>
        </p:nvGrpSpPr>
        <p:grpSpPr>
          <a:xfrm>
            <a:off x="8401050" y="352425"/>
            <a:ext cx="342900" cy="342900"/>
            <a:chOff x="19050" y="19050"/>
            <a:chExt cx="342900" cy="342900"/>
          </a:xfrm>
        </p:grpSpPr>
        <p:sp>
          <p:nvSpPr>
            <p:cNvPr id="988" name="Google Shape;988;p44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4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44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91" name="Google Shape;99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619250"/>
            <a:ext cx="3810000" cy="214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2" name="Google Shape;992;p44"/>
          <p:cNvGrpSpPr/>
          <p:nvPr/>
        </p:nvGrpSpPr>
        <p:grpSpPr>
          <a:xfrm>
            <a:off x="4476750" y="1619250"/>
            <a:ext cx="4191000" cy="2038350"/>
            <a:chOff x="4476750" y="1619250"/>
            <a:chExt cx="4191000" cy="2038350"/>
          </a:xfrm>
        </p:grpSpPr>
        <p:sp>
          <p:nvSpPr>
            <p:cNvPr id="993" name="Google Shape;993;p44"/>
            <p:cNvSpPr txBox="1"/>
            <p:nvPr/>
          </p:nvSpPr>
          <p:spPr>
            <a:xfrm>
              <a:off x="4476750" y="1619250"/>
              <a:ext cx="4191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استكشاف ما تحت الرمال: الاستشعار عن بعد والذكاء الاصطناعي الجغرافي (GeoAI)</a:t>
              </a:r>
              <a:endParaRPr b="1" sz="24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C4033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الكشف التنبؤي عن الآثار الصحراوية المدفونة </a:t>
              </a:r>
              <a:endParaRPr b="0" sz="1350">
                <a:solidFill>
                  <a:srgbClr val="5C4033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</p:txBody>
        </p:sp>
        <p:sp>
          <p:nvSpPr>
            <p:cNvPr id="994" name="Google Shape;994;p44"/>
            <p:cNvSpPr/>
            <p:nvPr/>
          </p:nvSpPr>
          <p:spPr>
            <a:xfrm>
              <a:off x="7905750" y="36195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44"/>
          <p:cNvSpPr txBox="1"/>
          <p:nvPr/>
        </p:nvSpPr>
        <p:spPr>
          <a:xfrm>
            <a:off x="476250" y="42862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هيئة الشارقة للآثار — حكومة الشارقة</a:t>
            </a:r>
            <a:endParaRPr b="1" sz="14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Google Shape;1000;p45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001" name="Google Shape;1001;p45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002" name="Google Shape;1002;p45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45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45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05" name="Google Shape;1005;p45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006" name="Google Shape;1006;p45"/>
          <p:cNvGrpSpPr/>
          <p:nvPr/>
        </p:nvGrpSpPr>
        <p:grpSpPr>
          <a:xfrm>
            <a:off x="381000" y="666750"/>
            <a:ext cx="8382000" cy="514350"/>
            <a:chOff x="0" y="0"/>
            <a:chExt cx="8382000" cy="514350"/>
          </a:xfrm>
        </p:grpSpPr>
        <p:sp>
          <p:nvSpPr>
            <p:cNvPr id="1007" name="Google Shape;1007;p45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تحديات البيئة الجافة واتساع المساحات الاستكشافية في الشارقة</a:t>
              </a:r>
              <a:endParaRPr b="1" sz="222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08" name="Google Shape;1008;p45"/>
            <p:cNvSpPr/>
            <p:nvPr/>
          </p:nvSpPr>
          <p:spPr>
            <a:xfrm>
              <a:off x="7620000" y="4762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9" name="Google Shape;1009;p45"/>
          <p:cNvSpPr txBox="1"/>
          <p:nvPr/>
        </p:nvSpPr>
        <p:spPr>
          <a:xfrm>
            <a:off x="381000" y="12382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صعوبة المسح التقليدي في سهول الشارقة تتطلب الانتقال إلى التقنيات الفضائية والحلول الذكية.</a:t>
            </a:r>
            <a:endParaRPr b="0" sz="130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1010" name="Google Shape;1010;p45"/>
          <p:cNvGrpSpPr/>
          <p:nvPr/>
        </p:nvGrpSpPr>
        <p:grpSpPr>
          <a:xfrm>
            <a:off x="381000" y="1857375"/>
            <a:ext cx="8382000" cy="2667000"/>
            <a:chOff x="0" y="0"/>
            <a:chExt cx="8382000" cy="2667000"/>
          </a:xfrm>
        </p:grpSpPr>
        <p:grpSp>
          <p:nvGrpSpPr>
            <p:cNvPr id="1011" name="Google Shape;1011;p45"/>
            <p:cNvGrpSpPr/>
            <p:nvPr/>
          </p:nvGrpSpPr>
          <p:grpSpPr>
            <a:xfrm>
              <a:off x="4381500" y="0"/>
              <a:ext cx="4000500" cy="2667000"/>
              <a:chOff x="0" y="0"/>
              <a:chExt cx="4000500" cy="2667000"/>
            </a:xfrm>
          </p:grpSpPr>
          <p:sp>
            <p:nvSpPr>
              <p:cNvPr id="1012" name="Google Shape;1012;p45"/>
              <p:cNvSpPr/>
              <p:nvPr/>
            </p:nvSpPr>
            <p:spPr>
              <a:xfrm>
                <a:off x="0" y="0"/>
                <a:ext cx="4000500" cy="2667000"/>
              </a:xfrm>
              <a:prstGeom prst="roundRect">
                <a:avLst>
                  <a:gd fmla="val 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45"/>
              <p:cNvSpPr/>
              <p:nvPr/>
            </p:nvSpPr>
            <p:spPr>
              <a:xfrm>
                <a:off x="0" y="0"/>
                <a:ext cx="4000500" cy="428700"/>
              </a:xfrm>
              <a:prstGeom prst="roundRect">
                <a:avLst>
                  <a:gd fmla="val 26666" name="adj"/>
                </a:avLst>
              </a:pr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45"/>
              <p:cNvSpPr/>
              <p:nvPr/>
            </p:nvSpPr>
            <p:spPr>
              <a:xfrm>
                <a:off x="0" y="238125"/>
                <a:ext cx="4000500" cy="1905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45"/>
              <p:cNvSpPr txBox="1"/>
              <p:nvPr/>
            </p:nvSpPr>
            <p:spPr>
              <a:xfrm>
                <a:off x="142875" y="76200"/>
                <a:ext cx="3714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التحديات الميدانية والمسح التقليدي</a:t>
                </a:r>
                <a:endParaRPr b="1" sz="14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016" name="Google Shape;1016;p45"/>
              <p:cNvSpPr txBox="1"/>
              <p:nvPr/>
            </p:nvSpPr>
            <p:spPr>
              <a:xfrm>
                <a:off x="190500" y="571500"/>
                <a:ext cx="36195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142875" wrap="square" tIns="0">
                <a:noAutofit/>
              </a:bodyPr>
              <a:lstStyle/>
              <a:p>
                <a:pPr indent="-317500" lvl="0" marL="457200" rtl="1" algn="r">
                  <a:spcBef>
                    <a:spcPts val="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تخفي الكثبان الرملية الزاحفة في سهول الشارقة (كالمدام والذيد ومليحة) الشواهد الأثرية السطحية بالكامل.</a:t>
                </a:r>
                <a:endParaRPr/>
              </a:p>
              <a:p>
                <a:pPr indent="-317500" lvl="0" marL="457200" rtl="1" algn="r">
                  <a:spcBef>
                    <a:spcPts val="8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صعوبة بالغة في اكتشاف المعالم الأثرية بالعين المجردة نظراً للطبيعة الصحراوية.</a:t>
                </a:r>
                <a:endParaRPr/>
              </a:p>
              <a:p>
                <a:pPr indent="-317500" lvl="0" marL="457200" rtl="1" algn="r">
                  <a:spcBef>
                    <a:spcPts val="800"/>
                  </a:spcBef>
                  <a:spcAft>
                    <a:spcPts val="80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المسح الميداني التقليدي (سيراً أو بالمركبات) مكلف جداً بشرياً ومالياً ويستنزف وقتاً طويلاً.</a:t>
                </a:r>
                <a:endParaRPr/>
              </a:p>
            </p:txBody>
          </p:sp>
        </p:grpSp>
        <p:sp>
          <p:nvSpPr>
            <p:cNvPr id="1017" name="Google Shape;1017;p45"/>
            <p:cNvSpPr/>
            <p:nvPr/>
          </p:nvSpPr>
          <p:spPr>
            <a:xfrm>
              <a:off x="3810000" y="1143000"/>
              <a:ext cx="571500" cy="285900"/>
            </a:xfrm>
            <a:custGeom>
              <a:rect b="b" l="l" r="r" t="t"/>
              <a:pathLst>
                <a:path extrusionOk="0" h="120000" w="120000">
                  <a:moveTo>
                    <a:pt x="120000" y="40000"/>
                  </a:moveTo>
                  <a:lnTo>
                    <a:pt x="40000" y="40000"/>
                  </a:lnTo>
                  <a:lnTo>
                    <a:pt x="40000" y="0"/>
                  </a:lnTo>
                  <a:lnTo>
                    <a:pt x="0" y="60000"/>
                  </a:lnTo>
                  <a:lnTo>
                    <a:pt x="40000" y="120000"/>
                  </a:lnTo>
                  <a:lnTo>
                    <a:pt x="40000" y="80000"/>
                  </a:lnTo>
                  <a:lnTo>
                    <a:pt x="120000" y="80000"/>
                  </a:lnTo>
                  <a:close/>
                </a:path>
              </a:pathLst>
            </a:cu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8" name="Google Shape;1018;p45"/>
            <p:cNvGrpSpPr/>
            <p:nvPr/>
          </p:nvGrpSpPr>
          <p:grpSpPr>
            <a:xfrm>
              <a:off x="0" y="0"/>
              <a:ext cx="3810000" cy="2667000"/>
              <a:chOff x="0" y="0"/>
              <a:chExt cx="3810000" cy="2667000"/>
            </a:xfrm>
          </p:grpSpPr>
          <p:sp>
            <p:nvSpPr>
              <p:cNvPr id="1019" name="Google Shape;1019;p45"/>
              <p:cNvSpPr/>
              <p:nvPr/>
            </p:nvSpPr>
            <p:spPr>
              <a:xfrm>
                <a:off x="0" y="0"/>
                <a:ext cx="3810000" cy="2667000"/>
              </a:xfrm>
              <a:prstGeom prst="roundRect">
                <a:avLst>
                  <a:gd fmla="val 428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45"/>
              <p:cNvSpPr/>
              <p:nvPr/>
            </p:nvSpPr>
            <p:spPr>
              <a:xfrm>
                <a:off x="0" y="0"/>
                <a:ext cx="3810000" cy="428700"/>
              </a:xfrm>
              <a:prstGeom prst="roundRect">
                <a:avLst>
                  <a:gd fmla="val 26666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45"/>
              <p:cNvSpPr/>
              <p:nvPr/>
            </p:nvSpPr>
            <p:spPr>
              <a:xfrm>
                <a:off x="0" y="238125"/>
                <a:ext cx="3810000" cy="1905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45"/>
              <p:cNvSpPr txBox="1"/>
              <p:nvPr/>
            </p:nvSpPr>
            <p:spPr>
              <a:xfrm>
                <a:off x="142875" y="76200"/>
                <a:ext cx="3524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95">
                    <a:solidFill>
                      <a:srgbClr val="FDFCF0"/>
                    </a:solidFill>
                    <a:latin typeface="Cairo"/>
                    <a:ea typeface="Cairo"/>
                    <a:cs typeface="Cairo"/>
                    <a:sym typeface="Cairo"/>
                  </a:rPr>
                  <a:t>الحل المستهدف (الاستكشاف الفضائي الذكي)</a:t>
                </a:r>
                <a:endParaRPr b="1" sz="1295">
                  <a:solidFill>
                    <a:srgbClr val="FDFCF0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023" name="Google Shape;1023;p45"/>
              <p:cNvSpPr txBox="1"/>
              <p:nvPr/>
            </p:nvSpPr>
            <p:spPr>
              <a:xfrm>
                <a:off x="190500" y="571500"/>
                <a:ext cx="34290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142875" wrap="square" tIns="0">
                <a:noAutofit/>
              </a:bodyPr>
              <a:lstStyle/>
              <a:p>
                <a:pPr indent="-317500" lvl="0" marL="457200" rtl="1" algn="r">
                  <a:spcBef>
                    <a:spcPts val="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حاجة ملحة إلى </a:t>
                </a:r>
                <a:r>
                  <a:rPr b="1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"عيون فضائية نافذة"</a:t>
                </a: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قادرة على اختراق التحديات الجغرافية.</a:t>
                </a:r>
                <a:endParaRPr/>
              </a:p>
              <a:p>
                <a:pPr indent="-317500" lvl="0" marL="457200" rtl="1" algn="r">
                  <a:spcBef>
                    <a:spcPts val="8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مسح آلاف الكيلومترات المربعة بكفاءة فائقة ودقة عالية وبأقل جهد زمني.</a:t>
                </a:r>
                <a:endParaRPr/>
              </a:p>
              <a:p>
                <a:pPr indent="-317500" lvl="0" marL="457200" rtl="1" algn="r">
                  <a:spcBef>
                    <a:spcPts val="800"/>
                  </a:spcBef>
                  <a:spcAft>
                    <a:spcPts val="800"/>
                  </a:spcAft>
                  <a:buSzPts val="1400"/>
                  <a:buChar char="●"/>
                </a:pPr>
                <a:r>
                  <a:rPr b="0" lang="en" sz="1125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حماية التراث دون المساس بسلامة المواقع الأثرية أو الإضرار بالبيئة المحيطة.</a:t>
                </a:r>
                <a:endParaRPr/>
              </a:p>
            </p:txBody>
          </p:sp>
        </p:grpSp>
      </p:grpSp>
      <p:sp>
        <p:nvSpPr>
          <p:cNvPr id="1024" name="Google Shape;1024;p45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Google Shape;1029;p46"/>
          <p:cNvGrpSpPr/>
          <p:nvPr/>
        </p:nvGrpSpPr>
        <p:grpSpPr>
          <a:xfrm>
            <a:off x="381000" y="190500"/>
            <a:ext cx="8534400" cy="342900"/>
            <a:chOff x="381000" y="190500"/>
            <a:chExt cx="8534400" cy="342900"/>
          </a:xfrm>
        </p:grpSpPr>
        <p:grpSp>
          <p:nvGrpSpPr>
            <p:cNvPr id="1030" name="Google Shape;1030;p46"/>
            <p:cNvGrpSpPr/>
            <p:nvPr/>
          </p:nvGrpSpPr>
          <p:grpSpPr>
            <a:xfrm>
              <a:off x="8572500" y="190500"/>
              <a:ext cx="342900" cy="342900"/>
              <a:chOff x="0" y="0"/>
              <a:chExt cx="342900" cy="342900"/>
            </a:xfrm>
          </p:grpSpPr>
          <p:sp>
            <p:nvSpPr>
              <p:cNvPr id="1031" name="Google Shape;1031;p46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46"/>
              <p:cNvSpPr/>
              <p:nvPr/>
            </p:nvSpPr>
            <p:spPr>
              <a:xfrm>
                <a:off x="76200" y="7620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46"/>
              <p:cNvSpPr/>
              <p:nvPr/>
            </p:nvSpPr>
            <p:spPr>
              <a:xfrm>
                <a:off x="152400" y="21907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4" name="Google Shape;1034;p46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035" name="Google Shape;1035;p46"/>
          <p:cNvGrpSpPr/>
          <p:nvPr/>
        </p:nvGrpSpPr>
        <p:grpSpPr>
          <a:xfrm>
            <a:off x="381000" y="571500"/>
            <a:ext cx="8382000" cy="495300"/>
            <a:chOff x="0" y="0"/>
            <a:chExt cx="8382000" cy="495300"/>
          </a:xfrm>
        </p:grpSpPr>
        <p:sp>
          <p:nvSpPr>
            <p:cNvPr id="1036" name="Google Shape;1036;p46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كيف تخترق موجات الرادار الفضائي (SAR) باطن الأرض؟</a:t>
              </a:r>
              <a:endParaRPr b="1" sz="22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38" name="Google Shape;10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381125"/>
            <a:ext cx="4000500" cy="3000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9" name="Google Shape;1039;p46"/>
          <p:cNvGrpSpPr/>
          <p:nvPr/>
        </p:nvGrpSpPr>
        <p:grpSpPr>
          <a:xfrm>
            <a:off x="4572000" y="1381125"/>
            <a:ext cx="4191000" cy="3000300"/>
            <a:chOff x="0" y="0"/>
            <a:chExt cx="4191000" cy="3000300"/>
          </a:xfrm>
        </p:grpSpPr>
        <p:grpSp>
          <p:nvGrpSpPr>
            <p:cNvPr id="1040" name="Google Shape;1040;p46"/>
            <p:cNvGrpSpPr/>
            <p:nvPr/>
          </p:nvGrpSpPr>
          <p:grpSpPr>
            <a:xfrm>
              <a:off x="0" y="0"/>
              <a:ext cx="4191000" cy="904800"/>
              <a:chOff x="0" y="0"/>
              <a:chExt cx="4191000" cy="904800"/>
            </a:xfrm>
          </p:grpSpPr>
          <p:sp>
            <p:nvSpPr>
              <p:cNvPr id="1041" name="Google Shape;1041;p46"/>
              <p:cNvSpPr/>
              <p:nvPr/>
            </p:nvSpPr>
            <p:spPr>
              <a:xfrm>
                <a:off x="0" y="0"/>
                <a:ext cx="4191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46"/>
              <p:cNvSpPr/>
              <p:nvPr/>
            </p:nvSpPr>
            <p:spPr>
              <a:xfrm>
                <a:off x="0" y="0"/>
                <a:ext cx="4191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46"/>
              <p:cNvSpPr txBox="1"/>
              <p:nvPr/>
            </p:nvSpPr>
            <p:spPr>
              <a:xfrm>
                <a:off x="190500" y="142875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الأقمار والموجات الميكروية</a:t>
                </a:r>
                <a:endParaRPr b="1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تعتمد التقنية على أقمار متقدمة مثل Sentinel-1 وALOS-PALSAR التي تستخدم الموجات الميكروية الدقيقة (L-band و C-band).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044" name="Google Shape;1044;p46"/>
            <p:cNvGrpSpPr/>
            <p:nvPr/>
          </p:nvGrpSpPr>
          <p:grpSpPr>
            <a:xfrm>
              <a:off x="0" y="1047750"/>
              <a:ext cx="4191000" cy="904800"/>
              <a:chOff x="0" y="0"/>
              <a:chExt cx="4191000" cy="904800"/>
            </a:xfrm>
          </p:grpSpPr>
          <p:sp>
            <p:nvSpPr>
              <p:cNvPr id="1045" name="Google Shape;1045;p46"/>
              <p:cNvSpPr/>
              <p:nvPr/>
            </p:nvSpPr>
            <p:spPr>
              <a:xfrm>
                <a:off x="0" y="0"/>
                <a:ext cx="4191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46"/>
              <p:cNvSpPr/>
              <p:nvPr/>
            </p:nvSpPr>
            <p:spPr>
              <a:xfrm>
                <a:off x="0" y="0"/>
                <a:ext cx="4191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46"/>
              <p:cNvSpPr txBox="1"/>
              <p:nvPr/>
            </p:nvSpPr>
            <p:spPr>
              <a:xfrm>
                <a:off x="190500" y="142875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اختراق الرمال الجافة</a:t>
                </a:r>
                <a:endParaRPr b="1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تتميز الموجات الطويلة (L-band) بقدرتها الفائقة على النفاذ عبر الرمال الجافة غير المشبعة بالماء لعمق يتراوح بين 1 إلى 3 أمتار.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048" name="Google Shape;1048;p46"/>
            <p:cNvGrpSpPr/>
            <p:nvPr/>
          </p:nvGrpSpPr>
          <p:grpSpPr>
            <a:xfrm>
              <a:off x="0" y="2095500"/>
              <a:ext cx="4191000" cy="904800"/>
              <a:chOff x="0" y="0"/>
              <a:chExt cx="4191000" cy="904800"/>
            </a:xfrm>
          </p:grpSpPr>
          <p:sp>
            <p:nvSpPr>
              <p:cNvPr id="1049" name="Google Shape;1049;p46"/>
              <p:cNvSpPr/>
              <p:nvPr/>
            </p:nvSpPr>
            <p:spPr>
              <a:xfrm>
                <a:off x="0" y="0"/>
                <a:ext cx="4191000" cy="904800"/>
              </a:xfrm>
              <a:prstGeom prst="roundRect">
                <a:avLst>
                  <a:gd fmla="val 842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46"/>
              <p:cNvSpPr/>
              <p:nvPr/>
            </p:nvSpPr>
            <p:spPr>
              <a:xfrm>
                <a:off x="0" y="0"/>
                <a:ext cx="4191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46"/>
              <p:cNvSpPr txBox="1"/>
              <p:nvPr/>
            </p:nvSpPr>
            <p:spPr>
              <a:xfrm>
                <a:off x="190500" y="142875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الارتداد التفاضلي (Backscatter)</a:t>
                </a:r>
                <a:endParaRPr b="1" sz="13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ترتد الموجات بقوة عند اصطدامها بالأساسات الحجرية والجدران اللبنة الدفينة، مما يولد تبايناً رادارياً يكشف الموقع.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1052" name="Google Shape;1052;p46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C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8" name="Google Shape;1058;p47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059" name="Google Shape;1059;p47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060" name="Google Shape;1060;p47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47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47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3" name="Google Shape;1063;p47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064" name="Google Shape;1064;p47"/>
          <p:cNvSpPr txBox="1"/>
          <p:nvPr/>
        </p:nvSpPr>
        <p:spPr>
          <a:xfrm>
            <a:off x="381000" y="523875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تجريد الأرض من غطائها: تقنية Airborne LiDAR وتصنيف DTM</a:t>
            </a:r>
            <a:endParaRPr b="1" sz="20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استخدام المسح الليزري الجوي والخوارزميات الرقمية لكشف المعالم الأثرية المدفونة بدقة عالية</a:t>
            </a:r>
            <a:endParaRPr b="0" sz="110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065" name="Google Shape;1065;p47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6" name="Google Shape;1066;p47"/>
          <p:cNvGrpSpPr/>
          <p:nvPr/>
        </p:nvGrpSpPr>
        <p:grpSpPr>
          <a:xfrm>
            <a:off x="4762500" y="1333500"/>
            <a:ext cx="4000500" cy="1476300"/>
            <a:chOff x="0" y="0"/>
            <a:chExt cx="4000500" cy="1476300"/>
          </a:xfrm>
        </p:grpSpPr>
        <p:sp>
          <p:nvSpPr>
            <p:cNvPr id="1067" name="Google Shape;1067;p4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7"/>
            <p:cNvSpPr/>
            <p:nvPr/>
          </p:nvSpPr>
          <p:spPr>
            <a:xfrm>
              <a:off x="3581400" y="247650"/>
              <a:ext cx="133500" cy="133500"/>
            </a:xfrm>
            <a:custGeom>
              <a:rect b="b" l="l" r="r" t="t"/>
              <a:pathLst>
                <a:path extrusionOk="0" fill="none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FFFFFF"/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7"/>
            <p:cNvSpPr/>
            <p:nvPr/>
          </p:nvSpPr>
          <p:spPr>
            <a:xfrm>
              <a:off x="3619500" y="285750"/>
              <a:ext cx="57300" cy="57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إطلاق النبضات الليزرية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تعتمد تقنية الليدار الجوي (Airborne LiDAR) على إطلاق ملايين النبضات الليزرية في الثانية من طائرات مسيرة أو مأهولة لمسح التضاريس بدقة فائقة.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073" name="Google Shape;1073;p47"/>
          <p:cNvGrpSpPr/>
          <p:nvPr/>
        </p:nvGrpSpPr>
        <p:grpSpPr>
          <a:xfrm>
            <a:off x="381000" y="1333500"/>
            <a:ext cx="4000500" cy="1476300"/>
            <a:chOff x="0" y="0"/>
            <a:chExt cx="4000500" cy="1476300"/>
          </a:xfrm>
        </p:grpSpPr>
        <p:sp>
          <p:nvSpPr>
            <p:cNvPr id="1074" name="Google Shape;1074;p4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7"/>
            <p:cNvSpPr/>
            <p:nvPr/>
          </p:nvSpPr>
          <p:spPr>
            <a:xfrm>
              <a:off x="3552825" y="266700"/>
              <a:ext cx="190500" cy="13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78000" y="60000"/>
                  </a:lnTo>
                  <a:lnTo>
                    <a:pt x="78000" y="120000"/>
                  </a:lnTo>
                  <a:lnTo>
                    <a:pt x="42000" y="120000"/>
                  </a:lnTo>
                  <a:lnTo>
                    <a:pt x="42000" y="6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تصفية النقاط الأرضية (Ground Filtering)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تُطبق خوارزميات متقدمة لمعالجة البيانات وتصنيف النقاط بهدف إزالة الرمال الزاحفة والنباتات رقمياً وبشكل كامل من النماذج الممسوحة.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079" name="Google Shape;1079;p47"/>
          <p:cNvGrpSpPr/>
          <p:nvPr/>
        </p:nvGrpSpPr>
        <p:grpSpPr>
          <a:xfrm>
            <a:off x="4762500" y="3000375"/>
            <a:ext cx="4000500" cy="1476300"/>
            <a:chOff x="0" y="0"/>
            <a:chExt cx="4000500" cy="1476300"/>
          </a:xfrm>
        </p:grpSpPr>
        <p:sp>
          <p:nvSpPr>
            <p:cNvPr id="1080" name="Google Shape;1080;p4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7"/>
            <p:cNvSpPr/>
            <p:nvPr/>
          </p:nvSpPr>
          <p:spPr>
            <a:xfrm>
              <a:off x="3552825" y="247650"/>
              <a:ext cx="190500" cy="1335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42000" y="34286"/>
                  </a:lnTo>
                  <a:lnTo>
                    <a:pt x="78000" y="77143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84" name="Google Shape;1084;p47"/>
            <p:cNvCxnSpPr/>
            <p:nvPr/>
          </p:nvCxnSpPr>
          <p:spPr>
            <a:xfrm>
              <a:off x="3552825" y="400050"/>
              <a:ext cx="190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85" name="Google Shape;1085;p4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توليد نماذج الارتفاع الرقمية (DTM)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تُستخدم البيانات النقية الناتجة لتوليد نماذج الارتفاع الرقمية العارية (Digital Terrain Models) التي تعكس سطح الأرض الحقيقي بدقة متناهية.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086" name="Google Shape;1086;p47"/>
          <p:cNvGrpSpPr/>
          <p:nvPr/>
        </p:nvGrpSpPr>
        <p:grpSpPr>
          <a:xfrm>
            <a:off x="381000" y="3000375"/>
            <a:ext cx="4000500" cy="1476300"/>
            <a:chOff x="0" y="0"/>
            <a:chExt cx="4000500" cy="1476300"/>
          </a:xfrm>
        </p:grpSpPr>
        <p:sp>
          <p:nvSpPr>
            <p:cNvPr id="1087" name="Google Shape;1087;p47"/>
            <p:cNvSpPr/>
            <p:nvPr/>
          </p:nvSpPr>
          <p:spPr>
            <a:xfrm>
              <a:off x="0" y="0"/>
              <a:ext cx="40005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7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7"/>
            <p:cNvSpPr/>
            <p:nvPr/>
          </p:nvSpPr>
          <p:spPr>
            <a:xfrm>
              <a:off x="3476625" y="1905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FDFCF0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7"/>
            <p:cNvSpPr/>
            <p:nvPr/>
          </p:nvSpPr>
          <p:spPr>
            <a:xfrm>
              <a:off x="3571875" y="238125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91" name="Google Shape;1091;p47"/>
            <p:cNvCxnSpPr/>
            <p:nvPr/>
          </p:nvCxnSpPr>
          <p:spPr>
            <a:xfrm>
              <a:off x="3667125" y="333375"/>
              <a:ext cx="66600" cy="5730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2" name="Google Shape;1092;p47"/>
            <p:cNvSpPr txBox="1"/>
            <p:nvPr/>
          </p:nvSpPr>
          <p:spPr>
            <a:xfrm>
              <a:off x="190500" y="171450"/>
              <a:ext cx="3143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كشف المكتشفات الأثرية المدفونة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تساعد هذه النماذج مباشرة في كشف التلال الأثرية ومدافن العصر البرونزي الركامية المخفية التي تصعب ملاحظتها وتوثيقها بالطرق التقليدية.</a:t>
              </a:r>
              <a:endParaRPr b="0" sz="10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093" name="Google Shape;1093;p47"/>
          <p:cNvSpPr/>
          <p:nvPr/>
        </p:nvSpPr>
        <p:spPr>
          <a:xfrm>
            <a:off x="381000" y="471487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1098;p48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099" name="Google Shape;1099;p48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100" name="Google Shape;1100;p48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48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48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3" name="Google Shape;1103;p48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104" name="Google Shape;1104;p48"/>
          <p:cNvSpPr txBox="1"/>
          <p:nvPr/>
        </p:nvSpPr>
        <p:spPr>
          <a:xfrm>
            <a:off x="381000" y="5524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تدريب نماذج الرؤية الحاسوبية على كشف الأنماط الأثرية (YOLO &amp; SAM)</a:t>
            </a:r>
            <a:endParaRPr b="1" sz="21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105" name="Google Shape;1105;p48"/>
          <p:cNvSpPr/>
          <p:nvPr/>
        </p:nvSpPr>
        <p:spPr>
          <a:xfrm>
            <a:off x="8001000" y="10096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48"/>
          <p:cNvSpPr txBox="1"/>
          <p:nvPr/>
        </p:nvSpPr>
        <p:spPr>
          <a:xfrm>
            <a:off x="381000" y="11239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مسح وتحليل الصور الفضائية آلياً للتعرف على التشكيلات المعمارية والخطوط الممتدة:</a:t>
            </a:r>
            <a:endParaRPr b="0" sz="1100">
              <a:solidFill>
                <a:srgbClr val="8B5A2B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cxnSp>
        <p:nvCxnSpPr>
          <p:cNvPr id="1107" name="Google Shape;1107;p48"/>
          <p:cNvCxnSpPr/>
          <p:nvPr/>
        </p:nvCxnSpPr>
        <p:spPr>
          <a:xfrm>
            <a:off x="1809750" y="1600200"/>
            <a:ext cx="55245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8" name="Google Shape;1108;p48"/>
          <p:cNvGrpSpPr/>
          <p:nvPr/>
        </p:nvGrpSpPr>
        <p:grpSpPr>
          <a:xfrm>
            <a:off x="7200900" y="1466850"/>
            <a:ext cx="266700" cy="266700"/>
            <a:chOff x="0" y="0"/>
            <a:chExt cx="266700" cy="266700"/>
          </a:xfrm>
        </p:grpSpPr>
        <p:sp>
          <p:nvSpPr>
            <p:cNvPr id="1109" name="Google Shape;1109;p48"/>
            <p:cNvSpPr/>
            <p:nvPr/>
          </p:nvSpPr>
          <p:spPr>
            <a:xfrm>
              <a:off x="0" y="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8"/>
            <p:cNvSpPr/>
            <p:nvPr/>
          </p:nvSpPr>
          <p:spPr>
            <a:xfrm>
              <a:off x="76200" y="76200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1" name="Google Shape;1111;p48"/>
          <p:cNvGrpSpPr/>
          <p:nvPr/>
        </p:nvGrpSpPr>
        <p:grpSpPr>
          <a:xfrm>
            <a:off x="4438650" y="1466850"/>
            <a:ext cx="266700" cy="266700"/>
            <a:chOff x="0" y="0"/>
            <a:chExt cx="266700" cy="266700"/>
          </a:xfrm>
        </p:grpSpPr>
        <p:sp>
          <p:nvSpPr>
            <p:cNvPr id="1112" name="Google Shape;1112;p48"/>
            <p:cNvSpPr/>
            <p:nvPr/>
          </p:nvSpPr>
          <p:spPr>
            <a:xfrm>
              <a:off x="0" y="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8"/>
            <p:cNvSpPr/>
            <p:nvPr/>
          </p:nvSpPr>
          <p:spPr>
            <a:xfrm>
              <a:off x="76200" y="76200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4" name="Google Shape;1114;p48"/>
          <p:cNvGrpSpPr/>
          <p:nvPr/>
        </p:nvGrpSpPr>
        <p:grpSpPr>
          <a:xfrm>
            <a:off x="1676400" y="1466850"/>
            <a:ext cx="266700" cy="266700"/>
            <a:chOff x="0" y="0"/>
            <a:chExt cx="266700" cy="266700"/>
          </a:xfrm>
        </p:grpSpPr>
        <p:sp>
          <p:nvSpPr>
            <p:cNvPr id="1115" name="Google Shape;1115;p48"/>
            <p:cNvSpPr/>
            <p:nvPr/>
          </p:nvSpPr>
          <p:spPr>
            <a:xfrm>
              <a:off x="0" y="0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8"/>
            <p:cNvSpPr/>
            <p:nvPr/>
          </p:nvSpPr>
          <p:spPr>
            <a:xfrm>
              <a:off x="76200" y="76200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7" name="Google Shape;1117;p48"/>
          <p:cNvGrpSpPr/>
          <p:nvPr/>
        </p:nvGrpSpPr>
        <p:grpSpPr>
          <a:xfrm>
            <a:off x="6096000" y="1857375"/>
            <a:ext cx="2476500" cy="1809600"/>
            <a:chOff x="0" y="0"/>
            <a:chExt cx="2476500" cy="1809600"/>
          </a:xfrm>
        </p:grpSpPr>
        <p:sp>
          <p:nvSpPr>
            <p:cNvPr id="1118" name="Google Shape;1118;p48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8"/>
            <p:cNvSpPr txBox="1"/>
            <p:nvPr/>
          </p:nvSpPr>
          <p:spPr>
            <a:xfrm>
              <a:off x="142875" y="171450"/>
              <a:ext cx="2190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التشكيلات الدائرية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تدريب النماذج الذكية على المسح الفضائي للتعرف الدقيق على الهياكل والمعالم الدائرية للـمـدافـن الأثـريـة القديمة.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121" name="Google Shape;1121;p48"/>
          <p:cNvGrpSpPr/>
          <p:nvPr/>
        </p:nvGrpSpPr>
        <p:grpSpPr>
          <a:xfrm>
            <a:off x="3333750" y="1857375"/>
            <a:ext cx="2476500" cy="1809600"/>
            <a:chOff x="0" y="0"/>
            <a:chExt cx="2476500" cy="1809600"/>
          </a:xfrm>
        </p:grpSpPr>
        <p:sp>
          <p:nvSpPr>
            <p:cNvPr id="1122" name="Google Shape;1122;p48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4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48"/>
            <p:cNvSpPr txBox="1"/>
            <p:nvPr/>
          </p:nvSpPr>
          <p:spPr>
            <a:xfrm>
              <a:off x="142875" y="171450"/>
              <a:ext cx="2190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التشكيلات المستطيلة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كشف وبناء أنماط معمارية للمساحات المستطيلة المعقدة الخاصة بالـحـصـون والأسـوار الأثرية.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125" name="Google Shape;1125;p48"/>
          <p:cNvGrpSpPr/>
          <p:nvPr/>
        </p:nvGrpSpPr>
        <p:grpSpPr>
          <a:xfrm>
            <a:off x="571500" y="1857375"/>
            <a:ext cx="2476500" cy="1809600"/>
            <a:chOff x="0" y="0"/>
            <a:chExt cx="2476500" cy="1809600"/>
          </a:xfrm>
        </p:grpSpPr>
        <p:sp>
          <p:nvSpPr>
            <p:cNvPr id="1126" name="Google Shape;1126;p48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8"/>
            <p:cNvSpPr txBox="1"/>
            <p:nvPr/>
          </p:nvSpPr>
          <p:spPr>
            <a:xfrm>
              <a:off x="142875" y="171450"/>
              <a:ext cx="2190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الخطوط الممتدة</a:t>
              </a:r>
              <a:endParaRPr b="1" sz="12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تتبع الملامح الخطية المستمرة على السطح لتحليل وتحديد مسارات قـنـوات الأفـلاج المائية الممتدة.</a:t>
              </a:r>
              <a:endParaRPr b="0" sz="105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129" name="Google Shape;1129;p48"/>
          <p:cNvGrpSpPr/>
          <p:nvPr/>
        </p:nvGrpSpPr>
        <p:grpSpPr>
          <a:xfrm>
            <a:off x="381000" y="3886200"/>
            <a:ext cx="8382150" cy="647700"/>
            <a:chOff x="0" y="0"/>
            <a:chExt cx="8382150" cy="647700"/>
          </a:xfrm>
        </p:grpSpPr>
        <p:sp>
          <p:nvSpPr>
            <p:cNvPr id="1130" name="Google Shape;1130;p48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882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8"/>
            <p:cNvSpPr/>
            <p:nvPr/>
          </p:nvSpPr>
          <p:spPr>
            <a:xfrm>
              <a:off x="8324850" y="0"/>
              <a:ext cx="57300" cy="6477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2" name="Google Shape;1132;p48"/>
            <p:cNvGrpSpPr/>
            <p:nvPr/>
          </p:nvGrpSpPr>
          <p:grpSpPr>
            <a:xfrm>
              <a:off x="190500" y="95250"/>
              <a:ext cx="1047900" cy="457200"/>
              <a:chOff x="0" y="0"/>
              <a:chExt cx="1047900" cy="457200"/>
            </a:xfrm>
          </p:grpSpPr>
          <p:sp>
            <p:nvSpPr>
              <p:cNvPr id="1133" name="Google Shape;1133;p48"/>
              <p:cNvSpPr/>
              <p:nvPr/>
            </p:nvSpPr>
            <p:spPr>
              <a:xfrm>
                <a:off x="0" y="0"/>
                <a:ext cx="1047900" cy="457200"/>
              </a:xfrm>
              <a:prstGeom prst="roundRect">
                <a:avLst>
                  <a:gd fmla="val 8333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48"/>
              <p:cNvSpPr txBox="1"/>
              <p:nvPr/>
            </p:nvSpPr>
            <p:spPr>
              <a:xfrm>
                <a:off x="0" y="0"/>
                <a:ext cx="1047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7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90%</a:t>
                </a:r>
                <a:endParaRPr b="1" sz="17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5C403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تقليص مساحة البحث</a:t>
                </a:r>
                <a:endParaRPr b="1" sz="8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1135" name="Google Shape;1135;p48"/>
            <p:cNvSpPr txBox="1"/>
            <p:nvPr/>
          </p:nvSpPr>
          <p:spPr>
            <a:xfrm>
              <a:off x="1381125" y="0"/>
              <a:ext cx="68103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الأثر والنتيجة الميدانية: </a:t>
              </a:r>
              <a:r>
                <a:rPr b="0" lang="en" sz="11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تساهم هذه التقنيات المتقدمة في خفض مساحة البحث الميداني بنسبة 90% من خلال تحديد "دوائر اشتباه أثري مؤكدة"، مما يوجه جهود الفرق الميدانية بفعالية.</a:t>
              </a:r>
              <a:endParaRPr/>
            </a:p>
          </p:txBody>
        </p:sp>
      </p:grpSp>
      <p:sp>
        <p:nvSpPr>
          <p:cNvPr id="1136" name="Google Shape;1136;p48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1" name="Google Shape;1141;p49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142" name="Google Shape;1142;p4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143" name="Google Shape;1143;p4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4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4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6" name="Google Shape;1146;p49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147" name="Google Shape;1147;p49"/>
          <p:cNvGrpSpPr/>
          <p:nvPr/>
        </p:nvGrpSpPr>
        <p:grpSpPr>
          <a:xfrm>
            <a:off x="381000" y="571500"/>
            <a:ext cx="8382000" cy="561975"/>
            <a:chOff x="0" y="0"/>
            <a:chExt cx="8382000" cy="561975"/>
          </a:xfrm>
        </p:grpSpPr>
        <p:sp>
          <p:nvSpPr>
            <p:cNvPr id="1148" name="Google Shape;1148;p49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مؤشر الشذوذ الطيفي الأثري المخصص (ANDI)</a:t>
              </a:r>
              <a:endParaRPr b="1" sz="24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7620000" y="52387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0" name="Google Shape;1150;p49"/>
          <p:cNvSpPr txBox="1"/>
          <p:nvPr/>
        </p:nvSpPr>
        <p:spPr>
          <a:xfrm>
            <a:off x="381000" y="1238250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C403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يقارن المؤشر بين النطاقات الطيفية لكشف الآثار المدفونة عبر التغيرات غير المرئية في التربة والنباتات:</a:t>
            </a:r>
            <a:endParaRPr b="0" sz="1100">
              <a:solidFill>
                <a:srgbClr val="5C403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grpSp>
        <p:nvGrpSpPr>
          <p:cNvPr id="1151" name="Google Shape;1151;p49"/>
          <p:cNvGrpSpPr/>
          <p:nvPr/>
        </p:nvGrpSpPr>
        <p:grpSpPr>
          <a:xfrm>
            <a:off x="6286500" y="1714500"/>
            <a:ext cx="2476500" cy="2918841"/>
            <a:chOff x="0" y="0"/>
            <a:chExt cx="2476500" cy="2918841"/>
          </a:xfrm>
        </p:grpSpPr>
        <p:sp>
          <p:nvSpPr>
            <p:cNvPr id="1152" name="Google Shape;1152;p49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9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المفهوم والمعادلة الطيفية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يعتمد المؤشر على معادلة طيفية دقيقة تقارن بين انعكاس النطاق الأحمر (Red Band) ونطاق الأشعة تحت الحمراء القريبة (NIR).</a:t>
              </a:r>
              <a:endParaRPr b="0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155" name="Google Shape;1155;p49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9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b="0" sz="4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157" name="Google Shape;1157;p49"/>
          <p:cNvGrpSpPr/>
          <p:nvPr/>
        </p:nvGrpSpPr>
        <p:grpSpPr>
          <a:xfrm>
            <a:off x="3333750" y="1714500"/>
            <a:ext cx="2476500" cy="2918841"/>
            <a:chOff x="0" y="0"/>
            <a:chExt cx="2476500" cy="2918841"/>
          </a:xfrm>
        </p:grpSpPr>
        <p:sp>
          <p:nvSpPr>
            <p:cNvPr id="1158" name="Google Shape;1158;p49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9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الأثر الفيزيائي على التربة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تضغط الآثار المدفونة التربة فوقها، مما يغير قدرتها الطبيعية على الاحتفاظ بالرطوبة أو دعم نمو وإنبات الأعشاب والنباتات.</a:t>
              </a:r>
              <a:endParaRPr b="0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161" name="Google Shape;1161;p49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9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4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163" name="Google Shape;1163;p49"/>
          <p:cNvGrpSpPr/>
          <p:nvPr/>
        </p:nvGrpSpPr>
        <p:grpSpPr>
          <a:xfrm>
            <a:off x="381000" y="1714500"/>
            <a:ext cx="2476500" cy="2918841"/>
            <a:chOff x="0" y="0"/>
            <a:chExt cx="2476500" cy="2918841"/>
          </a:xfrm>
        </p:grpSpPr>
        <p:sp>
          <p:nvSpPr>
            <p:cNvPr id="1164" name="Google Shape;1164;p49"/>
            <p:cNvSpPr/>
            <p:nvPr/>
          </p:nvSpPr>
          <p:spPr>
            <a:xfrm>
              <a:off x="0" y="0"/>
              <a:ext cx="2476500" cy="2857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9"/>
            <p:cNvSpPr txBox="1"/>
            <p:nvPr/>
          </p:nvSpPr>
          <p:spPr>
            <a:xfrm>
              <a:off x="190500" y="238125"/>
              <a:ext cx="2095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الالتقاط الفضائي والوميض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ينتج عن التغير الدقيق وميض أو تباين في الأشعة تحت الحمراء القريبة تلتقطه المستشعرات الفضائية رغم خفائه عن العين البشرية.</a:t>
              </a:r>
              <a:endParaRPr b="0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167" name="Google Shape;1167;p49"/>
            <p:cNvSpPr/>
            <p:nvPr/>
          </p:nvSpPr>
          <p:spPr>
            <a:xfrm>
              <a:off x="0" y="1905000"/>
              <a:ext cx="2476500" cy="952500"/>
            </a:xfrm>
            <a:prstGeom prst="rect">
              <a:avLst/>
            </a:prstGeom>
            <a:solidFill>
              <a:srgbClr val="8B5A2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9"/>
            <p:cNvSpPr txBox="1"/>
            <p:nvPr/>
          </p:nvSpPr>
          <p:spPr>
            <a:xfrm>
              <a:off x="0" y="1966341"/>
              <a:ext cx="247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4200">
                  <a:solidFill>
                    <a:srgbClr val="8B5A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b="0" sz="4200">
                <a:solidFill>
                  <a:srgbClr val="8B5A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169" name="Google Shape;1169;p49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4" name="Google Shape;1174;p50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175" name="Google Shape;1175;p50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176" name="Google Shape;1176;p50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5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50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79" name="Google Shape;1179;p50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180" name="Google Shape;1180;p50"/>
          <p:cNvSpPr txBox="1"/>
          <p:nvPr/>
        </p:nvSpPr>
        <p:spPr>
          <a:xfrm>
            <a:off x="381000" y="6191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35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مختبر الورشة: الكشف الآلي بالشذوذ الطيفي عبر بايثون (Google Colab)</a:t>
            </a:r>
            <a:endParaRPr b="1" sz="2035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181" name="Google Shape;1181;p50"/>
          <p:cNvSpPr/>
          <p:nvPr/>
        </p:nvSpPr>
        <p:spPr>
          <a:xfrm>
            <a:off x="8001000" y="10287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2" name="Google Shape;1182;p50"/>
          <p:cNvPicPr preferRelativeResize="0"/>
          <p:nvPr/>
        </p:nvPicPr>
        <p:blipFill rotWithShape="1">
          <a:blip r:embed="rId3">
            <a:alphaModFix/>
          </a:blip>
          <a:srcRect b="25760" l="0" r="0" t="25755"/>
          <a:stretch/>
        </p:blipFill>
        <p:spPr>
          <a:xfrm>
            <a:off x="381000" y="1162050"/>
            <a:ext cx="8382000" cy="2286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3" name="Google Shape;1183;p50"/>
          <p:cNvGrpSpPr/>
          <p:nvPr/>
        </p:nvGrpSpPr>
        <p:grpSpPr>
          <a:xfrm>
            <a:off x="6029325" y="3571875"/>
            <a:ext cx="2733600" cy="1190700"/>
            <a:chOff x="0" y="0"/>
            <a:chExt cx="2733600" cy="1190700"/>
          </a:xfrm>
        </p:grpSpPr>
        <p:sp>
          <p:nvSpPr>
            <p:cNvPr id="1184" name="Google Shape;1184;p50"/>
            <p:cNvSpPr/>
            <p:nvPr/>
          </p:nvSpPr>
          <p:spPr>
            <a:xfrm>
              <a:off x="0" y="0"/>
              <a:ext cx="27336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50"/>
            <p:cNvSpPr/>
            <p:nvPr/>
          </p:nvSpPr>
          <p:spPr>
            <a:xfrm>
              <a:off x="0" y="0"/>
              <a:ext cx="27336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50"/>
            <p:cNvSpPr txBox="1"/>
            <p:nvPr/>
          </p:nvSpPr>
          <p:spPr>
            <a:xfrm>
              <a:off x="114300" y="114300"/>
              <a:ext cx="250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1.</a:t>
              </a:r>
              <a:r>
                <a:rPr b="1" lang="en" sz="1200" u="sng">
                  <a:solidFill>
                    <a:schemeClr val="hlink"/>
                  </a:solidFill>
                  <a:latin typeface="Cairo"/>
                  <a:ea typeface="Cairo"/>
                  <a:cs typeface="Cairo"/>
                  <a:sym typeface="Cairo"/>
                  <a:hlinkClick r:id="rId4"/>
                </a:rPr>
                <a:t> المشهد الصحراوي</a:t>
              </a: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 (RGB)</a:t>
              </a:r>
              <a:endParaRPr b="1" sz="12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تعرض اللوحة الأولى المشهد الصحراوي الطبيعي، حيث تبرز صعوبة تمييز الآثار والمكونات المدفونة بالعين المجردة.</a:t>
              </a:r>
              <a:endParaRPr b="0" sz="9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187" name="Google Shape;1187;p50"/>
          <p:cNvGrpSpPr/>
          <p:nvPr/>
        </p:nvGrpSpPr>
        <p:grpSpPr>
          <a:xfrm>
            <a:off x="3200400" y="3571875"/>
            <a:ext cx="2733600" cy="1190700"/>
            <a:chOff x="0" y="0"/>
            <a:chExt cx="2733600" cy="1190700"/>
          </a:xfrm>
        </p:grpSpPr>
        <p:sp>
          <p:nvSpPr>
            <p:cNvPr id="1188" name="Google Shape;1188;p50"/>
            <p:cNvSpPr/>
            <p:nvPr/>
          </p:nvSpPr>
          <p:spPr>
            <a:xfrm>
              <a:off x="0" y="0"/>
              <a:ext cx="27336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50"/>
            <p:cNvSpPr/>
            <p:nvPr/>
          </p:nvSpPr>
          <p:spPr>
            <a:xfrm>
              <a:off x="0" y="0"/>
              <a:ext cx="27336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50"/>
            <p:cNvSpPr txBox="1"/>
            <p:nvPr/>
          </p:nvSpPr>
          <p:spPr>
            <a:xfrm>
              <a:off x="114300" y="114300"/>
              <a:ext cx="250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2. خريطة الشذوذ الطيفي (ANDI)</a:t>
              </a:r>
              <a:endParaRPr b="1" sz="12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توضح خريطة الشذوذ استخدام ألوان التباين الحراري (Inferno Colormap) لإبراز الفروقات والتشوهات الطيفية الدقيقة.</a:t>
              </a:r>
              <a:endParaRPr b="0" sz="9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191" name="Google Shape;1191;p50"/>
          <p:cNvGrpSpPr/>
          <p:nvPr/>
        </p:nvGrpSpPr>
        <p:grpSpPr>
          <a:xfrm>
            <a:off x="381000" y="3571875"/>
            <a:ext cx="2733600" cy="1190700"/>
            <a:chOff x="0" y="0"/>
            <a:chExt cx="2733600" cy="1190700"/>
          </a:xfrm>
        </p:grpSpPr>
        <p:sp>
          <p:nvSpPr>
            <p:cNvPr id="1192" name="Google Shape;1192;p50"/>
            <p:cNvSpPr/>
            <p:nvPr/>
          </p:nvSpPr>
          <p:spPr>
            <a:xfrm>
              <a:off x="0" y="0"/>
              <a:ext cx="2733600" cy="1190700"/>
            </a:xfrm>
            <a:prstGeom prst="roundRect">
              <a:avLst>
                <a:gd fmla="val 6400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50"/>
            <p:cNvSpPr/>
            <p:nvPr/>
          </p:nvSpPr>
          <p:spPr>
            <a:xfrm>
              <a:off x="0" y="0"/>
              <a:ext cx="27336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50"/>
            <p:cNvSpPr txBox="1"/>
            <p:nvPr/>
          </p:nvSpPr>
          <p:spPr>
            <a:xfrm>
              <a:off x="114300" y="114300"/>
              <a:ext cx="250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3. الكشف الآلي والمواقع</a:t>
              </a:r>
              <a:endParaRPr b="1" sz="120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تُظهر النتائج النهائية المتمثلة في مربعات الاكتشاف الخضراء، مع تسمية المواقع المكتشفة آلياً والقنوات القديمة (Paleochannel).</a:t>
              </a:r>
              <a:endParaRPr b="0" sz="95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195" name="Google Shape;1195;p50"/>
          <p:cNvSpPr/>
          <p:nvPr/>
        </p:nvSpPr>
        <p:spPr>
          <a:xfrm>
            <a:off x="381000" y="4876800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oogle Shape;1200;p51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201" name="Google Shape;1201;p51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202" name="Google Shape;1202;p51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5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51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05" name="Google Shape;1205;p51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206" name="Google Shape;1206;p51"/>
          <p:cNvGrpSpPr/>
          <p:nvPr/>
        </p:nvGrpSpPr>
        <p:grpSpPr>
          <a:xfrm>
            <a:off x="381000" y="552450"/>
            <a:ext cx="8382000" cy="895500"/>
            <a:chOff x="381000" y="552450"/>
            <a:chExt cx="8382000" cy="895500"/>
          </a:xfrm>
        </p:grpSpPr>
        <p:sp>
          <p:nvSpPr>
            <p:cNvPr id="1207" name="Google Shape;1207;p51"/>
            <p:cNvSpPr txBox="1"/>
            <p:nvPr/>
          </p:nvSpPr>
          <p:spPr>
            <a:xfrm>
              <a:off x="381000" y="55245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تطبيقات ميدانية: تتبع قنوات فلج المدام القديم</a:t>
              </a:r>
              <a:endParaRPr b="1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08" name="Google Shape;1208;p51"/>
            <p:cNvSpPr/>
            <p:nvPr/>
          </p:nvSpPr>
          <p:spPr>
            <a:xfrm>
              <a:off x="8001000" y="10287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51"/>
            <p:cNvSpPr txBox="1"/>
            <p:nvPr/>
          </p:nvSpPr>
          <p:spPr>
            <a:xfrm>
              <a:off x="381000" y="11620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خطوات دراسة الحالة الميدانية لشبكة فلج المدام من الاكتشاف الفضائي إلى الحفر الميداني:</a:t>
              </a:r>
              <a:endParaRPr b="0" sz="120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210" name="Google Shape;1210;p51"/>
          <p:cNvGrpSpPr/>
          <p:nvPr/>
        </p:nvGrpSpPr>
        <p:grpSpPr>
          <a:xfrm>
            <a:off x="1676400" y="1533525"/>
            <a:ext cx="5791200" cy="266700"/>
            <a:chOff x="1676400" y="1533525"/>
            <a:chExt cx="5791200" cy="266700"/>
          </a:xfrm>
        </p:grpSpPr>
        <p:cxnSp>
          <p:nvCxnSpPr>
            <p:cNvPr id="1211" name="Google Shape;1211;p51"/>
            <p:cNvCxnSpPr/>
            <p:nvPr/>
          </p:nvCxnSpPr>
          <p:spPr>
            <a:xfrm>
              <a:off x="1809750" y="1666875"/>
              <a:ext cx="55245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2" name="Google Shape;1212;p51"/>
            <p:cNvSpPr/>
            <p:nvPr/>
          </p:nvSpPr>
          <p:spPr>
            <a:xfrm>
              <a:off x="7200900" y="1533525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51"/>
            <p:cNvSpPr/>
            <p:nvPr/>
          </p:nvSpPr>
          <p:spPr>
            <a:xfrm>
              <a:off x="7277100" y="1609725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51"/>
            <p:cNvSpPr/>
            <p:nvPr/>
          </p:nvSpPr>
          <p:spPr>
            <a:xfrm>
              <a:off x="4438650" y="1533525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51"/>
            <p:cNvSpPr/>
            <p:nvPr/>
          </p:nvSpPr>
          <p:spPr>
            <a:xfrm>
              <a:off x="4514850" y="1609725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51"/>
            <p:cNvSpPr/>
            <p:nvPr/>
          </p:nvSpPr>
          <p:spPr>
            <a:xfrm>
              <a:off x="1676400" y="1533525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51"/>
            <p:cNvSpPr/>
            <p:nvPr/>
          </p:nvSpPr>
          <p:spPr>
            <a:xfrm>
              <a:off x="1752600" y="1609725"/>
              <a:ext cx="114300" cy="114300"/>
            </a:xfrm>
            <a:prstGeom prst="ellipse">
              <a:avLst/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51"/>
          <p:cNvGrpSpPr/>
          <p:nvPr/>
        </p:nvGrpSpPr>
        <p:grpSpPr>
          <a:xfrm>
            <a:off x="571500" y="2000250"/>
            <a:ext cx="8001000" cy="1762200"/>
            <a:chOff x="571500" y="2000250"/>
            <a:chExt cx="8001000" cy="1762200"/>
          </a:xfrm>
        </p:grpSpPr>
        <p:grpSp>
          <p:nvGrpSpPr>
            <p:cNvPr id="1219" name="Google Shape;1219;p51"/>
            <p:cNvGrpSpPr/>
            <p:nvPr/>
          </p:nvGrpSpPr>
          <p:grpSpPr>
            <a:xfrm>
              <a:off x="6096000" y="2000250"/>
              <a:ext cx="2476500" cy="1762200"/>
              <a:chOff x="0" y="0"/>
              <a:chExt cx="2476500" cy="1762200"/>
            </a:xfrm>
          </p:grpSpPr>
          <p:sp>
            <p:nvSpPr>
              <p:cNvPr id="1220" name="Google Shape;1220;p51"/>
              <p:cNvSpPr/>
              <p:nvPr/>
            </p:nvSpPr>
            <p:spPr>
              <a:xfrm>
                <a:off x="0" y="0"/>
                <a:ext cx="24765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5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51"/>
              <p:cNvSpPr txBox="1"/>
              <p:nvPr/>
            </p:nvSpPr>
            <p:spPr>
              <a:xfrm>
                <a:off x="142875" y="190500"/>
                <a:ext cx="2190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المرحلة الأولى: المسح الفضائي</a:t>
                </a:r>
                <a:endParaRPr b="1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استخدام التقنيات الفضائية بنجاح لرسم مسار القنوات المائية الجافة (</a:t>
                </a:r>
                <a:r>
                  <a:rPr b="0" lang="en" sz="1050" u="sng">
                    <a:solidFill>
                      <a:schemeClr val="hlink"/>
                    </a:solidFill>
                    <a:latin typeface="Tajawal"/>
                    <a:ea typeface="Tajawal"/>
                    <a:cs typeface="Tajawal"/>
                    <a:sym typeface="Tajawal"/>
                    <a:hlinkClick r:id="rId3"/>
                  </a:rPr>
                  <a:t>Paleochannels</a:t>
                </a: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) المطمورة تحت رمال منطقة المدام.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223" name="Google Shape;1223;p51"/>
            <p:cNvGrpSpPr/>
            <p:nvPr/>
          </p:nvGrpSpPr>
          <p:grpSpPr>
            <a:xfrm>
              <a:off x="3333750" y="2000250"/>
              <a:ext cx="2476500" cy="1762200"/>
              <a:chOff x="0" y="0"/>
              <a:chExt cx="2476500" cy="1762200"/>
            </a:xfrm>
          </p:grpSpPr>
          <p:sp>
            <p:nvSpPr>
              <p:cNvPr id="1224" name="Google Shape;1224;p51"/>
              <p:cNvSpPr/>
              <p:nvPr/>
            </p:nvSpPr>
            <p:spPr>
              <a:xfrm>
                <a:off x="0" y="0"/>
                <a:ext cx="24765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5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51"/>
              <p:cNvSpPr txBox="1"/>
              <p:nvPr/>
            </p:nvSpPr>
            <p:spPr>
              <a:xfrm>
                <a:off x="142875" y="190500"/>
                <a:ext cx="2190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المرحلة الثانية: التحليل الجغرافي</a:t>
                </a:r>
                <a:endParaRPr b="1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تحديد نقاط التقاء شبكات الري القديمة بمستوطنات العصر الحديدي المجاورة بدقة عالية بناءً على البيانات الفضائية.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227" name="Google Shape;1227;p51"/>
            <p:cNvGrpSpPr/>
            <p:nvPr/>
          </p:nvGrpSpPr>
          <p:grpSpPr>
            <a:xfrm>
              <a:off x="571500" y="2000250"/>
              <a:ext cx="2476500" cy="1762200"/>
              <a:chOff x="0" y="0"/>
              <a:chExt cx="2476500" cy="1762200"/>
            </a:xfrm>
          </p:grpSpPr>
          <p:sp>
            <p:nvSpPr>
              <p:cNvPr id="1228" name="Google Shape;1228;p51"/>
              <p:cNvSpPr/>
              <p:nvPr/>
            </p:nvSpPr>
            <p:spPr>
              <a:xfrm>
                <a:off x="0" y="0"/>
                <a:ext cx="24765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5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51"/>
              <p:cNvSpPr txBox="1"/>
              <p:nvPr/>
            </p:nvSpPr>
            <p:spPr>
              <a:xfrm>
                <a:off x="142875" y="190500"/>
                <a:ext cx="2190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5C4033"/>
                    </a:solidFill>
                    <a:latin typeface="Cairo"/>
                    <a:ea typeface="Cairo"/>
                    <a:cs typeface="Cairo"/>
                    <a:sym typeface="Cairo"/>
                  </a:rPr>
                  <a:t>المرحلة الثالثة: التنقيب الميداني</a:t>
                </a:r>
                <a:endParaRPr b="1" sz="12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0" lang="en" sz="10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توجيه فرق الحفر والتنقيب مباشرة إلى المواقع الدقيقة لفتحات التهوية وأحواض التوزيع المفقودة.</a:t>
                </a:r>
                <a:endParaRPr b="0" sz="10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grpSp>
        <p:nvGrpSpPr>
          <p:cNvPr id="1231" name="Google Shape;1231;p51"/>
          <p:cNvGrpSpPr/>
          <p:nvPr/>
        </p:nvGrpSpPr>
        <p:grpSpPr>
          <a:xfrm>
            <a:off x="381000" y="3981450"/>
            <a:ext cx="8382150" cy="495300"/>
            <a:chOff x="0" y="0"/>
            <a:chExt cx="8382150" cy="495300"/>
          </a:xfrm>
        </p:grpSpPr>
        <p:sp>
          <p:nvSpPr>
            <p:cNvPr id="1232" name="Google Shape;1232;p51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1538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51"/>
            <p:cNvSpPr/>
            <p:nvPr/>
          </p:nvSpPr>
          <p:spPr>
            <a:xfrm>
              <a:off x="8324850" y="0"/>
              <a:ext cx="57300" cy="4953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51"/>
            <p:cNvSpPr txBox="1"/>
            <p:nvPr/>
          </p:nvSpPr>
          <p:spPr>
            <a:xfrm>
              <a:off x="190500" y="0"/>
              <a:ext cx="8001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الأثر والتأثير الميداني: </a:t>
              </a:r>
              <a:r>
                <a:rPr b="0" lang="en" sz="120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rPr>
                <a:t>توجيه مباشر لفرق التنقيب نحو الأهداف الأثرية المفقودة بدقة عالية، مما وفر الكثير من الجهد والوقت.</a:t>
              </a:r>
              <a:endParaRPr b="1" sz="12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235" name="Google Shape;1235;p51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0" name="Google Shape;1240;p52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241" name="Google Shape;1241;p52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242" name="Google Shape;1242;p5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52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8B5A2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52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8B5A2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5" name="Google Shape;1245;p52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وتطبيقاته في علم الآثار | هيئة الشارقة للآثار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sp>
        <p:nvSpPr>
          <p:cNvPr id="1246" name="Google Shape;1246;p52"/>
          <p:cNvSpPr txBox="1"/>
          <p:nvPr/>
        </p:nvSpPr>
        <p:spPr>
          <a:xfrm>
            <a:off x="381000" y="571500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rPr>
              <a:t>ثمار الاستشعار الفضائي التنبؤي ومؤشرات الأثر الاستكشافي</a:t>
            </a:r>
            <a:endParaRPr b="1" sz="2100">
              <a:solidFill>
                <a:srgbClr val="5C4033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B5A2B"/>
                </a:solidFill>
                <a:latin typeface="Tajawal"/>
                <a:ea typeface="Tajawal"/>
                <a:cs typeface="Tajawal"/>
                <a:sym typeface="Tajawal"/>
              </a:rPr>
              <a:t>تحقق تقنيات الاستشعار الفضائي التنبؤي نتائج قياسية تشمل أداءً عالي الدقة وكفاءة ميدانية غير مسبوقة</a:t>
            </a:r>
            <a:endParaRPr b="0" sz="1100">
              <a:solidFill>
                <a:srgbClr val="8B5A2B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247" name="Google Shape;1247;p52"/>
          <p:cNvSpPr/>
          <p:nvPr/>
        </p:nvSpPr>
        <p:spPr>
          <a:xfrm>
            <a:off x="8001000" y="9334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8" name="Google Shape;1248;p52"/>
          <p:cNvGrpSpPr/>
          <p:nvPr/>
        </p:nvGrpSpPr>
        <p:grpSpPr>
          <a:xfrm>
            <a:off x="4762500" y="1524000"/>
            <a:ext cx="4000500" cy="1428900"/>
            <a:chOff x="0" y="0"/>
            <a:chExt cx="4000500" cy="1428900"/>
          </a:xfrm>
        </p:grpSpPr>
        <p:sp>
          <p:nvSpPr>
            <p:cNvPr id="1249" name="Google Shape;1249;p5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5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1" name="Google Shape;1251;p52"/>
            <p:cNvGrpSpPr/>
            <p:nvPr/>
          </p:nvGrpSpPr>
          <p:grpSpPr>
            <a:xfrm>
              <a:off x="190500" y="238125"/>
              <a:ext cx="952500" cy="952500"/>
              <a:chOff x="0" y="0"/>
              <a:chExt cx="952500" cy="952500"/>
            </a:xfrm>
          </p:grpSpPr>
          <p:sp>
            <p:nvSpPr>
              <p:cNvPr id="1252" name="Google Shape;1252;p52"/>
              <p:cNvSpPr/>
              <p:nvPr/>
            </p:nvSpPr>
            <p:spPr>
              <a:xfrm>
                <a:off x="0" y="0"/>
                <a:ext cx="9525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52"/>
              <p:cNvSpPr txBox="1"/>
              <p:nvPr/>
            </p:nvSpPr>
            <p:spPr>
              <a:xfrm>
                <a:off x="0" y="0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6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1-3م</a:t>
                </a:r>
                <a:endParaRPr b="1" sz="26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عمق الاختراق</a:t>
                </a:r>
                <a:endParaRPr b="1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1254" name="Google Shape;1254;p52"/>
            <p:cNvSpPr txBox="1"/>
            <p:nvPr/>
          </p:nvSpPr>
          <p:spPr>
            <a:xfrm>
              <a:off x="1285875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عمق الاختراق الراداري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الوصول إلى 1 - 3 أمتار تحت السطح الرملي للكشف عن الهياكل والمعالم الأثرية المدفونة بكفاءة فائقة.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255" name="Google Shape;1255;p52"/>
          <p:cNvGrpSpPr/>
          <p:nvPr/>
        </p:nvGrpSpPr>
        <p:grpSpPr>
          <a:xfrm>
            <a:off x="381000" y="1524000"/>
            <a:ext cx="4000500" cy="1428900"/>
            <a:chOff x="0" y="0"/>
            <a:chExt cx="4000500" cy="1428900"/>
          </a:xfrm>
        </p:grpSpPr>
        <p:sp>
          <p:nvSpPr>
            <p:cNvPr id="1256" name="Google Shape;1256;p5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5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8" name="Google Shape;1258;p52"/>
            <p:cNvGrpSpPr/>
            <p:nvPr/>
          </p:nvGrpSpPr>
          <p:grpSpPr>
            <a:xfrm>
              <a:off x="3476625" y="190500"/>
              <a:ext cx="342900" cy="342900"/>
              <a:chOff x="0" y="0"/>
              <a:chExt cx="342900" cy="342900"/>
            </a:xfrm>
          </p:grpSpPr>
          <p:sp>
            <p:nvSpPr>
              <p:cNvPr id="1259" name="Google Shape;1259;p52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52"/>
              <p:cNvSpPr/>
              <p:nvPr/>
            </p:nvSpPr>
            <p:spPr>
              <a:xfrm>
                <a:off x="95250" y="95250"/>
                <a:ext cx="1524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60000" y="0"/>
                    </a:lnTo>
                    <a:lnTo>
                      <a:pt x="120000" y="60000"/>
                    </a:lnTo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61" name="Google Shape;1261;p52"/>
            <p:cNvSpPr txBox="1"/>
            <p:nvPr/>
          </p:nvSpPr>
          <p:spPr>
            <a:xfrm>
              <a:off x="190500" y="171450"/>
              <a:ext cx="3143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سرعة المسح الفضائي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إمكانية مسح آلاف الكيلومترات المربعة في دقائق معدودة، مما يختصر سنوات من العمل الميداني التقليدي.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262" name="Google Shape;1262;p52"/>
          <p:cNvGrpSpPr/>
          <p:nvPr/>
        </p:nvGrpSpPr>
        <p:grpSpPr>
          <a:xfrm>
            <a:off x="4762500" y="3095625"/>
            <a:ext cx="4000500" cy="1428900"/>
            <a:chOff x="0" y="0"/>
            <a:chExt cx="4000500" cy="1428900"/>
          </a:xfrm>
        </p:grpSpPr>
        <p:sp>
          <p:nvSpPr>
            <p:cNvPr id="1263" name="Google Shape;1263;p5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14300">
              <a:solidFill>
                <a:srgbClr val="8B5A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5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8B5A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5" name="Google Shape;1265;p52"/>
            <p:cNvGrpSpPr/>
            <p:nvPr/>
          </p:nvGrpSpPr>
          <p:grpSpPr>
            <a:xfrm>
              <a:off x="190500" y="238125"/>
              <a:ext cx="952500" cy="952500"/>
              <a:chOff x="0" y="0"/>
              <a:chExt cx="952500" cy="952500"/>
            </a:xfrm>
          </p:grpSpPr>
          <p:sp>
            <p:nvSpPr>
              <p:cNvPr id="1266" name="Google Shape;1266;p52"/>
              <p:cNvSpPr/>
              <p:nvPr/>
            </p:nvSpPr>
            <p:spPr>
              <a:xfrm>
                <a:off x="0" y="0"/>
                <a:ext cx="9525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52"/>
              <p:cNvSpPr txBox="1"/>
              <p:nvPr/>
            </p:nvSpPr>
            <p:spPr>
              <a:xfrm>
                <a:off x="0" y="0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92%</a:t>
                </a:r>
                <a:endParaRPr b="1" sz="28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دقة التنبؤ</a:t>
                </a:r>
                <a:endParaRPr b="1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1268" name="Google Shape;1268;p52"/>
            <p:cNvSpPr txBox="1"/>
            <p:nvPr/>
          </p:nvSpPr>
          <p:spPr>
            <a:xfrm>
              <a:off x="1285875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rPr>
                <a:t>دقة التنبؤ بالمواقع</a:t>
              </a:r>
              <a:endParaRPr b="1" sz="1350">
                <a:solidFill>
                  <a:srgbClr val="8B5A2B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تحقيق نسبة 92% في دقة التنبؤ بمواقع المدافن والمستوطنات الأثرية غير المكتشفة سابقاً.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269" name="Google Shape;1269;p52"/>
          <p:cNvGrpSpPr/>
          <p:nvPr/>
        </p:nvGrpSpPr>
        <p:grpSpPr>
          <a:xfrm>
            <a:off x="381000" y="3095625"/>
            <a:ext cx="4000500" cy="1428900"/>
            <a:chOff x="0" y="0"/>
            <a:chExt cx="4000500" cy="1428900"/>
          </a:xfrm>
        </p:grpSpPr>
        <p:sp>
          <p:nvSpPr>
            <p:cNvPr id="1270" name="Google Shape;1270;p52"/>
            <p:cNvSpPr/>
            <p:nvPr/>
          </p:nvSpPr>
          <p:spPr>
            <a:xfrm>
              <a:off x="0" y="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0D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52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72" name="Google Shape;1272;p52"/>
            <p:cNvGrpSpPr/>
            <p:nvPr/>
          </p:nvGrpSpPr>
          <p:grpSpPr>
            <a:xfrm>
              <a:off x="2857500" y="238125"/>
              <a:ext cx="952500" cy="952500"/>
              <a:chOff x="0" y="0"/>
              <a:chExt cx="952500" cy="952500"/>
            </a:xfrm>
          </p:grpSpPr>
          <p:sp>
            <p:nvSpPr>
              <p:cNvPr id="1273" name="Google Shape;1273;p52"/>
              <p:cNvSpPr/>
              <p:nvPr/>
            </p:nvSpPr>
            <p:spPr>
              <a:xfrm>
                <a:off x="0" y="0"/>
                <a:ext cx="9525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DFCF0"/>
              </a:solidFill>
              <a:ln cap="flat" cmpd="sng" w="9525">
                <a:solidFill>
                  <a:srgbClr val="E0DDB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52"/>
              <p:cNvSpPr txBox="1"/>
              <p:nvPr/>
            </p:nvSpPr>
            <p:spPr>
              <a:xfrm>
                <a:off x="0" y="0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8B5A2B"/>
                    </a:solidFill>
                    <a:latin typeface="Cairo"/>
                    <a:ea typeface="Cairo"/>
                    <a:cs typeface="Cairo"/>
                    <a:sym typeface="Cairo"/>
                  </a:rPr>
                  <a:t>صفر</a:t>
                </a:r>
                <a:endParaRPr b="1" sz="2800">
                  <a:solidFill>
                    <a:srgbClr val="8B5A2B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8B5A2B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حفريات عشوائية</a:t>
                </a:r>
                <a:endParaRPr b="1" sz="850">
                  <a:solidFill>
                    <a:srgbClr val="8B5A2B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1275" name="Google Shape;1275;p52"/>
            <p:cNvSpPr txBox="1"/>
            <p:nvPr/>
          </p:nvSpPr>
          <p:spPr>
            <a:xfrm>
              <a:off x="190500" y="190500"/>
              <a:ext cx="2524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5C4033"/>
                  </a:solidFill>
                  <a:latin typeface="Cairo"/>
                  <a:ea typeface="Cairo"/>
                  <a:cs typeface="Cairo"/>
                  <a:sym typeface="Cairo"/>
                </a:rPr>
                <a:t>الكفاءة الميدانية العالية</a:t>
              </a:r>
              <a:endParaRPr b="1" sz="1350">
                <a:solidFill>
                  <a:srgbClr val="5C403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C4033"/>
                  </a:solidFill>
                  <a:latin typeface="Tajawal"/>
                  <a:ea typeface="Tajawal"/>
                  <a:cs typeface="Tajawal"/>
                  <a:sym typeface="Tajawal"/>
                </a:rPr>
                <a:t>الوصول إلى صفر حفريات عشوائية هدامة بفضل التوجيه الدقيق والمسبق لفرق التنقيب الأثري.</a:t>
              </a:r>
              <a:endParaRPr b="0" sz="1100">
                <a:solidFill>
                  <a:srgbClr val="5C403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276" name="Google Shape;1276;p52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E0DD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1" name="Google Shape;1281;p53"/>
          <p:cNvGrpSpPr/>
          <p:nvPr/>
        </p:nvGrpSpPr>
        <p:grpSpPr>
          <a:xfrm>
            <a:off x="8389150" y="542763"/>
            <a:ext cx="342900" cy="342900"/>
            <a:chOff x="19050" y="19050"/>
            <a:chExt cx="342900" cy="342900"/>
          </a:xfrm>
        </p:grpSpPr>
        <p:sp>
          <p:nvSpPr>
            <p:cNvPr id="1282" name="Google Shape;1282;p53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53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53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85" name="Google Shape;128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950" y="1499875"/>
            <a:ext cx="4572000" cy="25719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  <p:grpSp>
        <p:nvGrpSpPr>
          <p:cNvPr id="1286" name="Google Shape;1286;p53"/>
          <p:cNvGrpSpPr/>
          <p:nvPr/>
        </p:nvGrpSpPr>
        <p:grpSpPr>
          <a:xfrm>
            <a:off x="5143500" y="1446378"/>
            <a:ext cx="3619500" cy="3239631"/>
            <a:chOff x="5143500" y="1446375"/>
            <a:chExt cx="3619500" cy="3030525"/>
          </a:xfrm>
        </p:grpSpPr>
        <p:sp>
          <p:nvSpPr>
            <p:cNvPr id="1287" name="Google Shape;1287;p53"/>
            <p:cNvSpPr txBox="1"/>
            <p:nvPr/>
          </p:nvSpPr>
          <p:spPr>
            <a:xfrm>
              <a:off x="5143500" y="1446375"/>
              <a:ext cx="3619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الصيانة التنبؤية وحماية التراث الأثري</a:t>
              </a:r>
              <a:endParaRPr b="1" sz="26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334155"/>
                  </a:solidFill>
                  <a:latin typeface="Cairo"/>
                  <a:ea typeface="Cairo"/>
                  <a:cs typeface="Cairo"/>
                  <a:sym typeface="Cairo"/>
                </a:rPr>
                <a:t>من مخاطر المناخ والزمن</a:t>
              </a:r>
              <a:endParaRPr b="1" sz="2000">
                <a:solidFill>
                  <a:srgbClr val="334155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88" name="Google Shape;1288;p53"/>
            <p:cNvSpPr/>
            <p:nvPr/>
          </p:nvSpPr>
          <p:spPr>
            <a:xfrm>
              <a:off x="8001000" y="27622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53"/>
            <p:cNvSpPr txBox="1"/>
            <p:nvPr/>
          </p:nvSpPr>
          <p:spPr>
            <a:xfrm>
              <a:off x="5143500" y="3019425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B23A22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الرصد رباعي الأبعاد (4D Monitoring)</a:t>
              </a:r>
              <a:endParaRPr b="0" sz="1500">
                <a:solidFill>
                  <a:srgbClr val="B23A22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4748B"/>
                  </a:solidFill>
                  <a:latin typeface="Cairo Medium"/>
                  <a:ea typeface="Cairo Medium"/>
                  <a:cs typeface="Cairo Medium"/>
                  <a:sym typeface="Cairo Medium"/>
                </a:rPr>
                <a:t>وإدارة المخاطر </a:t>
              </a:r>
              <a:endParaRPr b="0" sz="1300">
                <a:solidFill>
                  <a:srgbClr val="64748B"/>
                </a:solidFill>
                <a:latin typeface="Cairo Medium"/>
                <a:ea typeface="Cairo Medium"/>
                <a:cs typeface="Cairo Medium"/>
                <a:sym typeface="Cairo Medium"/>
              </a:endParaRPr>
            </a:p>
          </p:txBody>
        </p:sp>
        <p:sp>
          <p:nvSpPr>
            <p:cNvPr id="1290" name="Google Shape;1290;p53"/>
            <p:cNvSpPr txBox="1"/>
            <p:nvPr/>
          </p:nvSpPr>
          <p:spPr>
            <a:xfrm>
              <a:off x="5143500" y="40005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50">
                <a:solidFill>
                  <a:srgbClr val="94A3B8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pic>
        <p:nvPicPr>
          <p:cNvPr id="1291" name="Google Shape;1291;p53" title="SAA Logo V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439" y="230019"/>
            <a:ext cx="2705623" cy="9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54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297" name="Google Shape;1297;p54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54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54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0" name="Google Shape;1300;p54"/>
          <p:cNvSpPr txBox="1"/>
          <p:nvPr/>
        </p:nvSpPr>
        <p:spPr>
          <a:xfrm>
            <a:off x="381000" y="209550"/>
            <a:ext cx="800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301" name="Google Shape;1301;p54"/>
          <p:cNvSpPr txBox="1"/>
          <p:nvPr/>
        </p:nvSpPr>
        <p:spPr>
          <a:xfrm>
            <a:off x="381000" y="523875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نحو التحول إلى الصيانة التنبؤية (Predictive Conservation)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302" name="Google Shape;1302;p54"/>
          <p:cNvSpPr/>
          <p:nvPr/>
        </p:nvSpPr>
        <p:spPr>
          <a:xfrm>
            <a:off x="8001000" y="100012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3" name="Google Shape;1303;p54"/>
          <p:cNvGrpSpPr/>
          <p:nvPr/>
        </p:nvGrpSpPr>
        <p:grpSpPr>
          <a:xfrm>
            <a:off x="302825" y="1190625"/>
            <a:ext cx="4000500" cy="2714700"/>
            <a:chOff x="0" y="0"/>
            <a:chExt cx="4000500" cy="2714700"/>
          </a:xfrm>
        </p:grpSpPr>
        <p:sp>
          <p:nvSpPr>
            <p:cNvPr id="1304" name="Google Shape;1304;p54"/>
            <p:cNvSpPr/>
            <p:nvPr/>
          </p:nvSpPr>
          <p:spPr>
            <a:xfrm>
              <a:off x="0" y="0"/>
              <a:ext cx="4000500" cy="27147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54"/>
            <p:cNvSpPr/>
            <p:nvPr/>
          </p:nvSpPr>
          <p:spPr>
            <a:xfrm>
              <a:off x="0" y="0"/>
              <a:ext cx="4000500" cy="457200"/>
            </a:xfrm>
            <a:prstGeom prst="roundRect">
              <a:avLst>
                <a:gd fmla="val 25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54"/>
            <p:cNvSpPr/>
            <p:nvPr/>
          </p:nvSpPr>
          <p:spPr>
            <a:xfrm>
              <a:off x="0" y="314325"/>
              <a:ext cx="4000500" cy="1428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54"/>
            <p:cNvSpPr txBox="1"/>
            <p:nvPr/>
          </p:nvSpPr>
          <p:spPr>
            <a:xfrm>
              <a:off x="142875" y="76200"/>
              <a:ext cx="3714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المراقبة الذكية المعاصرة</a:t>
              </a:r>
              <a:endParaRPr b="1" sz="14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08" name="Google Shape;1308;p54"/>
            <p:cNvSpPr txBox="1"/>
            <p:nvPr/>
          </p:nvSpPr>
          <p:spPr>
            <a:xfrm>
              <a:off x="190500" y="571500"/>
              <a:ext cx="3619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الرصد المبكر الدقيق:</a:t>
              </a:r>
              <a:endParaRPr b="1" sz="1150">
                <a:solidFill>
                  <a:srgbClr val="2C5E4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تعتمد على رصد الإزاحات المليمترية الدقيقة في مهدها الأول، مما يتيح توقع مسار الانهيار قبل حدوثه بعامين كاملين.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1309" name="Google Shape;1309;p54"/>
            <p:cNvSpPr/>
            <p:nvPr/>
          </p:nvSpPr>
          <p:spPr>
            <a:xfrm>
              <a:off x="190500" y="1571625"/>
              <a:ext cx="3619500" cy="952500"/>
            </a:xfrm>
            <a:prstGeom prst="roundRect">
              <a:avLst>
                <a:gd fmla="val 8000" name="adj"/>
              </a:avLst>
            </a:prstGeom>
            <a:solidFill>
              <a:srgbClr val="F0FDF4"/>
            </a:solidFill>
            <a:ln cap="flat" cmpd="sng" w="952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54"/>
            <p:cNvSpPr txBox="1"/>
            <p:nvPr/>
          </p:nvSpPr>
          <p:spPr>
            <a:xfrm>
              <a:off x="285750" y="1647825"/>
              <a:ext cx="3429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الكفاءة المالية والأثر الاستراتيجي:</a:t>
              </a:r>
              <a:endParaRPr b="1" sz="1100">
                <a:solidFill>
                  <a:srgbClr val="2C5E4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يساهم هذا التحول نحو المعالجة الوقائية في خفض تكاليف ميزانيات الترميم والصيانة بنسبة تفوق </a:t>
              </a:r>
              <a:r>
                <a:rPr b="1" lang="en" sz="120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65%</a:t>
              </a: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، مع ضمان حماية استدامة المعالم التاريخية.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11" name="Google Shape;1311;p54"/>
          <p:cNvGrpSpPr/>
          <p:nvPr/>
        </p:nvGrpSpPr>
        <p:grpSpPr>
          <a:xfrm>
            <a:off x="4400550" y="2305050"/>
            <a:ext cx="342900" cy="342900"/>
            <a:chOff x="19050" y="-171450"/>
            <a:chExt cx="342900" cy="342900"/>
          </a:xfrm>
        </p:grpSpPr>
        <p:sp>
          <p:nvSpPr>
            <p:cNvPr id="1312" name="Google Shape;1312;p54"/>
            <p:cNvSpPr/>
            <p:nvPr/>
          </p:nvSpPr>
          <p:spPr>
            <a:xfrm>
              <a:off x="190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54"/>
            <p:cNvSpPr/>
            <p:nvPr/>
          </p:nvSpPr>
          <p:spPr>
            <a:xfrm>
              <a:off x="114300" y="-57150"/>
              <a:ext cx="142800" cy="1143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8000" y="60000"/>
                  </a:lnTo>
                  <a:moveTo>
                    <a:pt x="48000" y="0"/>
                  </a:moveTo>
                  <a:lnTo>
                    <a:pt x="0" y="60000"/>
                  </a:lnTo>
                  <a:lnTo>
                    <a:pt x="4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4" name="Google Shape;1314;p54"/>
          <p:cNvGrpSpPr/>
          <p:nvPr/>
        </p:nvGrpSpPr>
        <p:grpSpPr>
          <a:xfrm>
            <a:off x="4840675" y="1190625"/>
            <a:ext cx="3810000" cy="2714700"/>
            <a:chOff x="0" y="0"/>
            <a:chExt cx="3810000" cy="2714700"/>
          </a:xfrm>
        </p:grpSpPr>
        <p:sp>
          <p:nvSpPr>
            <p:cNvPr id="1315" name="Google Shape;1315;p54"/>
            <p:cNvSpPr/>
            <p:nvPr/>
          </p:nvSpPr>
          <p:spPr>
            <a:xfrm>
              <a:off x="0" y="0"/>
              <a:ext cx="3810000" cy="27147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54"/>
            <p:cNvSpPr/>
            <p:nvPr/>
          </p:nvSpPr>
          <p:spPr>
            <a:xfrm>
              <a:off x="0" y="0"/>
              <a:ext cx="3810000" cy="457200"/>
            </a:xfrm>
            <a:prstGeom prst="roundRect">
              <a:avLst>
                <a:gd fmla="val 25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54"/>
            <p:cNvSpPr/>
            <p:nvPr/>
          </p:nvSpPr>
          <p:spPr>
            <a:xfrm>
              <a:off x="0" y="314325"/>
              <a:ext cx="3810000" cy="1428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54"/>
            <p:cNvSpPr txBox="1"/>
            <p:nvPr/>
          </p:nvSpPr>
          <p:spPr>
            <a:xfrm>
              <a:off x="142875" y="76200"/>
              <a:ext cx="352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</a:rPr>
                <a:t>الترميم العلاجي الكلاسيكي</a:t>
              </a:r>
              <a:endParaRPr b="1" sz="14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19" name="Google Shape;1319;p54"/>
            <p:cNvSpPr txBox="1"/>
            <p:nvPr/>
          </p:nvSpPr>
          <p:spPr>
            <a:xfrm>
              <a:off x="190500" y="571500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64748B"/>
                  </a:solidFill>
                  <a:latin typeface="Tajawal"/>
                  <a:ea typeface="Tajawal"/>
                  <a:cs typeface="Tajawal"/>
                  <a:sym typeface="Tajawal"/>
                </a:rPr>
                <a:t>النهج التقليدي التفاعلي:</a:t>
              </a:r>
              <a:endParaRPr b="1" sz="1150">
                <a:solidFill>
                  <a:srgbClr val="64748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يمثل تدخلاً متأخراً ومكلفاً مالياً، حيث يتم عادة بعد حدوث التصدع الكبير أو انهيار الحجارة في المواقع الأثرية.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1B1B"/>
                  </a:solidFill>
                  <a:highlight>
                    <a:srgbClr val="FEF2F2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مخاطر التكلفة العالية والاستجابة المتأخرة للأضرار الهيكلية.</a:t>
              </a:r>
              <a:endParaRPr b="0" sz="1000">
                <a:solidFill>
                  <a:srgbClr val="991B1B"/>
                </a:solidFill>
                <a:highlight>
                  <a:srgbClr val="FEF2F2"/>
                </a:highlight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320" name="Google Shape;1320;p54"/>
          <p:cNvGrpSpPr/>
          <p:nvPr/>
        </p:nvGrpSpPr>
        <p:grpSpPr>
          <a:xfrm>
            <a:off x="381000" y="4143375"/>
            <a:ext cx="8382000" cy="571500"/>
            <a:chOff x="0" y="0"/>
            <a:chExt cx="8382000" cy="571500"/>
          </a:xfrm>
        </p:grpSpPr>
        <p:sp>
          <p:nvSpPr>
            <p:cNvPr id="1321" name="Google Shape;1321;p54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54"/>
            <p:cNvSpPr txBox="1"/>
            <p:nvPr/>
          </p:nvSpPr>
          <p:spPr>
            <a:xfrm>
              <a:off x="190500" y="76200"/>
              <a:ext cx="8001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FFFFF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التحول الاستراتيجي نحو الصيانة التنبؤية يعزز الكفاءة التشغيلية ويصون التراث الحضاري للشارقة</a:t>
              </a:r>
              <a:endParaRPr b="0" sz="1200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</p:txBody>
        </p:sp>
      </p:grpSp>
      <p:sp>
        <p:nvSpPr>
          <p:cNvPr id="1323" name="Google Shape;1323;p54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8" name="Google Shape;1328;p55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329" name="Google Shape;1329;p55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55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55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2" name="Google Shape;1332;p55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333" name="Google Shape;1333;p55"/>
          <p:cNvSpPr txBox="1"/>
          <p:nvPr/>
        </p:nvSpPr>
        <p:spPr>
          <a:xfrm>
            <a:off x="381000" y="571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35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الرصد الزمني الدقيق: مقارنة السحب النقطية (Point Cloud Comparison)</a:t>
            </a:r>
            <a:endParaRPr b="1" sz="2035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334" name="Google Shape;1334;p55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5" name="Google Shape;1335;p55"/>
          <p:cNvGrpSpPr/>
          <p:nvPr/>
        </p:nvGrpSpPr>
        <p:grpSpPr>
          <a:xfrm>
            <a:off x="381000" y="1476375"/>
            <a:ext cx="8382150" cy="3048000"/>
            <a:chOff x="381000" y="142875"/>
            <a:chExt cx="8382150" cy="3048000"/>
          </a:xfrm>
        </p:grpSpPr>
        <p:pic>
          <p:nvPicPr>
            <p:cNvPr id="1336" name="Google Shape;1336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000" y="142875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7" name="Google Shape;1337;p55"/>
            <p:cNvSpPr txBox="1"/>
            <p:nvPr/>
          </p:nvSpPr>
          <p:spPr>
            <a:xfrm>
              <a:off x="4476750" y="142875"/>
              <a:ext cx="42864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آلية العمل:</a:t>
              </a:r>
              <a:endParaRPr b="1" i="0" sz="130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إجراء مسحين ثلاثيي الأبعاد للموقع التاريخي بفارق زمني محدد، مثل توثيق الحالة قبل موسم الأمطار وبعده لتقييم التأثيرات المناخية.</a:t>
              </a:r>
              <a:endParaRPr b="1" i="0" sz="115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التحليل الخوارزمي:</a:t>
              </a:r>
              <a:endParaRPr b="1" i="0" sz="130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تطبيق خوارزمية M3C2 المتقدمة في برنامج CloudCompare لحساب الفروق الحجمية المتعامدة على الأسطح الأثرية بدقة متناهية.</a:t>
              </a:r>
              <a:endParaRPr b="1" i="0" sz="115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الاكتشاف المبكر:</a:t>
              </a:r>
              <a:endParaRPr b="1" i="0" sz="130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الكشف التلقائي عن فقدان الملاط، تآكل الحجارة اللبنة، زحف الرمال، أو ميول الجدران بدقة تصل إلى 0.5 ملم.</a:t>
              </a:r>
              <a:endParaRPr b="1" i="0" sz="115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1338" name="Google Shape;1338;p55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3" name="Google Shape;1343;p56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344" name="Google Shape;1344;p56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56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56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7" name="Google Shape;1347;p56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348" name="Google Shape;1348;p56"/>
          <p:cNvSpPr txBox="1"/>
          <p:nvPr/>
        </p:nvSpPr>
        <p:spPr>
          <a:xfrm>
            <a:off x="381000" y="571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الفحص الآلي للتشققات (Automated Crack Segmentation)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349" name="Google Shape;1349;p56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0" name="Google Shape;1350;p56"/>
          <p:cNvGrpSpPr/>
          <p:nvPr/>
        </p:nvGrpSpPr>
        <p:grpSpPr>
          <a:xfrm>
            <a:off x="6286500" y="1428750"/>
            <a:ext cx="2476500" cy="3143400"/>
            <a:chOff x="0" y="0"/>
            <a:chExt cx="2476500" cy="3143400"/>
          </a:xfrm>
        </p:grpSpPr>
        <p:sp>
          <p:nvSpPr>
            <p:cNvPr id="1351" name="Google Shape;1351;p56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56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56"/>
            <p:cNvSpPr txBox="1"/>
            <p:nvPr/>
          </p:nvSpPr>
          <p:spPr>
            <a:xfrm>
              <a:off x="0" y="284861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model_training</a:t>
              </a:r>
              <a:endParaRPr sz="32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54" name="Google Shape;1354;p56"/>
            <p:cNvSpPr txBox="1"/>
            <p:nvPr/>
          </p:nvSpPr>
          <p:spPr>
            <a:xfrm>
              <a:off x="190500" y="76200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تدريب النماذج</a:t>
              </a:r>
              <a:endParaRPr b="1" sz="15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55" name="Google Shape;1355;p56"/>
            <p:cNvSpPr/>
            <p:nvPr/>
          </p:nvSpPr>
          <p:spPr>
            <a:xfrm>
              <a:off x="285750" y="1143000"/>
              <a:ext cx="1905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56"/>
            <p:cNvSpPr txBox="1"/>
            <p:nvPr/>
          </p:nvSpPr>
          <p:spPr>
            <a:xfrm>
              <a:off x="190500" y="1285875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الاعتماد على تدريب نماذج التجزئة الدلالية (Semantic Segmentation) للتعرف الدقيق على الشروخ الإنشائية في صور القلاع والأسوار التاريخية.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57" name="Google Shape;1357;p56"/>
          <p:cNvGrpSpPr/>
          <p:nvPr/>
        </p:nvGrpSpPr>
        <p:grpSpPr>
          <a:xfrm>
            <a:off x="3333750" y="1428750"/>
            <a:ext cx="2476500" cy="3143400"/>
            <a:chOff x="0" y="0"/>
            <a:chExt cx="2476500" cy="3143400"/>
          </a:xfrm>
        </p:grpSpPr>
        <p:sp>
          <p:nvSpPr>
            <p:cNvPr id="1358" name="Google Shape;1358;p56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56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56"/>
            <p:cNvSpPr txBox="1"/>
            <p:nvPr/>
          </p:nvSpPr>
          <p:spPr>
            <a:xfrm>
              <a:off x="0" y="284861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sz="32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61" name="Google Shape;1361;p56"/>
            <p:cNvSpPr txBox="1"/>
            <p:nvPr/>
          </p:nvSpPr>
          <p:spPr>
            <a:xfrm>
              <a:off x="190500" y="76200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القياس اللحظي</a:t>
              </a:r>
              <a:endParaRPr b="1" sz="15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62" name="Google Shape;1362;p56"/>
            <p:cNvSpPr/>
            <p:nvPr/>
          </p:nvSpPr>
          <p:spPr>
            <a:xfrm>
              <a:off x="285750" y="1143000"/>
              <a:ext cx="1905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56"/>
            <p:cNvSpPr txBox="1"/>
            <p:nvPr/>
          </p:nvSpPr>
          <p:spPr>
            <a:xfrm>
              <a:off x="190500" y="1285875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توفير قياس آلي ولحظي لطول الشروخ، وأقصى اتساع لها، وحساب نسبتها المئوية من مساحة الواجهة الكلية للمبنى.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64" name="Google Shape;1364;p56"/>
          <p:cNvGrpSpPr/>
          <p:nvPr/>
        </p:nvGrpSpPr>
        <p:grpSpPr>
          <a:xfrm>
            <a:off x="381000" y="1428750"/>
            <a:ext cx="2476500" cy="3143400"/>
            <a:chOff x="0" y="0"/>
            <a:chExt cx="2476500" cy="3143400"/>
          </a:xfrm>
        </p:grpSpPr>
        <p:sp>
          <p:nvSpPr>
            <p:cNvPr id="1365" name="Google Shape;1365;p56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56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56"/>
            <p:cNvSpPr txBox="1"/>
            <p:nvPr/>
          </p:nvSpPr>
          <p:spPr>
            <a:xfrm>
              <a:off x="0" y="284861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category</a:t>
              </a:r>
              <a:endParaRPr sz="32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68" name="Google Shape;1368;p56"/>
            <p:cNvSpPr txBox="1"/>
            <p:nvPr/>
          </p:nvSpPr>
          <p:spPr>
            <a:xfrm>
              <a:off x="190500" y="76200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التصنيف الذكي</a:t>
              </a:r>
              <a:endParaRPr b="1" sz="15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69" name="Google Shape;1369;p56"/>
            <p:cNvSpPr/>
            <p:nvPr/>
          </p:nvSpPr>
          <p:spPr>
            <a:xfrm>
              <a:off x="285750" y="1143000"/>
              <a:ext cx="1905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56"/>
            <p:cNvSpPr txBox="1"/>
            <p:nvPr/>
          </p:nvSpPr>
          <p:spPr>
            <a:xfrm>
              <a:off x="190500" y="1285875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تصنيف أصل التصدع لفهم المسببات، سواء كانت شروخاً حرارية سطحية، أو شروخ إجهاد ناتجة عن هبوط الأساسات، أو تصدعات ناجمة عن الرطوبة وتراكم الأملاح.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371" name="Google Shape;1371;p56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6" name="Google Shape;1376;p57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377" name="Google Shape;1377;p57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57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57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0" name="Google Shape;1380;p57"/>
          <p:cNvSpPr txBox="1"/>
          <p:nvPr/>
        </p:nvSpPr>
        <p:spPr>
          <a:xfrm>
            <a:off x="381000" y="2095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381" name="Google Shape;1381;p57"/>
          <p:cNvSpPr txBox="1"/>
          <p:nvPr/>
        </p:nvSpPr>
        <p:spPr>
          <a:xfrm>
            <a:off x="381000" y="5524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المراقبة الذكية للقى الأثرية داخل المخازن وصالات العرض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382" name="Google Shape;1382;p57"/>
          <p:cNvSpPr/>
          <p:nvPr/>
        </p:nvSpPr>
        <p:spPr>
          <a:xfrm>
            <a:off x="8001000" y="10287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3" name="Google Shape;1383;p57"/>
          <p:cNvGrpSpPr/>
          <p:nvPr/>
        </p:nvGrpSpPr>
        <p:grpSpPr>
          <a:xfrm>
            <a:off x="381000" y="1238250"/>
            <a:ext cx="8382150" cy="1000200"/>
            <a:chOff x="0" y="0"/>
            <a:chExt cx="8382150" cy="1000200"/>
          </a:xfrm>
        </p:grpSpPr>
        <p:sp>
          <p:nvSpPr>
            <p:cNvPr id="1384" name="Google Shape;1384;p57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57"/>
            <p:cNvSpPr/>
            <p:nvPr/>
          </p:nvSpPr>
          <p:spPr>
            <a:xfrm>
              <a:off x="8324850" y="0"/>
              <a:ext cx="57300" cy="10002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57"/>
            <p:cNvSpPr/>
            <p:nvPr/>
          </p:nvSpPr>
          <p:spPr>
            <a:xfrm>
              <a:off x="7753350" y="28575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B23A22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57"/>
            <p:cNvSpPr txBox="1"/>
            <p:nvPr/>
          </p:nvSpPr>
          <p:spPr>
            <a:xfrm>
              <a:off x="7753350" y="320802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b="0" sz="24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88" name="Google Shape;1388;p57"/>
            <p:cNvSpPr txBox="1"/>
            <p:nvPr/>
          </p:nvSpPr>
          <p:spPr>
            <a:xfrm>
              <a:off x="6191250" y="20955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رصد المعادن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Bronze Disease</a:t>
              </a:r>
              <a:endParaRPr b="0" sz="1000">
                <a:solidFill>
                  <a:srgbClr val="64748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cxnSp>
          <p:nvCxnSpPr>
            <p:cNvPr id="1389" name="Google Shape;1389;p57"/>
            <p:cNvCxnSpPr/>
            <p:nvPr/>
          </p:nvCxnSpPr>
          <p:spPr>
            <a:xfrm>
              <a:off x="6048375" y="190500"/>
              <a:ext cx="0" cy="619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0" name="Google Shape;1390;p57"/>
            <p:cNvSpPr txBox="1"/>
            <p:nvPr/>
          </p:nvSpPr>
          <p:spPr>
            <a:xfrm>
              <a:off x="285750" y="142875"/>
              <a:ext cx="5524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التتبع التلقائي لتغير لون المعادن والاكتشاف المبكر لظهور </a:t>
              </a:r>
              <a:r>
                <a:rPr b="1" lang="en" sz="1150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"مرض البرونز" (Bronze Disease)</a:t>
              </a: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 المدمر على المسكوكات والتحف النحاسية.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91" name="Google Shape;1391;p57"/>
          <p:cNvGrpSpPr/>
          <p:nvPr/>
        </p:nvGrpSpPr>
        <p:grpSpPr>
          <a:xfrm>
            <a:off x="381000" y="2381250"/>
            <a:ext cx="8382150" cy="1000200"/>
            <a:chOff x="0" y="0"/>
            <a:chExt cx="8382150" cy="1000200"/>
          </a:xfrm>
        </p:grpSpPr>
        <p:sp>
          <p:nvSpPr>
            <p:cNvPr id="1392" name="Google Shape;1392;p57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8324850" y="0"/>
              <a:ext cx="57300" cy="10002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7753350" y="28575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D9770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57"/>
            <p:cNvSpPr txBox="1"/>
            <p:nvPr/>
          </p:nvSpPr>
          <p:spPr>
            <a:xfrm>
              <a:off x="7753350" y="320802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D9770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center_focus_strong</a:t>
              </a:r>
              <a:endParaRPr b="0" sz="2400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96" name="Google Shape;1396;p57"/>
            <p:cNvSpPr txBox="1"/>
            <p:nvPr/>
          </p:nvSpPr>
          <p:spPr>
            <a:xfrm>
              <a:off x="6191250" y="20955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97706"/>
                  </a:solidFill>
                  <a:latin typeface="Cairo"/>
                  <a:ea typeface="Cairo"/>
                  <a:cs typeface="Cairo"/>
                  <a:sym typeface="Cairo"/>
                </a:rPr>
                <a:t>فحص الفخاريات</a:t>
              </a:r>
              <a:endParaRPr b="1" sz="1500">
                <a:solidFill>
                  <a:srgbClr val="D97706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Computer Vision</a:t>
              </a:r>
              <a:endParaRPr b="0" sz="1000">
                <a:solidFill>
                  <a:srgbClr val="64748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cxnSp>
          <p:nvCxnSpPr>
            <p:cNvPr id="1397" name="Google Shape;1397;p57"/>
            <p:cNvCxnSpPr/>
            <p:nvPr/>
          </p:nvCxnSpPr>
          <p:spPr>
            <a:xfrm>
              <a:off x="6048375" y="190500"/>
              <a:ext cx="0" cy="619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8" name="Google Shape;1398;p57"/>
            <p:cNvSpPr txBox="1"/>
            <p:nvPr/>
          </p:nvSpPr>
          <p:spPr>
            <a:xfrm>
              <a:off x="285750" y="142875"/>
              <a:ext cx="5524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تتبع تقشر طبقات التزجيج على الأواني الفخارية وتكون الأملاح السطحية باستخدام </a:t>
              </a:r>
              <a:r>
                <a:rPr b="1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أنظمة الرؤية الحاسوبية الدورية</a:t>
              </a: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99" name="Google Shape;1399;p57"/>
          <p:cNvGrpSpPr/>
          <p:nvPr/>
        </p:nvGrpSpPr>
        <p:grpSpPr>
          <a:xfrm>
            <a:off x="381000" y="3524250"/>
            <a:ext cx="8382150" cy="1000200"/>
            <a:chOff x="0" y="0"/>
            <a:chExt cx="8382150" cy="1000200"/>
          </a:xfrm>
        </p:grpSpPr>
        <p:sp>
          <p:nvSpPr>
            <p:cNvPr id="1400" name="Google Shape;1400;p57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57"/>
            <p:cNvSpPr/>
            <p:nvPr/>
          </p:nvSpPr>
          <p:spPr>
            <a:xfrm>
              <a:off x="8324850" y="0"/>
              <a:ext cx="57300" cy="10002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57"/>
            <p:cNvSpPr/>
            <p:nvPr/>
          </p:nvSpPr>
          <p:spPr>
            <a:xfrm>
              <a:off x="7753350" y="28575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2C5E43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57"/>
            <p:cNvSpPr txBox="1"/>
            <p:nvPr/>
          </p:nvSpPr>
          <p:spPr>
            <a:xfrm>
              <a:off x="7753350" y="320802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notifications_active</a:t>
              </a:r>
              <a:endParaRPr b="0" sz="24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04" name="Google Shape;1404;p57"/>
            <p:cNvSpPr txBox="1"/>
            <p:nvPr/>
          </p:nvSpPr>
          <p:spPr>
            <a:xfrm>
              <a:off x="6191250" y="20955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88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الاستجابة الفورية</a:t>
              </a:r>
              <a:endParaRPr b="1" sz="1388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64748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Automated Intervention</a:t>
              </a:r>
              <a:endParaRPr b="0" sz="925">
                <a:solidFill>
                  <a:srgbClr val="64748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cxnSp>
          <p:nvCxnSpPr>
            <p:cNvPr id="1405" name="Google Shape;1405;p57"/>
            <p:cNvCxnSpPr/>
            <p:nvPr/>
          </p:nvCxnSpPr>
          <p:spPr>
            <a:xfrm>
              <a:off x="6048375" y="190500"/>
              <a:ext cx="0" cy="619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6" name="Google Shape;1406;p57"/>
            <p:cNvSpPr txBox="1"/>
            <p:nvPr/>
          </p:nvSpPr>
          <p:spPr>
            <a:xfrm>
              <a:off x="285750" y="142875"/>
              <a:ext cx="5524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إرسال تنبيهات فورية لأمناء المتاحف بضرورة </a:t>
              </a:r>
              <a:r>
                <a:rPr b="1" lang="en" sz="115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التدخل الكيميائي السريع</a:t>
              </a: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 أو عزل القطعة الأثرية المتضررة في بيئة محكومة النيتروجين لمنع تفاقم التلف.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407" name="Google Shape;1407;p57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2" name="Google Shape;1412;p5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13" name="Google Shape;1413;p5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14" name="Google Shape;1414;p58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415" name="Google Shape;1415;p58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C5E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58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C5E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58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2C5E4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8" name="Google Shape;1418;p58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C5E4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الصيانة التنبؤية وحماية التراث | هيئة الشارقة للآثار</a:t>
              </a:r>
              <a:endParaRPr b="0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1419" name="Google Shape;1419;p58"/>
            <p:cNvSpPr/>
            <p:nvPr/>
          </p:nvSpPr>
          <p:spPr>
            <a:xfrm>
              <a:off x="8001000" y="109537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58"/>
            <p:cNvSpPr/>
            <p:nvPr/>
          </p:nvSpPr>
          <p:spPr>
            <a:xfrm>
              <a:off x="381000" y="4886325"/>
              <a:ext cx="8382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1" name="Google Shape;1421;p58"/>
          <p:cNvSpPr txBox="1"/>
          <p:nvPr/>
        </p:nvSpPr>
        <p:spPr>
          <a:xfrm>
            <a:off x="381000" y="5715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مجابهة التهديدات البيئية وفق معايير مشروع </a:t>
            </a:r>
            <a:r>
              <a:rPr b="1" lang="en" sz="24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EAMENA</a:t>
            </a:r>
            <a:endParaRPr b="1" sz="24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1422" name="Google Shape;1422;p58"/>
          <p:cNvGrpSpPr/>
          <p:nvPr/>
        </p:nvGrpSpPr>
        <p:grpSpPr>
          <a:xfrm>
            <a:off x="6286500" y="1524000"/>
            <a:ext cx="2476500" cy="3048000"/>
            <a:chOff x="0" y="0"/>
            <a:chExt cx="2476500" cy="3048000"/>
          </a:xfrm>
        </p:grpSpPr>
        <p:sp>
          <p:nvSpPr>
            <p:cNvPr id="1423" name="Google Shape;1423;p58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5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58"/>
            <p:cNvSpPr/>
            <p:nvPr/>
          </p:nvSpPr>
          <p:spPr>
            <a:xfrm>
              <a:off x="0" y="0"/>
              <a:ext cx="2476500" cy="666900"/>
            </a:xfrm>
            <a:prstGeom prst="roundRect">
              <a:avLst>
                <a:gd fmla="val 11428" name="adj"/>
              </a:avLst>
            </a:prstGeom>
            <a:solidFill>
              <a:srgbClr val="2C5E43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58"/>
            <p:cNvSpPr txBox="1"/>
            <p:nvPr/>
          </p:nvSpPr>
          <p:spPr>
            <a:xfrm>
              <a:off x="0" y="147828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water</a:t>
              </a:r>
              <a:endParaRPr sz="36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27" name="Google Shape;1427;p58"/>
            <p:cNvSpPr txBox="1"/>
            <p:nvPr/>
          </p:nvSpPr>
          <p:spPr>
            <a:xfrm>
              <a:off x="142875" y="80962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المخاطر الهيدرولوجية</a:t>
              </a:r>
              <a:endParaRPr b="1" sz="1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نمذجة مخاطر السيول ومجاري الوديان الجارفة وتقييم تأثيرها المباشر على المواقع الأثرية المفتوحة في إمارة الشارقة.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428" name="Google Shape;1428;p58"/>
          <p:cNvGrpSpPr/>
          <p:nvPr/>
        </p:nvGrpSpPr>
        <p:grpSpPr>
          <a:xfrm>
            <a:off x="3333750" y="1524000"/>
            <a:ext cx="2476500" cy="3048000"/>
            <a:chOff x="0" y="0"/>
            <a:chExt cx="2476500" cy="3048000"/>
          </a:xfrm>
        </p:grpSpPr>
        <p:sp>
          <p:nvSpPr>
            <p:cNvPr id="1429" name="Google Shape;1429;p58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5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58"/>
            <p:cNvSpPr/>
            <p:nvPr/>
          </p:nvSpPr>
          <p:spPr>
            <a:xfrm>
              <a:off x="0" y="0"/>
              <a:ext cx="2476500" cy="666900"/>
            </a:xfrm>
            <a:prstGeom prst="roundRect">
              <a:avLst>
                <a:gd fmla="val 11428" name="adj"/>
              </a:avLst>
            </a:prstGeom>
            <a:solidFill>
              <a:srgbClr val="2C5E43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58"/>
            <p:cNvSpPr txBox="1"/>
            <p:nvPr/>
          </p:nvSpPr>
          <p:spPr>
            <a:xfrm>
              <a:off x="0" y="147828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air</a:t>
              </a:r>
              <a:endParaRPr sz="36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33" name="Google Shape;1433;p58"/>
            <p:cNvSpPr txBox="1"/>
            <p:nvPr/>
          </p:nvSpPr>
          <p:spPr>
            <a:xfrm>
              <a:off x="142875" y="80962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التعرية الريحية</a:t>
              </a:r>
              <a:endParaRPr b="1" sz="1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تتبع زحف الكثبان الرملية وتأثير الرياح السافي (Sand Abrasion) على تسريع وتيرة تآكل النقوش الصخرية التاريخية.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434" name="Google Shape;1434;p58"/>
          <p:cNvGrpSpPr/>
          <p:nvPr/>
        </p:nvGrpSpPr>
        <p:grpSpPr>
          <a:xfrm>
            <a:off x="381000" y="1524000"/>
            <a:ext cx="2476500" cy="3048000"/>
            <a:chOff x="0" y="0"/>
            <a:chExt cx="2476500" cy="3048000"/>
          </a:xfrm>
        </p:grpSpPr>
        <p:sp>
          <p:nvSpPr>
            <p:cNvPr id="1435" name="Google Shape;1435;p58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58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58"/>
            <p:cNvSpPr/>
            <p:nvPr/>
          </p:nvSpPr>
          <p:spPr>
            <a:xfrm>
              <a:off x="0" y="0"/>
              <a:ext cx="2476500" cy="666900"/>
            </a:xfrm>
            <a:prstGeom prst="roundRect">
              <a:avLst>
                <a:gd fmla="val 11428" name="adj"/>
              </a:avLst>
            </a:prstGeom>
            <a:solidFill>
              <a:srgbClr val="2C5E43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58"/>
            <p:cNvSpPr txBox="1"/>
            <p:nvPr/>
          </p:nvSpPr>
          <p:spPr>
            <a:xfrm>
              <a:off x="0" y="147828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36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39" name="Google Shape;1439;p58"/>
            <p:cNvSpPr txBox="1"/>
            <p:nvPr/>
          </p:nvSpPr>
          <p:spPr>
            <a:xfrm>
              <a:off x="142875" y="80962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التقارير المؤتمتة</a:t>
              </a:r>
              <a:endParaRPr b="1" sz="1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أتمتة إصدار تقارير تقييم التهديدات البيئية لتحديد المواقع ذات الأولوية القصوى التي تتطلب خطط حماية عاجلة وتدخلات وقائية صارمة.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4" name="Google Shape;1444;p59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445" name="Google Shape;1445;p59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59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59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8" name="Google Shape;1448;p59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449" name="Google Shape;1449;p59"/>
          <p:cNvSpPr txBox="1"/>
          <p:nvPr/>
        </p:nvSpPr>
        <p:spPr>
          <a:xfrm>
            <a:off x="381000" y="52387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مصفوفة الاستجابة والتدخل السريع لفرق الترميم</a:t>
            </a:r>
            <a:endParaRPr b="1" sz="24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450" name="Google Shape;1450;p59"/>
          <p:cNvSpPr/>
          <p:nvPr/>
        </p:nvSpPr>
        <p:spPr>
          <a:xfrm>
            <a:off x="8001000" y="10668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1" name="Google Shape;1451;p59"/>
          <p:cNvGrpSpPr/>
          <p:nvPr/>
        </p:nvGrpSpPr>
        <p:grpSpPr>
          <a:xfrm>
            <a:off x="5715000" y="1428750"/>
            <a:ext cx="3048000" cy="714300"/>
            <a:chOff x="0" y="0"/>
            <a:chExt cx="3048000" cy="714300"/>
          </a:xfrm>
        </p:grpSpPr>
        <p:sp>
          <p:nvSpPr>
            <p:cNvPr id="1452" name="Google Shape;1452;p59"/>
            <p:cNvSpPr/>
            <p:nvPr/>
          </p:nvSpPr>
          <p:spPr>
            <a:xfrm>
              <a:off x="0" y="0"/>
              <a:ext cx="3048000" cy="714300"/>
            </a:xfrm>
            <a:prstGeom prst="roundRect">
              <a:avLst>
                <a:gd fmla="val 10666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9"/>
            <p:cNvSpPr txBox="1"/>
            <p:nvPr/>
          </p:nvSpPr>
          <p:spPr>
            <a:xfrm>
              <a:off x="95250" y="9525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المستوى الأحمر (تدخل عاجل)</a:t>
              </a:r>
              <a:endParaRPr b="1" sz="14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1454" name="Google Shape;1454;p59"/>
          <p:cNvSpPr txBox="1"/>
          <p:nvPr/>
        </p:nvSpPr>
        <p:spPr>
          <a:xfrm>
            <a:off x="381000" y="1428750"/>
            <a:ext cx="5048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rPr>
              <a:t>المؤشر: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ينذر بوجود ميول هيكلي خطير أو شروخ نافذة متسارعة.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rPr>
              <a:t>الإجراء الفوري: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إيقاف الزيارات وتدخل فريق الترميم بشكل عاجل.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1455" name="Google Shape;1455;p59"/>
          <p:cNvGrpSpPr/>
          <p:nvPr/>
        </p:nvGrpSpPr>
        <p:grpSpPr>
          <a:xfrm>
            <a:off x="5715000" y="2381250"/>
            <a:ext cx="3048000" cy="714300"/>
            <a:chOff x="0" y="0"/>
            <a:chExt cx="3048000" cy="714300"/>
          </a:xfrm>
        </p:grpSpPr>
        <p:sp>
          <p:nvSpPr>
            <p:cNvPr id="1456" name="Google Shape;1456;p59"/>
            <p:cNvSpPr/>
            <p:nvPr/>
          </p:nvSpPr>
          <p:spPr>
            <a:xfrm>
              <a:off x="0" y="0"/>
              <a:ext cx="3048000" cy="714300"/>
            </a:xfrm>
            <a:prstGeom prst="roundRect">
              <a:avLst>
                <a:gd fmla="val 10666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59"/>
            <p:cNvSpPr txBox="1"/>
            <p:nvPr/>
          </p:nvSpPr>
          <p:spPr>
            <a:xfrm>
              <a:off x="95250" y="9525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المستوى الأصفر (مراقبة مشددة)</a:t>
              </a:r>
              <a:endParaRPr b="1" sz="14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1458" name="Google Shape;1458;p59"/>
          <p:cNvSpPr txBox="1"/>
          <p:nvPr/>
        </p:nvSpPr>
        <p:spPr>
          <a:xfrm>
            <a:off x="381000" y="2381250"/>
            <a:ext cx="5048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97706"/>
                </a:solidFill>
                <a:latin typeface="Tajawal"/>
                <a:ea typeface="Tajawal"/>
                <a:cs typeface="Tajawal"/>
                <a:sym typeface="Tajawal"/>
              </a:rPr>
              <a:t>المؤشر: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يدل على اتساع طفيف في الشروخ أو رصد رطوبة متزايدة.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97706"/>
                </a:solidFill>
                <a:latin typeface="Tajawal"/>
                <a:ea typeface="Tajawal"/>
                <a:cs typeface="Tajawal"/>
                <a:sym typeface="Tajawal"/>
              </a:rPr>
              <a:t>الإجراء المطلوب: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تكثيف الفحص الميداني ليصبح كل 3 أشهر.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1459" name="Google Shape;1459;p59"/>
          <p:cNvGrpSpPr/>
          <p:nvPr/>
        </p:nvGrpSpPr>
        <p:grpSpPr>
          <a:xfrm>
            <a:off x="5715000" y="3333750"/>
            <a:ext cx="3048000" cy="714300"/>
            <a:chOff x="0" y="0"/>
            <a:chExt cx="3048000" cy="714300"/>
          </a:xfrm>
        </p:grpSpPr>
        <p:sp>
          <p:nvSpPr>
            <p:cNvPr id="1460" name="Google Shape;1460;p59"/>
            <p:cNvSpPr/>
            <p:nvPr/>
          </p:nvSpPr>
          <p:spPr>
            <a:xfrm>
              <a:off x="0" y="0"/>
              <a:ext cx="3048000" cy="714300"/>
            </a:xfrm>
            <a:prstGeom prst="roundRect">
              <a:avLst>
                <a:gd fmla="val 10666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9"/>
            <p:cNvSpPr txBox="1"/>
            <p:nvPr/>
          </p:nvSpPr>
          <p:spPr>
            <a:xfrm>
              <a:off x="95250" y="9525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المستوى الأخضر (طبيعي ومستقر)</a:t>
              </a:r>
              <a:endParaRPr b="1" sz="14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1462" name="Google Shape;1462;p59"/>
          <p:cNvSpPr txBox="1"/>
          <p:nvPr/>
        </p:nvSpPr>
        <p:spPr>
          <a:xfrm>
            <a:off x="381000" y="3333750"/>
            <a:ext cx="5048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C5E43"/>
                </a:solidFill>
                <a:latin typeface="Tajawal"/>
                <a:ea typeface="Tajawal"/>
                <a:cs typeface="Tajawal"/>
                <a:sym typeface="Tajawal"/>
              </a:rPr>
              <a:t>المؤشر: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يشير إلى تآكل سطحي يقل عن 0.5 ملم.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C5E43"/>
                </a:solidFill>
                <a:latin typeface="Tajawal"/>
                <a:ea typeface="Tajawal"/>
                <a:cs typeface="Tajawal"/>
                <a:sym typeface="Tajawal"/>
              </a:rPr>
              <a:t>الإجراء المطلوب: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الاستمرار في المسح الدوري المجدول سنوياً.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463" name="Google Shape;1463;p59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8" name="Google Shape;1468;p60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469" name="Google Shape;1469;p60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0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0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2" name="Google Shape;1472;p60"/>
          <p:cNvSpPr txBox="1"/>
          <p:nvPr/>
        </p:nvSpPr>
        <p:spPr>
          <a:xfrm>
            <a:off x="381000" y="2095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473" name="Google Shape;1473;p60"/>
          <p:cNvSpPr txBox="1"/>
          <p:nvPr/>
        </p:nvSpPr>
        <p:spPr>
          <a:xfrm>
            <a:off x="381000" y="5524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من الفحص الميداني إلى التقرير التنفيذي المعتمد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474" name="Google Shape;1474;p60"/>
          <p:cNvSpPr/>
          <p:nvPr/>
        </p:nvSpPr>
        <p:spPr>
          <a:xfrm>
            <a:off x="8001000" y="10477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5" name="Google Shape;1475;p60"/>
          <p:cNvGrpSpPr/>
          <p:nvPr/>
        </p:nvGrpSpPr>
        <p:grpSpPr>
          <a:xfrm>
            <a:off x="4762500" y="1352550"/>
            <a:ext cx="4000500" cy="3286200"/>
            <a:chOff x="0" y="0"/>
            <a:chExt cx="4000500" cy="3286200"/>
          </a:xfrm>
        </p:grpSpPr>
        <p:sp>
          <p:nvSpPr>
            <p:cNvPr id="1476" name="Google Shape;1476;p60"/>
            <p:cNvSpPr/>
            <p:nvPr/>
          </p:nvSpPr>
          <p:spPr>
            <a:xfrm>
              <a:off x="0" y="0"/>
              <a:ext cx="4000500" cy="3286200"/>
            </a:xfrm>
            <a:prstGeom prst="roundRect">
              <a:avLst>
                <a:gd fmla="val 289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60"/>
            <p:cNvSpPr/>
            <p:nvPr/>
          </p:nvSpPr>
          <p:spPr>
            <a:xfrm>
              <a:off x="0" y="0"/>
              <a:ext cx="4000500" cy="47700"/>
            </a:xfrm>
            <a:prstGeom prst="roundRect">
              <a:avLst>
                <a:gd fmla="val 4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0"/>
            <p:cNvSpPr txBox="1"/>
            <p:nvPr/>
          </p:nvSpPr>
          <p:spPr>
            <a:xfrm>
              <a:off x="3381375" y="231394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picture_as_pdf</a:t>
              </a:r>
              <a:endParaRPr sz="28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79" name="Google Shape;1479;p60"/>
            <p:cNvSpPr txBox="1"/>
            <p:nvPr/>
          </p:nvSpPr>
          <p:spPr>
            <a:xfrm>
              <a:off x="190500" y="190500"/>
              <a:ext cx="3095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التوليد التلقائي للتقارير الفنية</a:t>
              </a:r>
              <a:endParaRPr b="1" sz="15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cxnSp>
          <p:nvCxnSpPr>
            <p:cNvPr id="1480" name="Google Shape;1480;p60"/>
            <p:cNvCxnSpPr/>
            <p:nvPr/>
          </p:nvCxnSpPr>
          <p:spPr>
            <a:xfrm>
              <a:off x="190500" y="714375"/>
              <a:ext cx="3619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1" name="Google Shape;1481;p60"/>
            <p:cNvSpPr txBox="1"/>
            <p:nvPr/>
          </p:nvSpPr>
          <p:spPr>
            <a:xfrm>
              <a:off x="190500" y="838200"/>
              <a:ext cx="3619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إمكانية توليد تقرير فني شامل للحالة الإنشائية </a:t>
              </a:r>
              <a:r>
                <a:rPr b="1" i="0" lang="en" sz="1150" u="none" strike="noStrike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(Condition Reports)</a:t>
              </a: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 بصيغة PDF بضغطة زر واحدة.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i="0" lang="en" sz="1150" u="none" strike="noStrike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يتضمن التقرير البيانات التشخيصية التالية: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10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الصور الحرارية وتحليلات الإجهاد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قياس أطوال الشروخ ومعدلات الاتساع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التغيرات الهندسية والرصد الهيكلي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التوصيات الفنية والحلول المباشرة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482" name="Google Shape;1482;p60"/>
          <p:cNvGrpSpPr/>
          <p:nvPr/>
        </p:nvGrpSpPr>
        <p:grpSpPr>
          <a:xfrm>
            <a:off x="381000" y="1352550"/>
            <a:ext cx="4000500" cy="3286200"/>
            <a:chOff x="0" y="0"/>
            <a:chExt cx="4000500" cy="3286200"/>
          </a:xfrm>
        </p:grpSpPr>
        <p:sp>
          <p:nvSpPr>
            <p:cNvPr id="1483" name="Google Shape;1483;p60"/>
            <p:cNvSpPr/>
            <p:nvPr/>
          </p:nvSpPr>
          <p:spPr>
            <a:xfrm>
              <a:off x="0" y="0"/>
              <a:ext cx="4000500" cy="3286200"/>
            </a:xfrm>
            <a:prstGeom prst="roundRect">
              <a:avLst>
                <a:gd fmla="val 289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60"/>
            <p:cNvSpPr/>
            <p:nvPr/>
          </p:nvSpPr>
          <p:spPr>
            <a:xfrm>
              <a:off x="0" y="0"/>
              <a:ext cx="40005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0"/>
            <p:cNvSpPr txBox="1"/>
            <p:nvPr/>
          </p:nvSpPr>
          <p:spPr>
            <a:xfrm>
              <a:off x="3381375" y="231394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8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86" name="Google Shape;1486;p60"/>
            <p:cNvSpPr txBox="1"/>
            <p:nvPr/>
          </p:nvSpPr>
          <p:spPr>
            <a:xfrm>
              <a:off x="190500" y="190500"/>
              <a:ext cx="3095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المتابعة القيادية اللحظية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cxnSp>
          <p:nvCxnSpPr>
            <p:cNvPr id="1487" name="Google Shape;1487;p60"/>
            <p:cNvCxnSpPr/>
            <p:nvPr/>
          </p:nvCxnSpPr>
          <p:spPr>
            <a:xfrm>
              <a:off x="190500" y="714375"/>
              <a:ext cx="3619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8" name="Google Shape;1488;p60"/>
            <p:cNvSpPr txBox="1"/>
            <p:nvPr/>
          </p:nvSpPr>
          <p:spPr>
            <a:xfrm>
              <a:off x="190500" y="838200"/>
              <a:ext cx="3619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يتم رفع التقارير بشكل تلقائي ومباشر إلى لوحة التحكم </a:t>
              </a:r>
              <a:r>
                <a:rPr b="1" lang="en" sz="115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(Dashboard)</a:t>
              </a: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 التنفيذية الخاصة بسعادة مدير الهيئة.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أبرز المزايا التشغيلية للوحة القيادة:</a:t>
              </a:r>
              <a:endParaRPr b="1" sz="115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متابعة سلامة كافة المواقع الأثرية لحظياً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شفافية تامة في تقديم البيانات والمؤشرات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دعم التجاوب الفوري واتخاذ القرارات الوقائية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489" name="Google Shape;1489;p60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4" name="Google Shape;1494;p61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495" name="Google Shape;1495;p61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61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61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8" name="Google Shape;1498;p61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خطة تحديث الأنظمة والمنصات الرقمية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499" name="Google Shape;1499;p61"/>
          <p:cNvSpPr txBox="1"/>
          <p:nvPr/>
        </p:nvSpPr>
        <p:spPr>
          <a:xfrm>
            <a:off x="381000" y="571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خارطة طريق التحول الرقمي لهيئة الشارقة للآثار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00" name="Google Shape;1500;p61"/>
          <p:cNvSpPr/>
          <p:nvPr/>
        </p:nvSpPr>
        <p:spPr>
          <a:xfrm>
            <a:off x="8001000" y="11239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1" name="Google Shape;1501;p61"/>
          <p:cNvCxnSpPr/>
          <p:nvPr/>
        </p:nvCxnSpPr>
        <p:spPr>
          <a:xfrm>
            <a:off x="952500" y="2000250"/>
            <a:ext cx="7239000" cy="0"/>
          </a:xfrm>
          <a:prstGeom prst="straightConnector1">
            <a:avLst/>
          </a:prstGeom>
          <a:solidFill>
            <a:srgbClr val="FFFFFF"/>
          </a:solidFill>
          <a:ln cap="rnd" cmpd="sng" w="28575">
            <a:solidFill>
              <a:srgbClr val="2C5E4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02" name="Google Shape;1502;p61"/>
          <p:cNvGrpSpPr/>
          <p:nvPr/>
        </p:nvGrpSpPr>
        <p:grpSpPr>
          <a:xfrm>
            <a:off x="6238875" y="1857375"/>
            <a:ext cx="1905000" cy="2571825"/>
            <a:chOff x="-809625" y="0"/>
            <a:chExt cx="1905000" cy="2571825"/>
          </a:xfrm>
        </p:grpSpPr>
        <p:sp>
          <p:nvSpPr>
            <p:cNvPr id="1503" name="Google Shape;1503;p61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61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١</a:t>
              </a:r>
              <a:endParaRPr b="1" sz="11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05" name="Google Shape;1505;p61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61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61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61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البنية التحتية</a:t>
              </a:r>
              <a:endParaRPr b="1" sz="125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تأسيس "مستودع التوائم الرقمية المركزي" لحفظ كافة المسوحات ثلاثية الأبعاد لمواقع الشارقة بشكل آمن.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09" name="Google Shape;1509;p61"/>
          <p:cNvGrpSpPr/>
          <p:nvPr/>
        </p:nvGrpSpPr>
        <p:grpSpPr>
          <a:xfrm>
            <a:off x="4333875" y="1857375"/>
            <a:ext cx="1905000" cy="2571825"/>
            <a:chOff x="-809625" y="0"/>
            <a:chExt cx="1905000" cy="2571825"/>
          </a:xfrm>
        </p:grpSpPr>
        <p:sp>
          <p:nvSpPr>
            <p:cNvPr id="1510" name="Google Shape;1510;p61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61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٢</a:t>
              </a:r>
              <a:endParaRPr b="1" sz="11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12" name="Google Shape;1512;p61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61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1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1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بروتوكولات العمل</a:t>
              </a:r>
              <a:endParaRPr b="1" sz="125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اعتماد بروتوكول المسح بالاستشعار عن بعد والرادار كخطوة إلزامية سابقة لأي موسم تنقيب ميداني.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16" name="Google Shape;1516;p61"/>
          <p:cNvGrpSpPr/>
          <p:nvPr/>
        </p:nvGrpSpPr>
        <p:grpSpPr>
          <a:xfrm>
            <a:off x="2428875" y="1857375"/>
            <a:ext cx="1905000" cy="2571825"/>
            <a:chOff x="-809625" y="0"/>
            <a:chExt cx="1905000" cy="2571825"/>
          </a:xfrm>
        </p:grpSpPr>
        <p:sp>
          <p:nvSpPr>
            <p:cNvPr id="1517" name="Google Shape;1517;p61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1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٣</a:t>
              </a:r>
              <a:endParaRPr b="1" sz="11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19" name="Google Shape;1519;p61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61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1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1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التغطية الجغرافية</a:t>
              </a:r>
              <a:endParaRPr b="1" sz="125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تدشين نظام الرصد السنوي رباعي الأبعاد لحصون وقلاع الشارقة التاريخية في الساحل الشرقي والمناطق الوسطى.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23" name="Google Shape;1523;p61"/>
          <p:cNvGrpSpPr/>
          <p:nvPr/>
        </p:nvGrpSpPr>
        <p:grpSpPr>
          <a:xfrm>
            <a:off x="523875" y="1857375"/>
            <a:ext cx="1905000" cy="2571825"/>
            <a:chOff x="-809625" y="0"/>
            <a:chExt cx="1905000" cy="2571825"/>
          </a:xfrm>
        </p:grpSpPr>
        <p:sp>
          <p:nvSpPr>
            <p:cNvPr id="1524" name="Google Shape;1524;p61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61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٤</a:t>
              </a:r>
              <a:endParaRPr b="1" sz="11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26" name="Google Shape;1526;p61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1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1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1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بناء القدرات</a:t>
              </a:r>
              <a:endParaRPr b="1" sz="125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تدريب وتأهيل الكوادر الوطنية الشابة بالهيئة على أحدث أدوات المسح، وتحليل البيانات المكانية باستخدام الذكاء الاصطناعي.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530" name="Google Shape;1530;p61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