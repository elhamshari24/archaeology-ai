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Cairo SemiBold"/>
      <p:regular r:id="rId15"/>
      <p:bold r:id="rId16"/>
    </p:embeddedFont>
    <p:embeddedFont>
      <p:font typeface="Cairo"/>
      <p:bold r:id="rId17"/>
    </p:embeddedFont>
    <p:embeddedFont>
      <p:font typeface="Tajawal Medium"/>
      <p:regular r:id="rId18"/>
      <p:bold r:id="rId19"/>
    </p:embeddedFont>
    <p:embeddedFont>
      <p:font typeface="Tajawal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jawal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Tajawal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iro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Cairo-bold.fntdata"/><Relationship Id="rId16" Type="http://schemas.openxmlformats.org/officeDocument/2006/relationships/font" Target="fonts/Cairo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TajawalMedium-bold.fntdata"/><Relationship Id="rId6" Type="http://schemas.openxmlformats.org/officeDocument/2006/relationships/slide" Target="slides/slide1.xml"/><Relationship Id="rId18" Type="http://schemas.openxmlformats.org/officeDocument/2006/relationships/font" Target="fonts/Tajawal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d04eb988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d04eb988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bd04eb988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bd04eb988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bd04eb988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bd04eb988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bd04eb988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bd04eb988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bd04eb988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bd04eb988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bd04eb988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bd04eb988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bd04eb988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bd04eb988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bd04eb988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bd04eb988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bd04eb988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fbd04eb988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d04eb988_8_0)">
  <p:cSld name="Generated (g3fbd04eb988_8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5594011" y="190509"/>
            <a:ext cx="3150641" cy="990667"/>
            <a:chOff x="4191000" y="190500"/>
            <a:chExt cx="4552950" cy="1431600"/>
          </a:xfrm>
        </p:grpSpPr>
        <p:pic>
          <p:nvPicPr>
            <p:cNvPr id="56" name="Google Shape;5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91000" y="190500"/>
              <a:ext cx="3999900" cy="1431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" name="Google Shape;57;p14"/>
            <p:cNvGrpSpPr/>
            <p:nvPr/>
          </p:nvGrpSpPr>
          <p:grpSpPr>
            <a:xfrm>
              <a:off x="8401050" y="400050"/>
              <a:ext cx="342900" cy="342900"/>
              <a:chOff x="19050" y="19050"/>
              <a:chExt cx="342900" cy="34290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320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320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666875"/>
            <a:ext cx="3905400" cy="2196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14"/>
          <p:cNvGrpSpPr/>
          <p:nvPr/>
        </p:nvGrpSpPr>
        <p:grpSpPr>
          <a:xfrm>
            <a:off x="4286250" y="1666875"/>
            <a:ext cx="4476900" cy="2038350"/>
            <a:chOff x="0" y="0"/>
            <a:chExt cx="4476900" cy="2038350"/>
          </a:xfrm>
        </p:grpSpPr>
        <p:sp>
          <p:nvSpPr>
            <p:cNvPr id="63" name="Google Shape;63;p14"/>
            <p:cNvSpPr txBox="1"/>
            <p:nvPr/>
          </p:nvSpPr>
          <p:spPr>
            <a:xfrm>
              <a:off x="0" y="0"/>
              <a:ext cx="4476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600" u="none" strike="noStrike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التوثيق الميداني الذكي</a:t>
              </a:r>
              <a:br>
                <a:rPr b="1" i="0" lang="en" sz="2600" u="none" strike="noStrike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</a:br>
              <a:r>
                <a:rPr b="1" i="0" lang="en" sz="2600" u="none" strike="noStrike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والتوائم الرقمية </a:t>
              </a:r>
              <a:br>
                <a:rPr b="1" i="0" lang="en" sz="2600" u="none" strike="noStrike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</a:br>
              <a:r>
                <a:rPr b="1" i="0" lang="en" sz="2600" u="none" strike="noStrike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(3D Digital Twins)</a:t>
              </a:r>
              <a:endParaRPr b="1" i="0" sz="2600" u="none" strike="noStrike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i="0" lang="en" sz="1350" u="none" strike="noStrike">
                  <a:solidFill>
                    <a:srgbClr val="5C403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حوسبة الحفريات والتسجيل الميداني المتقدم</a:t>
              </a:r>
              <a:endParaRPr b="1" i="0" sz="1350" u="none" strike="noStrike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714750" y="20002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381000" y="419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هيئة الشارقة للآثار — حكومة الشارقة</a:t>
            </a:r>
            <a:endParaRPr b="1" sz="14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5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71" name="Google Shape;71;p15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15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b="0" sz="105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75" name="Google Shape;75;p15"/>
          <p:cNvGrpSpPr/>
          <p:nvPr/>
        </p:nvGrpSpPr>
        <p:grpSpPr>
          <a:xfrm>
            <a:off x="381000" y="619125"/>
            <a:ext cx="8382000" cy="438150"/>
            <a:chOff x="0" y="0"/>
            <a:chExt cx="8382000" cy="438150"/>
          </a:xfrm>
        </p:grpSpPr>
        <p:sp>
          <p:nvSpPr>
            <p:cNvPr id="76" name="Google Shape;76;p15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التوأم الرقمي: حفظ السياق الطبقي وتجميد الزمن الأثري</a:t>
              </a:r>
              <a:endParaRPr b="1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7620000" y="4000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5"/>
          <p:cNvSpPr txBox="1"/>
          <p:nvPr/>
        </p:nvSpPr>
        <p:spPr>
          <a:xfrm>
            <a:off x="381000" y="1162050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تحويل الحفريات غير القابلة للتكرار إلى بيئات تفاعلية ثلاثية الأبعاد تضمن استدامة المعرفة</a:t>
            </a:r>
            <a:endParaRPr b="0" sz="125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6191250" y="1666875"/>
            <a:ext cx="2571900" cy="2905200"/>
            <a:chOff x="0" y="0"/>
            <a:chExt cx="2571900" cy="2905200"/>
          </a:xfrm>
        </p:grpSpPr>
        <p:sp>
          <p:nvSpPr>
            <p:cNvPr id="80" name="Google Shape;80;p15"/>
            <p:cNvSpPr/>
            <p:nvPr/>
          </p:nvSpPr>
          <p:spPr>
            <a:xfrm>
              <a:off x="0" y="0"/>
              <a:ext cx="2571900" cy="2905200"/>
            </a:xfrm>
            <a:prstGeom prst="roundRect">
              <a:avLst>
                <a:gd fmla="val 370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0" y="38100"/>
              <a:ext cx="2571900" cy="428700"/>
            </a:xfrm>
            <a:prstGeom prst="roundRect">
              <a:avLst>
                <a:gd fmla="val 22222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0" y="276225"/>
              <a:ext cx="2571900" cy="190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95250" y="11430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طبيعة الحفرية الأثرية</a:t>
              </a:r>
              <a:endParaRPr b="1" sz="13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142875" y="590550"/>
              <a:ext cx="2286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عملية تدميرية بطبيعتها: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إزالة الطبقات الترابية أثناء التنقيب هي إجراء ينتهي بإزالة الشواهد الفيزيائية نهائياً.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غير قابلة للتكرار: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لا يمكن إعادة الموقع إلى حالته الأصليـة أو إعادة إجراء الحفرية في الميدان مرة أخرى.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86" name="Google Shape;86;p15"/>
          <p:cNvSpPr/>
          <p:nvPr/>
        </p:nvSpPr>
        <p:spPr>
          <a:xfrm>
            <a:off x="5934075" y="2990850"/>
            <a:ext cx="162000" cy="114300"/>
          </a:xfrm>
          <a:custGeom>
            <a:rect b="b" l="l" r="r" t="t"/>
            <a:pathLst>
              <a:path extrusionOk="0" h="120000" w="120000">
                <a:moveTo>
                  <a:pt x="120000" y="60000"/>
                </a:moveTo>
                <a:lnTo>
                  <a:pt x="14118" y="60000"/>
                </a:lnTo>
                <a:moveTo>
                  <a:pt x="49412" y="0"/>
                </a:moveTo>
                <a:lnTo>
                  <a:pt x="0" y="60000"/>
                </a:lnTo>
                <a:lnTo>
                  <a:pt x="49412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19050">
            <a:solidFill>
              <a:srgbClr val="8B5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5"/>
          <p:cNvGrpSpPr/>
          <p:nvPr/>
        </p:nvGrpSpPr>
        <p:grpSpPr>
          <a:xfrm>
            <a:off x="3286125" y="1666875"/>
            <a:ext cx="2571900" cy="2905200"/>
            <a:chOff x="0" y="0"/>
            <a:chExt cx="2571900" cy="2905200"/>
          </a:xfrm>
        </p:grpSpPr>
        <p:sp>
          <p:nvSpPr>
            <p:cNvPr id="88" name="Google Shape;88;p15"/>
            <p:cNvSpPr/>
            <p:nvPr/>
          </p:nvSpPr>
          <p:spPr>
            <a:xfrm>
              <a:off x="0" y="0"/>
              <a:ext cx="2571900" cy="2905200"/>
            </a:xfrm>
            <a:prstGeom prst="roundRect">
              <a:avLst>
                <a:gd fmla="val 3703" name="adj"/>
              </a:avLst>
            </a:prstGeom>
            <a:solidFill>
              <a:srgbClr val="FFFFFF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0" y="0"/>
              <a:ext cx="2571900" cy="428700"/>
            </a:xfrm>
            <a:prstGeom prst="roundRect">
              <a:avLst>
                <a:gd fmla="val 22222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0" y="238125"/>
              <a:ext cx="2571900" cy="1905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95250" y="9525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DFCF0"/>
                  </a:solidFill>
                  <a:latin typeface="Cairo"/>
                  <a:ea typeface="Cairo"/>
                  <a:cs typeface="Cairo"/>
                  <a:sym typeface="Cairo"/>
                </a:rPr>
                <a:t>التوأم الرقمي (Digital Twin)</a:t>
              </a:r>
              <a:endParaRPr b="1" sz="1300">
                <a:solidFill>
                  <a:srgbClr val="FDFCF0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142875" y="590550"/>
              <a:ext cx="2286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إعادة تجميد الزمن: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يمثل الوسيلة العلمية الوحيدة لإيقاف التدهور وحفظ اللحظة التاريخية للموقع.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حفظ السياق الطبقي: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توثيق الدلائل والأصل الطبقي (Stratigraphy) بكامل الإحداثيات الحقيقية ثلاثية الأبعاد (3D).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93" name="Google Shape;93;p15"/>
          <p:cNvSpPr/>
          <p:nvPr/>
        </p:nvSpPr>
        <p:spPr>
          <a:xfrm>
            <a:off x="3028950" y="2990850"/>
            <a:ext cx="162000" cy="114300"/>
          </a:xfrm>
          <a:custGeom>
            <a:rect b="b" l="l" r="r" t="t"/>
            <a:pathLst>
              <a:path extrusionOk="0" h="120000" w="120000">
                <a:moveTo>
                  <a:pt x="120000" y="60000"/>
                </a:moveTo>
                <a:lnTo>
                  <a:pt x="14118" y="60000"/>
                </a:lnTo>
                <a:moveTo>
                  <a:pt x="49412" y="0"/>
                </a:moveTo>
                <a:lnTo>
                  <a:pt x="0" y="60000"/>
                </a:lnTo>
                <a:lnTo>
                  <a:pt x="49412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19050">
            <a:solidFill>
              <a:srgbClr val="8B5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5"/>
          <p:cNvGrpSpPr/>
          <p:nvPr/>
        </p:nvGrpSpPr>
        <p:grpSpPr>
          <a:xfrm>
            <a:off x="381000" y="1666875"/>
            <a:ext cx="2571900" cy="2905200"/>
            <a:chOff x="0" y="0"/>
            <a:chExt cx="2571900" cy="29052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0"/>
              <a:ext cx="2571900" cy="2905200"/>
            </a:xfrm>
            <a:prstGeom prst="roundRect">
              <a:avLst>
                <a:gd fmla="val 370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0" y="38100"/>
              <a:ext cx="2571900" cy="428700"/>
            </a:xfrm>
            <a:prstGeom prst="roundRect">
              <a:avLst>
                <a:gd fmla="val 22222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0" y="276225"/>
              <a:ext cx="2571900" cy="190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95250" y="11430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التنقيب الافتراضي المستدام</a:t>
              </a:r>
              <a:endParaRPr b="1" sz="13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142875" y="590550"/>
              <a:ext cx="2286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تمكين الأجيال القادمة: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يتيح للباحثين مستقبلاً إعادة التنقيب الافتراضي وتحليل البيانات بتقنيات جديدة.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استدامة المعرفة: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ضمان بقاء المعلومات كاملة ومتاحة للدراسة حتى بعد ردم الموقع أو انتهاء العمل الميداني.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01" name="Google Shape;101;p15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6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07" name="Google Shape;107;p16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381000" y="238125"/>
            <a:ext cx="8001000" cy="285900"/>
            <a:chOff x="0" y="0"/>
            <a:chExt cx="8001000" cy="2859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381000" y="571500"/>
            <a:ext cx="8382000" cy="466725"/>
            <a:chOff x="0" y="0"/>
            <a:chExt cx="8382000" cy="466725"/>
          </a:xfrm>
        </p:grpSpPr>
        <p:sp>
          <p:nvSpPr>
            <p:cNvPr id="114" name="Google Shape;114;p16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تطور تقنيات النمذجة ثلاثية الأبعاد في التوثيق الأثري</a:t>
              </a:r>
              <a:endParaRPr b="1" sz="2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7620000" y="4286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381000" y="11430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مقارنة تقنية تستعرض مراحل الانتقال والتطور من التصوير المساحي إلى المعالجة الحجمية والرذاذ ثلاثي الأبعاد:</a:t>
            </a:r>
            <a:endParaRPr b="0" sz="130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117" name="Google Shape;117;p16"/>
          <p:cNvGrpSpPr/>
          <p:nvPr/>
        </p:nvGrpSpPr>
        <p:grpSpPr>
          <a:xfrm>
            <a:off x="6286500" y="1619250"/>
            <a:ext cx="2476500" cy="3048000"/>
            <a:chOff x="0" y="0"/>
            <a:chExt cx="2476500" cy="30480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142875" y="171450"/>
              <a:ext cx="2190900" cy="19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المرحلة 01 • التصوير</a:t>
              </a:r>
              <a:endParaRPr b="1" i="0" sz="13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i="0" lang="en" sz="14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التصوير المساحي</a:t>
              </a:r>
              <a:endParaRPr b="1" i="0" sz="1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8B5A2B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(Photogrammetry)</a:t>
              </a:r>
              <a:endParaRPr b="0" i="0" sz="1050">
                <a:solidFill>
                  <a:srgbClr val="8B5A2B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يعتمد على مئات الصور المتداخلة. يتميز بالدقة العالية، ولكنه بطيء ومعقد ويتأثر بظروف الإضاءة وانعكاس شمس الصحراء.</a:t>
              </a:r>
              <a:endParaRPr b="0" i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142875" y="2219325"/>
              <a:ext cx="2190900" cy="6669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142875" y="2266061"/>
              <a:ext cx="2190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3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camera_enhance</a:t>
              </a:r>
              <a:endParaRPr b="0" i="0" sz="3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3333750" y="1619250"/>
            <a:ext cx="2476500" cy="3048000"/>
            <a:chOff x="0" y="0"/>
            <a:chExt cx="2476500" cy="3048000"/>
          </a:xfrm>
        </p:grpSpPr>
        <p:sp>
          <p:nvSpPr>
            <p:cNvPr id="124" name="Google Shape;124;p16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142875" y="171450"/>
              <a:ext cx="2190900" cy="19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المرحلة 02 • التمثيل الحجمي</a:t>
              </a:r>
              <a:endParaRPr b="1" i="0" sz="13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i="0" lang="en" sz="14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حقول الإشعاع العصبي</a:t>
              </a:r>
              <a:endParaRPr b="1" i="0" sz="1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8B5A2B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(NeRF)</a:t>
              </a:r>
              <a:endParaRPr b="0" i="0" sz="1050">
                <a:solidFill>
                  <a:srgbClr val="8B5A2B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تستخدم شبكات عصبية لتمثيل المشهد الحجمي. تتفوق في معالجة الظلال والانعكاسات والإضاءة المعقدة رغم ثقل المعالجة.</a:t>
              </a:r>
              <a:endParaRPr b="0" i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142875" y="2219325"/>
              <a:ext cx="2190900" cy="6669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142875" y="2266061"/>
              <a:ext cx="2190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3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model_training</a:t>
              </a:r>
              <a:endParaRPr b="0" i="0" sz="3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381000" y="1619250"/>
            <a:ext cx="2476500" cy="3048000"/>
            <a:chOff x="0" y="0"/>
            <a:chExt cx="2476500" cy="30480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4615" name="adj"/>
              </a:avLst>
            </a:prstGeom>
            <a:solidFill>
              <a:srgbClr val="FFFDF8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142875" y="171450"/>
              <a:ext cx="2190900" cy="19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50">
                  <a:solidFill>
                    <a:srgbClr val="B38F1D"/>
                  </a:solidFill>
                  <a:latin typeface="Tajawal"/>
                  <a:ea typeface="Tajawal"/>
                  <a:cs typeface="Tajawal"/>
                  <a:sym typeface="Tajawal"/>
                </a:rPr>
                <a:t>المرحلة 03 • طفرة 2026</a:t>
              </a:r>
              <a:endParaRPr b="1" i="0" sz="13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i="0" lang="en" sz="14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رذاذ غاوس</a:t>
              </a:r>
              <a:endParaRPr b="1" i="0" sz="1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B38F1D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(3D Gaussian Splatting)</a:t>
              </a:r>
              <a:endParaRPr b="0" i="0" sz="1050">
                <a:solidFill>
                  <a:srgbClr val="B38F1D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طفرة عام 2026؛ توفر معالجة شبه فورية وسرعة عرض فائقة (60 إطاراً/ثانية) مباشرة عبر الأجهزة اللوحية الميدانية.</a:t>
              </a:r>
              <a:endParaRPr b="0" i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142875" y="2219325"/>
              <a:ext cx="2190900" cy="666900"/>
            </a:xfrm>
            <a:prstGeom prst="rect">
              <a:avLst/>
            </a:prstGeom>
            <a:solidFill>
              <a:srgbClr val="D4AF37">
                <a:alpha val="1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142875" y="2266061"/>
              <a:ext cx="2190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3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view_in_ar</a:t>
              </a:r>
              <a:endParaRPr b="0" i="0" sz="3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35" name="Google Shape;135;p16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" name="Google Shape;136;p16"/>
          <p:cNvGrpSpPr/>
          <p:nvPr/>
        </p:nvGrpSpPr>
        <p:grpSpPr>
          <a:xfrm>
            <a:off x="5867400" y="2819400"/>
            <a:ext cx="266700" cy="266700"/>
            <a:chOff x="5867400" y="2819400"/>
            <a:chExt cx="266700" cy="266700"/>
          </a:xfrm>
        </p:grpSpPr>
        <p:sp>
          <p:nvSpPr>
            <p:cNvPr id="137" name="Google Shape;137;p16"/>
            <p:cNvSpPr/>
            <p:nvPr/>
          </p:nvSpPr>
          <p:spPr>
            <a:xfrm>
              <a:off x="5867400" y="281940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5943600" y="291465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60000"/>
                  </a:lnTo>
                  <a:moveTo>
                    <a:pt x="48000" y="0"/>
                  </a:moveTo>
                  <a:lnTo>
                    <a:pt x="0" y="60000"/>
                  </a:lnTo>
                  <a:lnTo>
                    <a:pt x="4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" name="Google Shape;139;p16"/>
          <p:cNvGrpSpPr/>
          <p:nvPr/>
        </p:nvGrpSpPr>
        <p:grpSpPr>
          <a:xfrm>
            <a:off x="2914650" y="2819400"/>
            <a:ext cx="266700" cy="266700"/>
            <a:chOff x="2914650" y="2819400"/>
            <a:chExt cx="266700" cy="266700"/>
          </a:xfrm>
        </p:grpSpPr>
        <p:sp>
          <p:nvSpPr>
            <p:cNvPr id="140" name="Google Shape;140;p16"/>
            <p:cNvSpPr/>
            <p:nvPr/>
          </p:nvSpPr>
          <p:spPr>
            <a:xfrm>
              <a:off x="2914650" y="281940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2990850" y="291465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60000"/>
                  </a:lnTo>
                  <a:moveTo>
                    <a:pt x="48000" y="0"/>
                  </a:moveTo>
                  <a:lnTo>
                    <a:pt x="0" y="60000"/>
                  </a:lnTo>
                  <a:lnTo>
                    <a:pt x="4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C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7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48" name="Google Shape;148;p17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7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b="0" sz="105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381000" y="552450"/>
            <a:ext cx="8382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التحول الرقمي في أتمتة التسجيل الميداني</a:t>
            </a:r>
            <a:endParaRPr b="1" sz="21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الانتقال من الدفاتر الورقية إلى قواعد بيانات حية وذكية لرفع كفاءة التوثيق الأثري</a:t>
            </a:r>
            <a:endParaRPr b="0" sz="110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8001000" y="9144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17"/>
          <p:cNvGrpSpPr/>
          <p:nvPr/>
        </p:nvGrpSpPr>
        <p:grpSpPr>
          <a:xfrm>
            <a:off x="381000" y="1381125"/>
            <a:ext cx="8382000" cy="1000200"/>
            <a:chOff x="0" y="0"/>
            <a:chExt cx="8382000" cy="1000200"/>
          </a:xfrm>
        </p:grpSpPr>
        <p:sp>
          <p:nvSpPr>
            <p:cNvPr id="155" name="Google Shape;155;p17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0" y="0"/>
              <a:ext cx="838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7772400" y="266700"/>
              <a:ext cx="419100" cy="419100"/>
            </a:xfrm>
            <a:prstGeom prst="roundRect">
              <a:avLst>
                <a:gd fmla="val 1363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7943850" y="390525"/>
              <a:ext cx="76200" cy="133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93000" y="0"/>
                    <a:pt x="120000" y="15429"/>
                    <a:pt x="120000" y="34286"/>
                  </a:cubicBezTo>
                  <a:lnTo>
                    <a:pt x="120000" y="85714"/>
                  </a:lnTo>
                  <a:cubicBezTo>
                    <a:pt x="120000" y="104571"/>
                    <a:pt x="93000" y="120000"/>
                    <a:pt x="60000" y="120000"/>
                  </a:cubicBezTo>
                  <a:cubicBezTo>
                    <a:pt x="27000" y="120000"/>
                    <a:pt x="0" y="104571"/>
                    <a:pt x="0" y="85714"/>
                  </a:cubicBezTo>
                  <a:lnTo>
                    <a:pt x="0" y="34286"/>
                  </a:lnTo>
                  <a:cubicBezTo>
                    <a:pt x="0" y="15429"/>
                    <a:pt x="27000" y="0"/>
                    <a:pt x="60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7905750" y="476250"/>
              <a:ext cx="1524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0" y="66000"/>
                    <a:pt x="27000" y="120000"/>
                    <a:pt x="60000" y="120000"/>
                  </a:cubicBezTo>
                  <a:cubicBezTo>
                    <a:pt x="93000" y="120000"/>
                    <a:pt x="120000" y="66000"/>
                    <a:pt x="120000" y="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7943850" y="552450"/>
              <a:ext cx="76200" cy="477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285750" y="171450"/>
              <a:ext cx="7296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تحويل الملاحظات الصوتية إلى بطاقات سياق رقمية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تحويل التسجيل الصوتي لملاحظات المنقب آلياً إلى بطاقات سياق طبقي رقمية (Context Sheets) مصنفة بدقة عالية، مما يضمن التوثيق الفوري والتخلص من الدفاتر الورقية Traditional Notebooks.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62" name="Google Shape;162;p17"/>
          <p:cNvGrpSpPr/>
          <p:nvPr/>
        </p:nvGrpSpPr>
        <p:grpSpPr>
          <a:xfrm>
            <a:off x="381000" y="2524125"/>
            <a:ext cx="8382000" cy="1000200"/>
            <a:chOff x="0" y="0"/>
            <a:chExt cx="8382000" cy="1000200"/>
          </a:xfrm>
        </p:grpSpPr>
        <p:sp>
          <p:nvSpPr>
            <p:cNvPr id="163" name="Google Shape;163;p17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0" y="0"/>
              <a:ext cx="838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7772400" y="266700"/>
              <a:ext cx="419100" cy="419100"/>
            </a:xfrm>
            <a:prstGeom prst="roundRect">
              <a:avLst>
                <a:gd fmla="val 1363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7877175" y="371475"/>
              <a:ext cx="209700" cy="2097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7929563" y="414338"/>
              <a:ext cx="28500" cy="28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7996238" y="404813"/>
              <a:ext cx="28500" cy="285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8015288" y="461963"/>
              <a:ext cx="28500" cy="28500"/>
            </a:xfrm>
            <a:prstGeom prst="ellipse">
              <a:avLst/>
            </a:prstGeom>
            <a:solidFill>
              <a:srgbClr val="5C40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285750" y="171450"/>
              <a:ext cx="7296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التحديد التلقائي لألوان التربة (Munsell Soil Color)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تطبيق خوارزميات تصحيح توازن البياض الكاميرية لمعايرة الصور رقمياً، والتحديد التلقائي الدقيق لرموز الألوان القياسية للتربة وفق نظام Munsell العالمي دون تدخل بشري تقديري.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71" name="Google Shape;171;p17"/>
          <p:cNvGrpSpPr/>
          <p:nvPr/>
        </p:nvGrpSpPr>
        <p:grpSpPr>
          <a:xfrm>
            <a:off x="381000" y="3667125"/>
            <a:ext cx="8382000" cy="1000200"/>
            <a:chOff x="0" y="0"/>
            <a:chExt cx="8382000" cy="1000200"/>
          </a:xfrm>
        </p:grpSpPr>
        <p:sp>
          <p:nvSpPr>
            <p:cNvPr id="172" name="Google Shape;172;p17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0" y="0"/>
              <a:ext cx="8382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72400" y="266700"/>
              <a:ext cx="419100" cy="419100"/>
            </a:xfrm>
            <a:prstGeom prst="roundRect">
              <a:avLst>
                <a:gd fmla="val 1363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877175" y="371475"/>
              <a:ext cx="180900" cy="123900"/>
            </a:xfrm>
            <a:custGeom>
              <a:rect b="b" l="l" r="r" t="t"/>
              <a:pathLst>
                <a:path extrusionOk="0" h="120000" w="120000">
                  <a:moveTo>
                    <a:pt x="25263" y="120000"/>
                  </a:moveTo>
                  <a:cubicBezTo>
                    <a:pt x="12632" y="120000"/>
                    <a:pt x="0" y="101538"/>
                    <a:pt x="0" y="78462"/>
                  </a:cubicBezTo>
                  <a:cubicBezTo>
                    <a:pt x="0" y="58154"/>
                    <a:pt x="10105" y="41538"/>
                    <a:pt x="24000" y="37846"/>
                  </a:cubicBezTo>
                  <a:cubicBezTo>
                    <a:pt x="29052" y="15692"/>
                    <a:pt x="42947" y="0"/>
                    <a:pt x="60000" y="0"/>
                  </a:cubicBezTo>
                  <a:cubicBezTo>
                    <a:pt x="79579" y="0"/>
                    <a:pt x="95368" y="20308"/>
                    <a:pt x="99789" y="47077"/>
                  </a:cubicBezTo>
                  <a:cubicBezTo>
                    <a:pt x="111158" y="49846"/>
                    <a:pt x="120000" y="64615"/>
                    <a:pt x="120000" y="83077"/>
                  </a:cubicBezTo>
                  <a:cubicBezTo>
                    <a:pt x="120000" y="103385"/>
                    <a:pt x="108632" y="120000"/>
                    <a:pt x="94737" y="12000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7939088" y="495300"/>
              <a:ext cx="57300" cy="85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80000"/>
                  </a:moveTo>
                  <a:lnTo>
                    <a:pt x="60000" y="120000"/>
                  </a:lnTo>
                  <a:lnTo>
                    <a:pt x="120000" y="8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285750" y="171450"/>
              <a:ext cx="7296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الإحداثيات السنتيمترية والربط السحابي المركزي</a:t>
              </a:r>
              <a:endParaRPr b="1" sz="135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ربط كل عينة أو لُقية أثرية بملاحظات وإحداثيات مكانية سنتيمترية فائقة الدقة، ورفعها فورياً للربط بالخوادم السحابية التابعة لهيئة الشارقة للآثار لضمان حفظ البيانات الموحد والآمن.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78" name="Google Shape;178;p17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18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84" name="Google Shape;184;p18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" name="Google Shape;187;p18"/>
          <p:cNvGrpSpPr/>
          <p:nvPr/>
        </p:nvGrpSpPr>
        <p:grpSpPr>
          <a:xfrm>
            <a:off x="381000" y="238125"/>
            <a:ext cx="8001000" cy="285900"/>
            <a:chOff x="0" y="0"/>
            <a:chExt cx="8001000" cy="285900"/>
          </a:xfrm>
        </p:grpSpPr>
        <p:sp>
          <p:nvSpPr>
            <p:cNvPr id="188" name="Google Shape;188;p18"/>
            <p:cNvSpPr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190" name="Google Shape;190;p18"/>
          <p:cNvSpPr txBox="1"/>
          <p:nvPr/>
        </p:nvSpPr>
        <p:spPr>
          <a:xfrm>
            <a:off x="381000" y="523875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الرؤية الحاسوبية في رسم ومطابقة القطع الفخارية</a:t>
            </a:r>
            <a:endParaRPr b="1" sz="20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تحويل عملية التوثيق الفخاري التقليدية إلى آلية رقمية فائقة السرعة والدقة</a:t>
            </a:r>
            <a:endParaRPr b="0" sz="110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8001000" y="111442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18"/>
          <p:cNvGrpSpPr/>
          <p:nvPr/>
        </p:nvGrpSpPr>
        <p:grpSpPr>
          <a:xfrm>
            <a:off x="4572000" y="1143000"/>
            <a:ext cx="4191000" cy="1000200"/>
            <a:chOff x="0" y="0"/>
            <a:chExt cx="4191000" cy="10002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4191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0" y="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3657600" y="1524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3752850" y="247650"/>
              <a:ext cx="152400" cy="152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3829050" y="285750"/>
              <a:ext cx="28500" cy="381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142875" y="133350"/>
              <a:ext cx="3381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التحدي التقليدي في التوثيق</a:t>
              </a:r>
              <a:endParaRPr b="1" sz="12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يعاني الباحثون من استغراق أسابيع طويلة في رسم مقاطع الكسرات الفخارية يدوياً باستخدام المشط والفرجار.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99" name="Google Shape;199;p18"/>
          <p:cNvGrpSpPr/>
          <p:nvPr/>
        </p:nvGrpSpPr>
        <p:grpSpPr>
          <a:xfrm>
            <a:off x="4572000" y="2286000"/>
            <a:ext cx="4191000" cy="1095300"/>
            <a:chOff x="0" y="0"/>
            <a:chExt cx="4191000" cy="1095300"/>
          </a:xfrm>
        </p:grpSpPr>
        <p:sp>
          <p:nvSpPr>
            <p:cNvPr id="200" name="Google Shape;200;p18"/>
            <p:cNvSpPr/>
            <p:nvPr/>
          </p:nvSpPr>
          <p:spPr>
            <a:xfrm>
              <a:off x="0" y="0"/>
              <a:ext cx="4191000" cy="10953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0" y="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3657600" y="1524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3762375" y="285750"/>
              <a:ext cx="133500" cy="954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3805238" y="309563"/>
              <a:ext cx="47700" cy="477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142875" y="133350"/>
              <a:ext cx="3381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حلول الرؤية الحاسوبية</a:t>
              </a:r>
              <a:endParaRPr b="1" sz="12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التقاط صورة واحدة للكسرة الفخارية لاستخراج المنحنى الهندسي وحساب القطر التقديري للإناء ومطابقته آلياً بأطلس الفخار (مثل مليحة ومويلح).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4572000" y="3524250"/>
            <a:ext cx="4191000" cy="1095300"/>
            <a:chOff x="0" y="0"/>
            <a:chExt cx="4191000" cy="1095300"/>
          </a:xfrm>
        </p:grpSpPr>
        <p:sp>
          <p:nvSpPr>
            <p:cNvPr id="207" name="Google Shape;207;p18"/>
            <p:cNvSpPr/>
            <p:nvPr/>
          </p:nvSpPr>
          <p:spPr>
            <a:xfrm>
              <a:off x="0" y="0"/>
              <a:ext cx="4191000" cy="10953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0" y="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3048000" y="142875"/>
              <a:ext cx="1000200" cy="809700"/>
            </a:xfrm>
            <a:prstGeom prst="roundRect">
              <a:avLst>
                <a:gd fmla="val 9411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 txBox="1"/>
            <p:nvPr/>
          </p:nvSpPr>
          <p:spPr>
            <a:xfrm>
              <a:off x="3048000" y="142875"/>
              <a:ext cx="10002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75%+</a:t>
              </a:r>
              <a:endParaRPr b="1" sz="28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توفير الوقت</a:t>
              </a:r>
              <a:endParaRPr b="1" sz="8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211" name="Google Shape;211;p18"/>
            <p:cNvSpPr txBox="1"/>
            <p:nvPr/>
          </p:nvSpPr>
          <p:spPr>
            <a:xfrm>
              <a:off x="142875" y="142875"/>
              <a:ext cx="2762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رفع كفاءة العمل الميداني</a:t>
              </a:r>
              <a:endParaRPr b="1" sz="125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توفير أكثر من 75% من الوقت المكتبي والميداني المخصص للتوثيق والرسم التحليلي.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12" name="Google Shape;212;p18"/>
          <p:cNvGrpSpPr/>
          <p:nvPr/>
        </p:nvGrpSpPr>
        <p:grpSpPr>
          <a:xfrm>
            <a:off x="381000" y="1143000"/>
            <a:ext cx="3952800" cy="3476700"/>
            <a:chOff x="0" y="0"/>
            <a:chExt cx="3952800" cy="3476700"/>
          </a:xfrm>
        </p:grpSpPr>
        <p:sp>
          <p:nvSpPr>
            <p:cNvPr id="213" name="Google Shape;213;p18"/>
            <p:cNvSpPr/>
            <p:nvPr/>
          </p:nvSpPr>
          <p:spPr>
            <a:xfrm>
              <a:off x="0" y="0"/>
              <a:ext cx="3952800" cy="3476700"/>
            </a:xfrm>
            <a:prstGeom prst="roundRect">
              <a:avLst>
                <a:gd fmla="val 219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0" y="0"/>
              <a:ext cx="39528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5" name="Google Shape;21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00" y="142875"/>
              <a:ext cx="3724200" cy="279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8"/>
            <p:cNvSpPr/>
            <p:nvPr/>
          </p:nvSpPr>
          <p:spPr>
            <a:xfrm>
              <a:off x="114300" y="2981325"/>
              <a:ext cx="3724200" cy="381000"/>
            </a:xfrm>
            <a:prstGeom prst="roundRect">
              <a:avLst>
                <a:gd fmla="val 10000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 txBox="1"/>
            <p:nvPr/>
          </p:nvSpPr>
          <p:spPr>
            <a:xfrm>
              <a:off x="190500" y="2981325"/>
              <a:ext cx="3571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رسم مقارن: الكسرة الفخارية الحقيقية (يمين) مقابل المقطع الهندسي المولد بالذكاء الاصطناعي (يسار)</a:t>
              </a:r>
              <a:endParaRPr b="0" sz="9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218" name="Google Shape;218;p18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19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24" name="Google Shape;224;p19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25" name="Google Shape;225;p19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9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9"/>
            <p:cNvGrpSpPr/>
            <p:nvPr/>
          </p:nvGrpSpPr>
          <p:grpSpPr>
            <a:xfrm>
              <a:off x="381000" y="238125"/>
              <a:ext cx="8001000" cy="285900"/>
              <a:chOff x="0" y="0"/>
              <a:chExt cx="8001000" cy="285900"/>
            </a:xfrm>
          </p:grpSpPr>
          <p:sp>
            <p:nvSpPr>
              <p:cNvPr id="229" name="Google Shape;229;p19"/>
              <p:cNvSpPr/>
              <p:nvPr/>
            </p:nvSpPr>
            <p:spPr>
              <a:xfrm>
                <a:off x="0" y="0"/>
                <a:ext cx="80010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9"/>
              <p:cNvSpPr txBox="1"/>
              <p:nvPr/>
            </p:nvSpPr>
            <p:spPr>
              <a:xfrm>
                <a:off x="0" y="0"/>
                <a:ext cx="8001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 Medium"/>
                    <a:ea typeface="Tajawal Medium"/>
                    <a:cs typeface="Tajawal Medium"/>
                    <a:sym typeface="Tajawal Medium"/>
                  </a:rPr>
                  <a:t>الذكاء الاصطناعي وتطبيقاته في علم الآثار | هيئة الشارقة للآثار</a:t>
                </a:r>
                <a:endParaRPr b="0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endParaRPr>
              </a:p>
            </p:txBody>
          </p:sp>
        </p:grpSp>
      </p:grpSp>
      <p:grpSp>
        <p:nvGrpSpPr>
          <p:cNvPr id="231" name="Google Shape;231;p19"/>
          <p:cNvGrpSpPr/>
          <p:nvPr/>
        </p:nvGrpSpPr>
        <p:grpSpPr>
          <a:xfrm>
            <a:off x="381000" y="571500"/>
            <a:ext cx="8382000" cy="714300"/>
            <a:chOff x="0" y="0"/>
            <a:chExt cx="8382000" cy="714300"/>
          </a:xfrm>
        </p:grpSpPr>
        <p:sp>
          <p:nvSpPr>
            <p:cNvPr id="232" name="Google Shape;232;p19"/>
            <p:cNvSpPr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 txBox="1"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100">
                  <a:solidFill>
                    <a:srgbClr val="5C4033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أدوات التوثيق الرقمي والمسح الأثري الميداني</a:t>
              </a:r>
              <a:endParaRPr b="0" i="0" sz="2100">
                <a:solidFill>
                  <a:srgbClr val="5C4033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تطبيقات وتقنيات حديثة تضع دقة النمذجة والمزامنة المباشرة في متناول الآثاري بالميدان</a:t>
              </a:r>
              <a:endParaRPr b="0" i="0" sz="1100">
                <a:solidFill>
                  <a:srgbClr val="5C4033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7620000" y="3619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" name="Google Shape;235;p19"/>
          <p:cNvGrpSpPr/>
          <p:nvPr/>
        </p:nvGrpSpPr>
        <p:grpSpPr>
          <a:xfrm>
            <a:off x="4762500" y="1524000"/>
            <a:ext cx="4000500" cy="1428900"/>
            <a:chOff x="0" y="0"/>
            <a:chExt cx="4000500" cy="1428900"/>
          </a:xfrm>
        </p:grpSpPr>
        <p:sp>
          <p:nvSpPr>
            <p:cNvPr id="236" name="Google Shape;236;p19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8" name="Google Shape;238;p19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239" name="Google Shape;239;p19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9"/>
              <p:cNvSpPr/>
              <p:nvPr/>
            </p:nvSpPr>
            <p:spPr>
              <a:xfrm>
                <a:off x="76200" y="114300"/>
                <a:ext cx="190500" cy="133500"/>
              </a:xfrm>
              <a:custGeom>
                <a:rect b="b" l="l" r="r" t="t"/>
                <a:pathLst>
                  <a:path extrusionOk="0" h="120000" w="120000">
                    <a:moveTo>
                      <a:pt x="12000" y="0"/>
                    </a:moveTo>
                    <a:lnTo>
                      <a:pt x="36000" y="0"/>
                    </a:lnTo>
                    <a:lnTo>
                      <a:pt x="48000" y="17143"/>
                    </a:lnTo>
                    <a:lnTo>
                      <a:pt x="84000" y="17143"/>
                    </a:lnTo>
                    <a:lnTo>
                      <a:pt x="96000" y="0"/>
                    </a:lnTo>
                    <a:lnTo>
                      <a:pt x="108000" y="0"/>
                    </a:lnTo>
                    <a:cubicBezTo>
                      <a:pt x="114600" y="0"/>
                      <a:pt x="120000" y="7714"/>
                      <a:pt x="120000" y="17143"/>
                    </a:cubicBezTo>
                    <a:lnTo>
                      <a:pt x="120000" y="102857"/>
                    </a:lnTo>
                    <a:cubicBezTo>
                      <a:pt x="120000" y="112286"/>
                      <a:pt x="114600" y="120000"/>
                      <a:pt x="108000" y="120000"/>
                    </a:cubicBezTo>
                    <a:lnTo>
                      <a:pt x="12000" y="120000"/>
                    </a:lnTo>
                    <a:cubicBezTo>
                      <a:pt x="5400" y="120000"/>
                      <a:pt x="0" y="112286"/>
                      <a:pt x="0" y="102857"/>
                    </a:cubicBezTo>
                    <a:lnTo>
                      <a:pt x="0" y="17143"/>
                    </a:lnTo>
                    <a:cubicBezTo>
                      <a:pt x="0" y="7714"/>
                      <a:pt x="5400" y="0"/>
                      <a:pt x="12000" y="0"/>
                    </a:cubicBezTo>
                    <a:close/>
                    <a:moveTo>
                      <a:pt x="60000" y="94286"/>
                    </a:moveTo>
                    <a:cubicBezTo>
                      <a:pt x="73200" y="94286"/>
                      <a:pt x="84000" y="78857"/>
                      <a:pt x="84000" y="60000"/>
                    </a:cubicBezTo>
                    <a:cubicBezTo>
                      <a:pt x="84000" y="41143"/>
                      <a:pt x="73200" y="25714"/>
                      <a:pt x="60000" y="25714"/>
                    </a:cubicBezTo>
                    <a:cubicBezTo>
                      <a:pt x="46800" y="25714"/>
                      <a:pt x="36000" y="41143"/>
                      <a:pt x="36000" y="60000"/>
                    </a:cubicBezTo>
                    <a:cubicBezTo>
                      <a:pt x="36000" y="78857"/>
                      <a:pt x="46800" y="94286"/>
                      <a:pt x="60000" y="9428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1" name="Google Shape;241;p19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تطبيق Polycam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يُستخدم للمسح السريع في الميدان باستعمال تقنية الليدار (LiDAR) وكاميرا الهاتف، لإنتاج نماذج أثرية ثلاثية الأبعاد بمقاييس هندسية حقيقية.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42" name="Google Shape;242;p19"/>
          <p:cNvGrpSpPr/>
          <p:nvPr/>
        </p:nvGrpSpPr>
        <p:grpSpPr>
          <a:xfrm>
            <a:off x="381000" y="1524000"/>
            <a:ext cx="4000500" cy="1428900"/>
            <a:chOff x="0" y="0"/>
            <a:chExt cx="4000500" cy="1428900"/>
          </a:xfrm>
        </p:grpSpPr>
        <p:sp>
          <p:nvSpPr>
            <p:cNvPr id="243" name="Google Shape;243;p19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5" name="Google Shape;245;p19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246" name="Google Shape;246;p19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95250" y="95250"/>
                <a:ext cx="152400" cy="152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95250" y="123825"/>
                <a:ext cx="152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cubicBezTo>
                      <a:pt x="0" y="60000"/>
                      <a:pt x="22500" y="120000"/>
                      <a:pt x="60000" y="120000"/>
                    </a:cubicBezTo>
                    <a:cubicBezTo>
                      <a:pt x="97500" y="120000"/>
                      <a:pt x="120000" y="60000"/>
                      <a:pt x="120000" y="60000"/>
                    </a:cubicBezTo>
                    <a:cubicBezTo>
                      <a:pt x="120000" y="60000"/>
                      <a:pt x="97500" y="0"/>
                      <a:pt x="60000" y="0"/>
                    </a:cubicBezTo>
                    <a:cubicBezTo>
                      <a:pt x="22500" y="0"/>
                      <a:pt x="0" y="60000"/>
                      <a:pt x="0" y="6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9" name="Google Shape;249;p19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تطبيق Luma AI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يعمل على تحويل مقاطع الفيديو الملتقطة بزاوية 360 درجة إلى مشاهد تفاعلية عالية الدقة والواقعية باستخدام تقنية Gaussian Splatting (3DGS).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50" name="Google Shape;250;p19"/>
          <p:cNvGrpSpPr/>
          <p:nvPr/>
        </p:nvGrpSpPr>
        <p:grpSpPr>
          <a:xfrm>
            <a:off x="4762500" y="3095625"/>
            <a:ext cx="4000500" cy="1428900"/>
            <a:chOff x="0" y="0"/>
            <a:chExt cx="4000500" cy="1428900"/>
          </a:xfrm>
        </p:grpSpPr>
        <p:sp>
          <p:nvSpPr>
            <p:cNvPr id="251" name="Google Shape;251;p19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3" name="Google Shape;253;p19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254" name="Google Shape;254;p19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85725" y="104775"/>
                <a:ext cx="1716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88000"/>
                    </a:lnTo>
                    <a:lnTo>
                      <a:pt x="0" y="88000"/>
                    </a:lnTo>
                    <a:close/>
                    <a:moveTo>
                      <a:pt x="33333" y="120000"/>
                    </a:moveTo>
                    <a:lnTo>
                      <a:pt x="86667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147638" y="133350"/>
                <a:ext cx="47700" cy="47700"/>
              </a:xfrm>
              <a:prstGeom prst="ellipse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7" name="Google Shape;257;p19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برمجية Meshroom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برمجية مفتوحة المصدر مخصصة للتحليل المكتبي، تُستخدم لإجراء المسح التصويري (Photogrammetry) عالي الدقة واستخراج المجسمات التفصيلية.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58" name="Google Shape;258;p19"/>
          <p:cNvGrpSpPr/>
          <p:nvPr/>
        </p:nvGrpSpPr>
        <p:grpSpPr>
          <a:xfrm>
            <a:off x="381000" y="3095625"/>
            <a:ext cx="4000500" cy="1428900"/>
            <a:chOff x="0" y="0"/>
            <a:chExt cx="4000500" cy="1428900"/>
          </a:xfrm>
        </p:grpSpPr>
        <p:sp>
          <p:nvSpPr>
            <p:cNvPr id="259" name="Google Shape;259;p19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1" name="Google Shape;261;p19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262" name="Google Shape;262;p19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95250" y="85725"/>
                <a:ext cx="1524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7000" y="0"/>
                      <a:pt x="0" y="24000"/>
                      <a:pt x="0" y="53333"/>
                    </a:cubicBezTo>
                    <a:cubicBezTo>
                      <a:pt x="0" y="93333"/>
                      <a:pt x="60000" y="120000"/>
                      <a:pt x="60000" y="120000"/>
                    </a:cubicBezTo>
                    <a:cubicBezTo>
                      <a:pt x="60000" y="120000"/>
                      <a:pt x="120000" y="93333"/>
                      <a:pt x="120000" y="53333"/>
                    </a:cubicBezTo>
                    <a:cubicBezTo>
                      <a:pt x="120000" y="24000"/>
                      <a:pt x="93000" y="0"/>
                      <a:pt x="60000" y="0"/>
                    </a:cubicBezTo>
                    <a:close/>
                    <a:moveTo>
                      <a:pt x="60000" y="70000"/>
                    </a:moveTo>
                    <a:cubicBezTo>
                      <a:pt x="49500" y="70000"/>
                      <a:pt x="41250" y="62667"/>
                      <a:pt x="41250" y="53333"/>
                    </a:cubicBezTo>
                    <a:cubicBezTo>
                      <a:pt x="41250" y="44000"/>
                      <a:pt x="49500" y="36667"/>
                      <a:pt x="60000" y="36667"/>
                    </a:cubicBezTo>
                    <a:cubicBezTo>
                      <a:pt x="70500" y="36667"/>
                      <a:pt x="78750" y="44000"/>
                      <a:pt x="78750" y="53333"/>
                    </a:cubicBezTo>
                    <a:cubicBezTo>
                      <a:pt x="78750" y="62667"/>
                      <a:pt x="70500" y="70000"/>
                      <a:pt x="60000" y="7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4" name="Google Shape;264;p19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تطبيق NRASS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يتيح مزامنة البيانات الجغرافية والمسح الميداني بشكل مباشر ومفهوم مع منظومة نظم المعلومات الجغرافية (GIS) المركزية التابعة للهيئة.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265" name="Google Shape;265;p19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0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271" name="Google Shape;271;p20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4" name="Google Shape;274;p20"/>
          <p:cNvGrpSpPr/>
          <p:nvPr/>
        </p:nvGrpSpPr>
        <p:grpSpPr>
          <a:xfrm>
            <a:off x="381000" y="238125"/>
            <a:ext cx="8001000" cy="285900"/>
            <a:chOff x="0" y="0"/>
            <a:chExt cx="8001000" cy="285900"/>
          </a:xfrm>
        </p:grpSpPr>
        <p:sp>
          <p:nvSpPr>
            <p:cNvPr id="275" name="Google Shape;275;p20"/>
            <p:cNvSpPr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 txBox="1"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277" name="Google Shape;277;p20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381000" y="5524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خط سير التوثيق الذكي: من الحفرية إلى السحابة</a:t>
            </a:r>
            <a:endParaRPr b="1" sz="22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8001000" y="9525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381000" y="10668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مسار تدفقي متكامل يوضح مراحل التوثيق الرقمي الميداني والمعالجة الآلية:</a:t>
            </a:r>
            <a:endParaRPr b="0" sz="120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81" name="Google Shape;281;p20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 flipH="1">
            <a:off x="6667502" y="2609850"/>
            <a:ext cx="21909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0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 flipH="1">
            <a:off x="4572002" y="2609850"/>
            <a:ext cx="21909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0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 flipH="1">
            <a:off x="2476502" y="2609850"/>
            <a:ext cx="21909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20"/>
          <p:cNvGrpSpPr/>
          <p:nvPr/>
        </p:nvGrpSpPr>
        <p:grpSpPr>
          <a:xfrm>
            <a:off x="6762750" y="1524000"/>
            <a:ext cx="1905000" cy="2667000"/>
            <a:chOff x="0" y="0"/>
            <a:chExt cx="1905000" cy="2667000"/>
          </a:xfrm>
        </p:grpSpPr>
        <p:sp>
          <p:nvSpPr>
            <p:cNvPr id="285" name="Google Shape;285;p20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١</a:t>
              </a:r>
              <a:endParaRPr b="1" sz="11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89" name="Google Shape;289;p20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المسح الميداني</a:t>
              </a:r>
              <a:endParaRPr b="1" sz="1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بدء العملية بالمسح الميداني للموقع الأثري باستخدام طائرات الدرون والهواتف الذكية.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90" name="Google Shape;290;p20"/>
          <p:cNvGrpSpPr/>
          <p:nvPr/>
        </p:nvGrpSpPr>
        <p:grpSpPr>
          <a:xfrm>
            <a:off x="4667250" y="1524000"/>
            <a:ext cx="1905000" cy="2667000"/>
            <a:chOff x="0" y="0"/>
            <a:chExt cx="1905000" cy="2667000"/>
          </a:xfrm>
        </p:grpSpPr>
        <p:sp>
          <p:nvSpPr>
            <p:cNvPr id="291" name="Google Shape;291;p20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٢</a:t>
              </a:r>
              <a:endParaRPr b="1" sz="11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95" name="Google Shape;295;p20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معالجة AI اللحظية</a:t>
              </a:r>
              <a:endParaRPr b="1" sz="1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انتقال البيانات فوراً للذكاء الاصطناعي لتوليد السحابة النقطية الدقيقة للموقع.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96" name="Google Shape;296;p20"/>
          <p:cNvGrpSpPr/>
          <p:nvPr/>
        </p:nvGrpSpPr>
        <p:grpSpPr>
          <a:xfrm>
            <a:off x="2571750" y="1524000"/>
            <a:ext cx="1905000" cy="2667000"/>
            <a:chOff x="0" y="0"/>
            <a:chExt cx="1905000" cy="2667000"/>
          </a:xfrm>
        </p:grpSpPr>
        <p:sp>
          <p:nvSpPr>
            <p:cNvPr id="297" name="Google Shape;297;p20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٣</a:t>
              </a:r>
              <a:endParaRPr b="1" sz="11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01" name="Google Shape;301;p20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استخراج الميتاداتا</a:t>
              </a:r>
              <a:endParaRPr b="1" sz="1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استخراج الميتاداتا والمقاطع الإنشائية الدقيقة الخاصة باللقى الأثرية.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02" name="Google Shape;302;p20"/>
          <p:cNvGrpSpPr/>
          <p:nvPr/>
        </p:nvGrpSpPr>
        <p:grpSpPr>
          <a:xfrm>
            <a:off x="476250" y="1524000"/>
            <a:ext cx="1905000" cy="2667000"/>
            <a:chOff x="0" y="0"/>
            <a:chExt cx="1905000" cy="2667000"/>
          </a:xfrm>
        </p:grpSpPr>
        <p:sp>
          <p:nvSpPr>
            <p:cNvPr id="303" name="Google Shape;303;p20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٤</a:t>
              </a:r>
              <a:endParaRPr b="1" sz="11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07" name="Google Shape;307;p20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المزامنة السحابية</a:t>
              </a:r>
              <a:endParaRPr b="1" sz="12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المزامنة الفورية مع قواعد البيانات المركزية لهيئة الشارقة للآثار لضمان تكامل السجل.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08" name="Google Shape;308;p20"/>
          <p:cNvGrpSpPr/>
          <p:nvPr/>
        </p:nvGrpSpPr>
        <p:grpSpPr>
          <a:xfrm>
            <a:off x="381000" y="4333875"/>
            <a:ext cx="8382150" cy="400200"/>
            <a:chOff x="0" y="0"/>
            <a:chExt cx="8382150" cy="400200"/>
          </a:xfrm>
        </p:grpSpPr>
        <p:sp>
          <p:nvSpPr>
            <p:cNvPr id="309" name="Google Shape;309;p20"/>
            <p:cNvSpPr/>
            <p:nvPr/>
          </p:nvSpPr>
          <p:spPr>
            <a:xfrm>
              <a:off x="0" y="0"/>
              <a:ext cx="8382000" cy="4002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8324850" y="0"/>
              <a:ext cx="57300" cy="4002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190500" y="0"/>
              <a:ext cx="800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الهدف الرئيسي: </a:t>
              </a:r>
              <a:r>
                <a:rPr b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ربط الميدان الأثري بالسحابة المركزية مباشرة لضمان حماية وتوثيق الاكتشافات الأثرية دون تأخير.</a:t>
              </a:r>
              <a:endParaRPr b="1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21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317" name="Google Shape;317;p21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318" name="Google Shape;318;p21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1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21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1" name="Google Shape;321;p21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322" name="Google Shape;322;p21"/>
          <p:cNvGrpSpPr/>
          <p:nvPr/>
        </p:nvGrpSpPr>
        <p:grpSpPr>
          <a:xfrm>
            <a:off x="381000" y="552450"/>
            <a:ext cx="8382000" cy="495300"/>
            <a:chOff x="0" y="0"/>
            <a:chExt cx="8382000" cy="495300"/>
          </a:xfrm>
        </p:grpSpPr>
        <p:sp>
          <p:nvSpPr>
            <p:cNvPr id="323" name="Google Shape;323;p21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خطوات منهجية لبناء توأم رقمي دقيق لمجسم أثري</a:t>
              </a:r>
              <a:endParaRPr b="1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21"/>
          <p:cNvSpPr txBox="1"/>
          <p:nvPr/>
        </p:nvSpPr>
        <p:spPr>
          <a:xfrm>
            <a:off x="381000" y="11620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rPr>
              <a:t>تتطلب عملية بناء توأم رقمي دقيق لمجسم أثري اتباع خطوات منهجية متكاملة:</a:t>
            </a:r>
            <a:endParaRPr b="0" sz="1100">
              <a:solidFill>
                <a:srgbClr val="5C4033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326" name="Google Shape;326;p21"/>
          <p:cNvGrpSpPr/>
          <p:nvPr/>
        </p:nvGrpSpPr>
        <p:grpSpPr>
          <a:xfrm>
            <a:off x="6286500" y="1571625"/>
            <a:ext cx="2476500" cy="3008324"/>
            <a:chOff x="0" y="0"/>
            <a:chExt cx="2476500" cy="3008324"/>
          </a:xfrm>
        </p:grpSpPr>
        <p:sp>
          <p:nvSpPr>
            <p:cNvPr id="327" name="Google Shape;327;p21"/>
            <p:cNvSpPr/>
            <p:nvPr/>
          </p:nvSpPr>
          <p:spPr>
            <a:xfrm>
              <a:off x="0" y="0"/>
              <a:ext cx="2476500" cy="30003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1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Cairo"/>
                  <a:ea typeface="Cairo"/>
                  <a:cs typeface="Cairo"/>
                  <a:sym typeface="Cairo"/>
                </a:rPr>
                <a:t>الخطوة 01</a:t>
              </a:r>
              <a:endParaRPr b="1" sz="1050">
                <a:solidFill>
                  <a:srgbClr val="D4AF37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قاعدة الدوران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تصوير القطعة على ثلاثة ارتفاعات دائرية مختلفة (زاوية منخفضة 30 درجة، زاوية وسطى 45 درجة، وزاوية رأسية 70 درجة).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0" y="2095500"/>
              <a:ext cx="2476500" cy="9048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1"/>
            <p:cNvSpPr txBox="1"/>
            <p:nvPr/>
          </p:nvSpPr>
          <p:spPr>
            <a:xfrm>
              <a:off x="0" y="2198624"/>
              <a:ext cx="2476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3d_rotation</a:t>
              </a:r>
              <a:endParaRPr b="0" sz="38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32" name="Google Shape;332;p21"/>
          <p:cNvGrpSpPr/>
          <p:nvPr/>
        </p:nvGrpSpPr>
        <p:grpSpPr>
          <a:xfrm>
            <a:off x="3333750" y="1571625"/>
            <a:ext cx="2476500" cy="3008324"/>
            <a:chOff x="0" y="0"/>
            <a:chExt cx="2476500" cy="3008324"/>
          </a:xfrm>
        </p:grpSpPr>
        <p:sp>
          <p:nvSpPr>
            <p:cNvPr id="333" name="Google Shape;333;p21"/>
            <p:cNvSpPr/>
            <p:nvPr/>
          </p:nvSpPr>
          <p:spPr>
            <a:xfrm>
              <a:off x="0" y="0"/>
              <a:ext cx="2476500" cy="30003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1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Cairo"/>
                  <a:ea typeface="Cairo"/>
                  <a:cs typeface="Cairo"/>
                  <a:sym typeface="Cairo"/>
                </a:rPr>
                <a:t>الخطوة 02</a:t>
              </a:r>
              <a:endParaRPr b="1" sz="1050">
                <a:solidFill>
                  <a:srgbClr val="D4AF37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قاعدة التداخل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من الضروري الحفاظ على نسبة تداخل بين الصور المتعاقبة لا تقل عن 70% لضمان نجاح المعالجة وتحقيق أقصى دقة.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0" y="2095500"/>
              <a:ext cx="2476500" cy="9048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1"/>
            <p:cNvSpPr txBox="1"/>
            <p:nvPr/>
          </p:nvSpPr>
          <p:spPr>
            <a:xfrm>
              <a:off x="0" y="2198624"/>
              <a:ext cx="2476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b="0" sz="38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38" name="Google Shape;338;p21"/>
          <p:cNvGrpSpPr/>
          <p:nvPr/>
        </p:nvGrpSpPr>
        <p:grpSpPr>
          <a:xfrm>
            <a:off x="381000" y="1571625"/>
            <a:ext cx="2476500" cy="3008324"/>
            <a:chOff x="0" y="0"/>
            <a:chExt cx="2476500" cy="3008324"/>
          </a:xfrm>
        </p:grpSpPr>
        <p:sp>
          <p:nvSpPr>
            <p:cNvPr id="339" name="Google Shape;339;p21"/>
            <p:cNvSpPr/>
            <p:nvPr/>
          </p:nvSpPr>
          <p:spPr>
            <a:xfrm>
              <a:off x="0" y="0"/>
              <a:ext cx="2476500" cy="30003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1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Cairo"/>
                  <a:ea typeface="Cairo"/>
                  <a:cs typeface="Cairo"/>
                  <a:sym typeface="Cairo"/>
                </a:rPr>
                <a:t>الخطوة 03</a:t>
              </a:r>
              <a:endParaRPr b="1" sz="1050">
                <a:solidFill>
                  <a:srgbClr val="D4AF37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فحص المخرجات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تدوير النموذج، تفعيل شبكة المضلعات (Wireframe) للتحقق من الكثافة، واستخدام أداة القياس لمطابقة الأبعاد الافتراضية مع الحقيقية.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0" y="2095500"/>
              <a:ext cx="2476500" cy="9048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1"/>
            <p:cNvSpPr txBox="1"/>
            <p:nvPr/>
          </p:nvSpPr>
          <p:spPr>
            <a:xfrm>
              <a:off x="0" y="2198624"/>
              <a:ext cx="2476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straighten</a:t>
              </a:r>
              <a:endParaRPr b="0" sz="38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344" name="Google Shape;344;p21"/>
          <p:cNvSpPr/>
          <p:nvPr/>
        </p:nvSpPr>
        <p:spPr>
          <a:xfrm>
            <a:off x="381000" y="483870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350" name="Google Shape;350;p22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3" name="Google Shape;353;p22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b="0" sz="105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354" name="Google Shape;354;p22"/>
          <p:cNvGrpSpPr/>
          <p:nvPr/>
        </p:nvGrpSpPr>
        <p:grpSpPr>
          <a:xfrm>
            <a:off x="381000" y="571500"/>
            <a:ext cx="8382000" cy="714300"/>
            <a:chOff x="0" y="0"/>
            <a:chExt cx="8382000" cy="714300"/>
          </a:xfrm>
        </p:grpSpPr>
        <p:sp>
          <p:nvSpPr>
            <p:cNvPr id="355" name="Google Shape;355;p22"/>
            <p:cNvSpPr txBox="1"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العوائد الاستراتيجية والعلمية للتحول الرقمي الميداني</a:t>
              </a:r>
              <a:endParaRPr b="1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مؤشرات الأداء الإحصائية التي تبرز نجاح المنظومة الرقمية في تحسين كفاءة العمل الأثري</a:t>
              </a:r>
              <a:endParaRPr b="0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7620000" y="3619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7" name="Google Shape;357;p22"/>
          <p:cNvGrpSpPr/>
          <p:nvPr/>
        </p:nvGrpSpPr>
        <p:grpSpPr>
          <a:xfrm>
            <a:off x="4762500" y="1524000"/>
            <a:ext cx="4000500" cy="1428900"/>
            <a:chOff x="0" y="0"/>
            <a:chExt cx="4000500" cy="1428900"/>
          </a:xfrm>
        </p:grpSpPr>
        <p:sp>
          <p:nvSpPr>
            <p:cNvPr id="358" name="Google Shape;358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fmla="val 8000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60</a:t>
              </a:r>
              <a:endParaRPr b="1" sz="24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FPS / إطار</a:t>
              </a:r>
              <a:endParaRPr b="1" sz="8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62" name="Google Shape;362;p22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تصفح تفاعلي فوري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توفير تصفح تفاعلي فوري عالي السلاسة للمواقع الأثرية بسرعة تصل إلى 60 إطاراً في الثانية.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63" name="Google Shape;363;p22"/>
          <p:cNvGrpSpPr/>
          <p:nvPr/>
        </p:nvGrpSpPr>
        <p:grpSpPr>
          <a:xfrm>
            <a:off x="381000" y="1524000"/>
            <a:ext cx="4000500" cy="1428900"/>
            <a:chOff x="0" y="0"/>
            <a:chExt cx="4000500" cy="1428900"/>
          </a:xfrm>
        </p:grpSpPr>
        <p:sp>
          <p:nvSpPr>
            <p:cNvPr id="364" name="Google Shape;364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fmla="val 8000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2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1</a:t>
              </a:r>
              <a:endParaRPr b="1" sz="24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ملم دقة</a:t>
              </a:r>
              <a:endParaRPr b="1" sz="8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68" name="Google Shape;368;p22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دقة مسح هندسية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تضمن تقنيات الليدار المتقدمة تحقيق دقة مسح هندسية فائقة تصل إلى 1 ملم للقطعة الأثرية.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69" name="Google Shape;369;p22"/>
          <p:cNvGrpSpPr/>
          <p:nvPr/>
        </p:nvGrpSpPr>
        <p:grpSpPr>
          <a:xfrm>
            <a:off x="4762500" y="3095625"/>
            <a:ext cx="4000500" cy="1428900"/>
            <a:chOff x="0" y="0"/>
            <a:chExt cx="4000500" cy="1428900"/>
          </a:xfrm>
        </p:grpSpPr>
        <p:sp>
          <p:nvSpPr>
            <p:cNvPr id="370" name="Google Shape;370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fmla="val 8000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2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75%</a:t>
              </a:r>
              <a:endParaRPr b="1" sz="24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اختصار الوقت</a:t>
              </a:r>
              <a:endParaRPr b="1" sz="8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74" name="Google Shape;374;p22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رسم وتحليل الفخار</a:t>
              </a:r>
              <a:endParaRPr b="1" sz="135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تساهم أدوات الذكاء الاصطناعي في تحقيق اختصار بنسبة 75% من الوقت المستغرق في رسم وتحليل الفخار.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75" name="Google Shape;375;p22"/>
          <p:cNvGrpSpPr/>
          <p:nvPr/>
        </p:nvGrpSpPr>
        <p:grpSpPr>
          <a:xfrm>
            <a:off x="381000" y="3095625"/>
            <a:ext cx="4000500" cy="1428900"/>
            <a:chOff x="0" y="0"/>
            <a:chExt cx="4000500" cy="1428900"/>
          </a:xfrm>
        </p:grpSpPr>
        <p:sp>
          <p:nvSpPr>
            <p:cNvPr id="376" name="Google Shape;376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fmla="val 8000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2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100%</a:t>
              </a:r>
              <a:endParaRPr b="1" sz="24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حفظ مستدام</a:t>
              </a:r>
              <a:endParaRPr b="1" sz="8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80" name="Google Shape;380;p22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الحفظ الرقمي المستدام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تتوج الجهود بتحقيق نسبة 100% في الحفظ الرقمي الدائم والمستدام للسجل الأثري بأكمله.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381" name="Google Shape;381;p22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