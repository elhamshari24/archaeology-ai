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iro SemiBold"/>
      <p:regular r:id="rId15"/>
      <p:bold r:id="rId16"/>
    </p:embeddedFont>
    <p:embeddedFont>
      <p:font typeface="Cairo"/>
      <p:bold r:id="rId17"/>
    </p:embeddedFont>
    <p:embeddedFont>
      <p:font typeface="Tajawal Medium"/>
      <p:regular r:id="rId18"/>
      <p:bold r:id="rId19"/>
    </p:embeddedFont>
    <p:embeddedFont>
      <p:font typeface="Tajawal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jawal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Tajawal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iro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Cairo-bold.fntdata"/><Relationship Id="rId16" Type="http://schemas.openxmlformats.org/officeDocument/2006/relationships/font" Target="fonts/Cairo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jawalMedium-bold.fntdata"/><Relationship Id="rId6" Type="http://schemas.openxmlformats.org/officeDocument/2006/relationships/slide" Target="slides/slide1.xml"/><Relationship Id="rId18" Type="http://schemas.openxmlformats.org/officeDocument/2006/relationships/font" Target="fonts/Tajawal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d18e7fc4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d18e7fc4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d18e7fc4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d18e7fc4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d18e7fc4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d18e7fc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d18e7fc4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d18e7fc4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d18e7fc4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d18e7fc4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bd18e7fc4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bd18e7fc4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bd18e7fc4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bd18e7fc4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d18e7fc4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d18e7fc4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d18e7fc4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bd18e7fc4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d18e7fc4_8_0)">
  <p:cSld name="Generated (g3fbd18e7fc4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hyperlink" Target="https://universe.roboflow.com/brows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rowser.dataspace.copernicus.eu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5475" y="190500"/>
            <a:ext cx="2675400" cy="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8401050" y="352425"/>
            <a:ext cx="342900" cy="342900"/>
            <a:chOff x="19050" y="19050"/>
            <a:chExt cx="342900" cy="342900"/>
          </a:xfrm>
        </p:grpSpPr>
        <p:sp>
          <p:nvSpPr>
            <p:cNvPr id="57" name="Google Shape;57;p1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19250"/>
            <a:ext cx="3810000" cy="21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4"/>
          <p:cNvGrpSpPr/>
          <p:nvPr/>
        </p:nvGrpSpPr>
        <p:grpSpPr>
          <a:xfrm>
            <a:off x="4476750" y="1619250"/>
            <a:ext cx="4191000" cy="2038350"/>
            <a:chOff x="4476750" y="1619250"/>
            <a:chExt cx="4191000" cy="203835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4476750" y="1619250"/>
              <a:ext cx="419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استكشاف ما تحت الرمال: الاستشعار عن بعد والذكاء الاصطناعي الجغرافي (GeoAI)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C4033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الكشف التنبؤي عن الآثار الصحراوية المدفونة </a:t>
              </a:r>
              <a:endParaRPr b="0" sz="135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905750" y="36195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b="1" sz="14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70" name="Google Shape;70;p15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" name="Google Shape;74;p15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381000" y="666750"/>
            <a:ext cx="8382000" cy="514350"/>
            <a:chOff x="0" y="0"/>
            <a:chExt cx="8382000" cy="514350"/>
          </a:xfrm>
        </p:grpSpPr>
        <p:sp>
          <p:nvSpPr>
            <p:cNvPr id="76" name="Google Shape;76;p1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تحديات البيئة الجافة واتساع المساحات الاستكشافية في الشارقة</a:t>
              </a:r>
              <a:endParaRPr b="1" sz="222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620000" y="476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12382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صعوبة المسح التقليدي في سهول الشارقة تتطلب الانتقال إلى التقنيات الفضائية والحلول الذكية.</a:t>
            </a:r>
            <a:endParaRPr b="0" sz="13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381000" y="1857375"/>
            <a:ext cx="8382000" cy="2667000"/>
            <a:chOff x="0" y="0"/>
            <a:chExt cx="8382000" cy="2667000"/>
          </a:xfrm>
        </p:grpSpPr>
        <p:grpSp>
          <p:nvGrpSpPr>
            <p:cNvPr id="80" name="Google Shape;80;p15"/>
            <p:cNvGrpSpPr/>
            <p:nvPr/>
          </p:nvGrpSpPr>
          <p:grpSpPr>
            <a:xfrm>
              <a:off x="4381500" y="0"/>
              <a:ext cx="4000500" cy="2667000"/>
              <a:chOff x="0" y="0"/>
              <a:chExt cx="4000500" cy="26670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40005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0" y="0"/>
                <a:ext cx="4000500" cy="428700"/>
              </a:xfrm>
              <a:prstGeom prst="roundRect">
                <a:avLst>
                  <a:gd fmla="val 26666" name="adj"/>
                </a:avLst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0" y="238125"/>
                <a:ext cx="4000500" cy="190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 txBox="1"/>
              <p:nvPr/>
            </p:nvSpPr>
            <p:spPr>
              <a:xfrm>
                <a:off x="142875" y="76200"/>
                <a:ext cx="3714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التحديات الميدانية والمسح التقليدي</a:t>
                </a:r>
                <a:endParaRPr b="1" sz="1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85" name="Google Shape;85;p15"/>
              <p:cNvSpPr txBox="1"/>
              <p:nvPr/>
            </p:nvSpPr>
            <p:spPr>
              <a:xfrm>
                <a:off x="190500" y="571500"/>
                <a:ext cx="3619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142875" wrap="square" tIns="0">
                <a:noAutofit/>
              </a:bodyPr>
              <a:lstStyle/>
              <a:p>
                <a:pPr indent="-317500" lvl="0" marL="457200" rtl="1" algn="r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تخفي الكثبان الرملية الزاحفة في سهول الشارقة (كالمدام والذيد ومليحة) الشواهد الأثرية السطحية بالكامل.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صعوبة بالغة في اكتشاف المعالم الأثرية بالعين المجردة نظراً للطبيعة الصحراوية.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80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المسح الميداني التقليدي (سيراً أو بالمركبات) مكلف جداً بشرياً ومالياً ويستنزف وقتاً طويلاً.</a:t>
                </a:r>
                <a:endParaRPr/>
              </a:p>
            </p:txBody>
          </p:sp>
        </p:grpSp>
        <p:sp>
          <p:nvSpPr>
            <p:cNvPr id="86" name="Google Shape;86;p15"/>
            <p:cNvSpPr/>
            <p:nvPr/>
          </p:nvSpPr>
          <p:spPr>
            <a:xfrm>
              <a:off x="3810000" y="1143000"/>
              <a:ext cx="571500" cy="285900"/>
            </a:xfrm>
            <a:custGeom>
              <a:rect b="b" l="l" r="r" t="t"/>
              <a:pathLst>
                <a:path extrusionOk="0" h="120000" w="120000">
                  <a:moveTo>
                    <a:pt x="120000" y="40000"/>
                  </a:moveTo>
                  <a:lnTo>
                    <a:pt x="40000" y="40000"/>
                  </a:lnTo>
                  <a:lnTo>
                    <a:pt x="40000" y="0"/>
                  </a:lnTo>
                  <a:lnTo>
                    <a:pt x="0" y="60000"/>
                  </a:lnTo>
                  <a:lnTo>
                    <a:pt x="40000" y="120000"/>
                  </a:lnTo>
                  <a:lnTo>
                    <a:pt x="40000" y="80000"/>
                  </a:lnTo>
                  <a:lnTo>
                    <a:pt x="120000" y="80000"/>
                  </a:lnTo>
                  <a:close/>
                </a:path>
              </a:pathLst>
            </a:cu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" name="Google Shape;87;p15"/>
            <p:cNvGrpSpPr/>
            <p:nvPr/>
          </p:nvGrpSpPr>
          <p:grpSpPr>
            <a:xfrm>
              <a:off x="0" y="0"/>
              <a:ext cx="3810000" cy="2667000"/>
              <a:chOff x="0" y="0"/>
              <a:chExt cx="3810000" cy="26670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0" y="0"/>
                <a:ext cx="3810000" cy="428700"/>
              </a:xfrm>
              <a:prstGeom prst="roundRect">
                <a:avLst>
                  <a:gd fmla="val 26666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0" y="238125"/>
                <a:ext cx="3810000" cy="1905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42875" y="76200"/>
                <a:ext cx="3524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95">
                    <a:solidFill>
                      <a:srgbClr val="FDFCF0"/>
                    </a:solidFill>
                    <a:latin typeface="Cairo"/>
                    <a:ea typeface="Cairo"/>
                    <a:cs typeface="Cairo"/>
                    <a:sym typeface="Cairo"/>
                  </a:rPr>
                  <a:t>الحل المستهدف (الاستكشاف الفضائي الذكي)</a:t>
                </a:r>
                <a:endParaRPr b="1" sz="1295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190500" y="571500"/>
                <a:ext cx="34290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142875" wrap="square" tIns="0">
                <a:noAutofit/>
              </a:bodyPr>
              <a:lstStyle/>
              <a:p>
                <a:pPr indent="-317500" lvl="0" marL="457200" rtl="1" algn="r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حاجة ملحة إلى </a:t>
                </a:r>
                <a:r>
                  <a:rPr b="1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"عيون فضائية نافذة"</a:t>
                </a: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قادرة على اختراق التحديات الجغرافية.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مسح آلاف الكيلومترات المربعة بكفاءة فائقة ودقة عالية وبأقل جهد زمني.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80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حماية التراث دون المساس بسلامة المواقع الأثرية أو الإضرار بالبيئة المحيطة.</a:t>
                </a:r>
                <a:endParaRPr/>
              </a:p>
            </p:txBody>
          </p:sp>
        </p:grpSp>
      </p:grpSp>
      <p:sp>
        <p:nvSpPr>
          <p:cNvPr id="93" name="Google Shape;93;p15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76200" y="7620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52400" y="21907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1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105" name="Google Shape;105;p16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كيف تخترق موجات الرادار الفضائي (SAR) باطن الأرض؟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381125"/>
            <a:ext cx="4000500" cy="300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6"/>
          <p:cNvGrpSpPr/>
          <p:nvPr/>
        </p:nvGrpSpPr>
        <p:grpSpPr>
          <a:xfrm>
            <a:off x="4572000" y="1381125"/>
            <a:ext cx="4191000" cy="3000300"/>
            <a:chOff x="0" y="0"/>
            <a:chExt cx="4191000" cy="3000300"/>
          </a:xfrm>
        </p:grpSpPr>
        <p:grpSp>
          <p:nvGrpSpPr>
            <p:cNvPr id="109" name="Google Shape;109;p16"/>
            <p:cNvGrpSpPr/>
            <p:nvPr/>
          </p:nvGrpSpPr>
          <p:grpSpPr>
            <a:xfrm>
              <a:off x="0" y="0"/>
              <a:ext cx="4191000" cy="904800"/>
              <a:chOff x="0" y="0"/>
              <a:chExt cx="4191000" cy="904800"/>
            </a:xfrm>
          </p:grpSpPr>
          <p:sp>
            <p:nvSpPr>
              <p:cNvPr id="110" name="Google Shape;110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الأقمار والموجات الميكروية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تعتمد التقنية على أقمار متقدمة مثل Sentinel-1 وALOS-PALSAR التي تستخدم الموجات الميكروية الدقيقة (L-band و C-band).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13" name="Google Shape;113;p16"/>
            <p:cNvGrpSpPr/>
            <p:nvPr/>
          </p:nvGrpSpPr>
          <p:grpSpPr>
            <a:xfrm>
              <a:off x="0" y="1047750"/>
              <a:ext cx="4191000" cy="904800"/>
              <a:chOff x="0" y="0"/>
              <a:chExt cx="4191000" cy="9048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اختراق الرمال الجافة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تتميز الموجات الطويلة (L-band) بقدرتها الفائقة على النفاذ عبر الرمال الجافة غير المشبعة بالماء لعمق يتراوح بين 1 إلى 3 أمتار.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0" y="2095500"/>
              <a:ext cx="4191000" cy="904800"/>
              <a:chOff x="0" y="0"/>
              <a:chExt cx="4191000" cy="9048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الارتداد التفاضلي (Backscatter)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ترتد الموجات بقوة عند اصطدامها بالأساسات الحجرية والجدران اللبنة الدفينة، مما يولد تبايناً رادارياً يكشف الموقع.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121" name="Google Shape;121;p16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1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28" name="Google Shape;128;p1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" name="Google Shape;132;p1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تجريد الأرض من غطائها: تقنية Airborne LiDAR وتصنيف DTM</a:t>
            </a:r>
            <a:endParaRPr b="1" sz="20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استخدام المسح الليزري الجوي والخوارزميات الرقمية لكشف المعالم الأثرية المدفونة بدقة عالية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4762500" y="1333500"/>
            <a:ext cx="4000500" cy="1476300"/>
            <a:chOff x="0" y="0"/>
            <a:chExt cx="4000500" cy="147630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3581400" y="247650"/>
              <a:ext cx="133500" cy="133500"/>
            </a:xfrm>
            <a:custGeom>
              <a:rect b="b" l="l" r="r" t="t"/>
              <a:pathLst>
                <a:path extrusionOk="0" fill="none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619500" y="285750"/>
              <a:ext cx="57300" cy="57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إطلاق النبضات الليزرية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تعتمد تقنية الليدار الجوي (Airborne LiDAR) على إطلاق ملايين النبضات الليزرية في الثانية من طائرات مسيرة أو مأهولة لمسح التضاريس بدقة فائقة.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381000" y="1333500"/>
            <a:ext cx="4000500" cy="1476300"/>
            <a:chOff x="0" y="0"/>
            <a:chExt cx="4000500" cy="14763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552825" y="266700"/>
              <a:ext cx="190500" cy="13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78000" y="60000"/>
                  </a:lnTo>
                  <a:lnTo>
                    <a:pt x="78000" y="120000"/>
                  </a:lnTo>
                  <a:lnTo>
                    <a:pt x="42000" y="120000"/>
                  </a:lnTo>
                  <a:lnTo>
                    <a:pt x="4200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تصفية النقاط الأرضية (Ground Filtering)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تُطبق خوارزميات متقدمة لمعالجة البيانات وتصنيف النقاط بهدف إزالة الرمال الزاحفة والنباتات رقمياً وبشكل كامل من النماذج الممسوحة.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4762500" y="3000375"/>
            <a:ext cx="4000500" cy="1476300"/>
            <a:chOff x="0" y="0"/>
            <a:chExt cx="4000500" cy="1476300"/>
          </a:xfrm>
        </p:grpSpPr>
        <p:sp>
          <p:nvSpPr>
            <p:cNvPr id="149" name="Google Shape;149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3552825" y="247650"/>
              <a:ext cx="190500" cy="1335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42000" y="34286"/>
                  </a:lnTo>
                  <a:lnTo>
                    <a:pt x="78000" y="77143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" name="Google Shape;153;p17"/>
            <p:cNvCxnSpPr/>
            <p:nvPr/>
          </p:nvCxnSpPr>
          <p:spPr>
            <a:xfrm>
              <a:off x="3552825" y="40005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توليد نماذج الارتفاع الرقمية (DTM)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تُستخدم البيانات النقية الناتجة لتوليد نماذج الارتفاع الرقمية العارية (Digital Terrain Models) التي تعكس سطح الأرض الحقيقي بدقة متناهية.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381000" y="3000375"/>
            <a:ext cx="4000500" cy="1476300"/>
            <a:chOff x="0" y="0"/>
            <a:chExt cx="4000500" cy="14763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571875" y="238125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17"/>
            <p:cNvCxnSpPr/>
            <p:nvPr/>
          </p:nvCxnSpPr>
          <p:spPr>
            <a:xfrm>
              <a:off x="3667125" y="333375"/>
              <a:ext cx="66600" cy="573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كشف المكتشفات الأثرية المدفونة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تساعد هذه النماذج مباشرة في كشف التلال الأثرية ومدافن العصر البرونزي الركامية المخفية التي تصعب ملاحظتها وتوثيقها بالطرق التقليدية.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62" name="Google Shape;162;p17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68" name="Google Shape;168;p1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" name="Google Shape;172;p18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73" name="Google Shape;173;p18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تدريب نماذج الرؤية الحاسوبية على كشف الأنماط الأثرية (YOLO &amp; SAM)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001000" y="10096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81000" y="11239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مسح وتحليل الصور الفضائية آلياً للتعرف على التشكيلات المعمارية والخطوط الممتدة: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cxnSp>
        <p:nvCxnSpPr>
          <p:cNvPr id="176" name="Google Shape;176;p18"/>
          <p:cNvCxnSpPr/>
          <p:nvPr/>
        </p:nvCxnSpPr>
        <p:spPr>
          <a:xfrm>
            <a:off x="1809750" y="1600200"/>
            <a:ext cx="55245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" name="Google Shape;177;p18"/>
          <p:cNvGrpSpPr/>
          <p:nvPr/>
        </p:nvGrpSpPr>
        <p:grpSpPr>
          <a:xfrm>
            <a:off x="7200900" y="1466850"/>
            <a:ext cx="266700" cy="266700"/>
            <a:chOff x="0" y="0"/>
            <a:chExt cx="266700" cy="2667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4438650" y="1466850"/>
            <a:ext cx="266700" cy="266700"/>
            <a:chOff x="0" y="0"/>
            <a:chExt cx="266700" cy="2667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1676400" y="1466850"/>
            <a:ext cx="266700" cy="266700"/>
            <a:chOff x="0" y="0"/>
            <a:chExt cx="266700" cy="266700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6096000" y="1857375"/>
            <a:ext cx="2476500" cy="1809600"/>
            <a:chOff x="0" y="0"/>
            <a:chExt cx="2476500" cy="18096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التشكيلات الدائرية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تدريب النماذج الذكية على المسح الفضائي للتعرف الدقيق على الهياكل والمعالم الدائرية للـمـدافـن الأثـريـة القديمة.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3333750" y="1857375"/>
            <a:ext cx="2476500" cy="1809600"/>
            <a:chOff x="0" y="0"/>
            <a:chExt cx="2476500" cy="18096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التشكيلات المستطيلة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كشف وبناء أنماط معمارية للمساحات المستطيلة المعقدة الخاصة بالـحـصـون والأسـوار الأثرية.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571500" y="1857375"/>
            <a:ext cx="2476500" cy="1809600"/>
            <a:chOff x="0" y="0"/>
            <a:chExt cx="2476500" cy="1809600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الخطوط الممتدة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تتبع الملامح الخطية المستمرة على السطح لتحليل وتحديد مسارات قـنـوات الأفـلاج المائية الممتدة.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381000" y="3886200"/>
            <a:ext cx="8382150" cy="647700"/>
            <a:chOff x="0" y="0"/>
            <a:chExt cx="8382150" cy="6477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324850" y="0"/>
              <a:ext cx="57300" cy="6477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1" name="Google Shape;201;p18"/>
            <p:cNvGrpSpPr/>
            <p:nvPr/>
          </p:nvGrpSpPr>
          <p:grpSpPr>
            <a:xfrm>
              <a:off x="190500" y="95250"/>
              <a:ext cx="1047900" cy="457200"/>
              <a:chOff x="0" y="0"/>
              <a:chExt cx="1047900" cy="457200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0" y="0"/>
                <a:ext cx="1047900" cy="457200"/>
              </a:xfrm>
              <a:prstGeom prst="roundRect">
                <a:avLst>
                  <a:gd fmla="val 8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8"/>
              <p:cNvSpPr txBox="1"/>
              <p:nvPr/>
            </p:nvSpPr>
            <p:spPr>
              <a:xfrm>
                <a:off x="0" y="0"/>
                <a:ext cx="1047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90%</a:t>
                </a:r>
                <a:endParaRPr b="1" sz="17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تقليص مساحة البحث</a:t>
                </a:r>
                <a:endParaRPr b="1" sz="8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204" name="Google Shape;204;p18"/>
            <p:cNvSpPr txBox="1"/>
            <p:nvPr/>
          </p:nvSpPr>
          <p:spPr>
            <a:xfrm>
              <a:off x="1381125" y="0"/>
              <a:ext cx="68103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الأثر والنتيجة الميدانية: </a:t>
              </a:r>
              <a:r>
                <a:rPr b="0" lang="en" sz="11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تساهم هذه التقنيات المتقدمة في خفض مساحة البحث الميداني بنسبة 90% من خلال تحديد "دوائر اشتباه أثري مؤكدة"، مما يوجه جهود الفرق الميدانية بفعالية.</a:t>
              </a:r>
              <a:endParaRPr/>
            </a:p>
          </p:txBody>
        </p:sp>
      </p:grpSp>
      <p:sp>
        <p:nvSpPr>
          <p:cNvPr id="205" name="Google Shape;205;p1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11" name="Google Shape;211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5" name="Google Shape;215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16" name="Google Shape;216;p19"/>
          <p:cNvGrpSpPr/>
          <p:nvPr/>
        </p:nvGrpSpPr>
        <p:grpSpPr>
          <a:xfrm>
            <a:off x="381000" y="571500"/>
            <a:ext cx="8382000" cy="561975"/>
            <a:chOff x="0" y="0"/>
            <a:chExt cx="8382000" cy="561975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مؤشر الشذوذ الطيفي الأثري المخصص (ANDI)</a:t>
              </a:r>
              <a:endParaRPr b="1" sz="2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7620000" y="52387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381000" y="12382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C403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يقارن المؤشر بين النطاقات الطيفية لكشف الآثار المدفونة عبر التغيرات غير المرئية في التربة والنباتات:</a:t>
            </a:r>
            <a:endParaRPr b="0" sz="1100">
              <a:solidFill>
                <a:srgbClr val="5C403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220" name="Google Shape;220;p19"/>
          <p:cNvGrpSpPr/>
          <p:nvPr/>
        </p:nvGrpSpPr>
        <p:grpSpPr>
          <a:xfrm>
            <a:off x="6286500" y="1714500"/>
            <a:ext cx="2476500" cy="2918841"/>
            <a:chOff x="0" y="0"/>
            <a:chExt cx="2476500" cy="2918841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المفهوم والمعادلة الطيفية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يعتمد المؤشر على معادلة طيفية دقيقة تقارن بين انعكاس النطاق الأحمر (Red Band) ونطاق الأشعة تحت الحمراء القريبة (NIR).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3333750" y="1714500"/>
            <a:ext cx="2476500" cy="2918841"/>
            <a:chOff x="0" y="0"/>
            <a:chExt cx="2476500" cy="2918841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الأثر الفيزيائي على التربة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تضغط الآثار المدفونة التربة فوقها، مما يغير قدرتها الطبيعية على الاحتفاظ بالرطوبة أو دعم نمو وإنبات الأعشاب والنباتات.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381000" y="1714500"/>
            <a:ext cx="2476500" cy="2918841"/>
            <a:chOff x="0" y="0"/>
            <a:chExt cx="2476500" cy="2918841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الالتقاط الفضائي والوميض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ينتج عن التغير الدقيق وميض أو تباين في الأشعة تحت الحمراء القريبة تلتقطه المستشعرات الفضائية رغم خفائه عن العين البشرية.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38" name="Google Shape;238;p19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44" name="Google Shape;244;p2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8" name="Google Shape;248;p2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381000" y="619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مختبر الورشة: الكشف الآلي بالشذوذ الطيفي عبر بايثون (Google Colab)</a:t>
            </a:r>
            <a:endParaRPr b="1" sz="2035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3">
            <a:alphaModFix/>
          </a:blip>
          <a:srcRect b="25760" l="0" r="0" t="25755"/>
          <a:stretch/>
        </p:blipFill>
        <p:spPr>
          <a:xfrm>
            <a:off x="381000" y="1162050"/>
            <a:ext cx="8382000" cy="228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20"/>
          <p:cNvGrpSpPr/>
          <p:nvPr/>
        </p:nvGrpSpPr>
        <p:grpSpPr>
          <a:xfrm>
            <a:off x="6029325" y="3571875"/>
            <a:ext cx="2733600" cy="1190700"/>
            <a:chOff x="0" y="0"/>
            <a:chExt cx="2733600" cy="11907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1.</a:t>
              </a:r>
              <a:r>
                <a:rPr b="1" lang="en" sz="1200" u="sng">
                  <a:solidFill>
                    <a:schemeClr val="hlink"/>
                  </a:solidFill>
                  <a:latin typeface="Cairo"/>
                  <a:ea typeface="Cairo"/>
                  <a:cs typeface="Cairo"/>
                  <a:sym typeface="Cairo"/>
                  <a:hlinkClick r:id="rId4"/>
                </a:rPr>
                <a:t> المشهد الصحراوي</a:t>
              </a: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 (RGB)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تعرض اللوحة الأولى المشهد الصحراوي الطبيعي، حيث تبرز صعوبة تمييز الآثار والمكونات المدفونة بالعين المجردة.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6" name="Google Shape;256;p20"/>
          <p:cNvGrpSpPr/>
          <p:nvPr/>
        </p:nvGrpSpPr>
        <p:grpSpPr>
          <a:xfrm>
            <a:off x="3200400" y="3571875"/>
            <a:ext cx="2733600" cy="1190700"/>
            <a:chOff x="0" y="0"/>
            <a:chExt cx="2733600" cy="1190700"/>
          </a:xfrm>
        </p:grpSpPr>
        <p:sp>
          <p:nvSpPr>
            <p:cNvPr id="257" name="Google Shape;257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2. خريطة الشذوذ الطيفي (ANDI)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توضح خريطة الشذوذ استخدام ألوان التباين الحراري (Inferno Colormap) لإبراز الفروقات والتشوهات الطيفية الدقيقة.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381000" y="3571875"/>
            <a:ext cx="2733600" cy="1190700"/>
            <a:chOff x="0" y="0"/>
            <a:chExt cx="2733600" cy="1190700"/>
          </a:xfrm>
        </p:grpSpPr>
        <p:sp>
          <p:nvSpPr>
            <p:cNvPr id="261" name="Google Shape;261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3. الكشف الآلي والمواقع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تُظهر النتائج النهائية المتمثلة في مربعات الاكتشاف الخضراء، مع تسمية المواقع المكتشفة آلياً والقنوات القديمة (Paleochannel).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4" name="Google Shape;264;p20"/>
          <p:cNvSpPr/>
          <p:nvPr/>
        </p:nvSpPr>
        <p:spPr>
          <a:xfrm>
            <a:off x="381000" y="48768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70" name="Google Shape;270;p2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71" name="Google Shape;271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" name="Google Shape;274;p2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5" name="Google Shape;275;p21"/>
          <p:cNvGrpSpPr/>
          <p:nvPr/>
        </p:nvGrpSpPr>
        <p:grpSpPr>
          <a:xfrm>
            <a:off x="381000" y="552450"/>
            <a:ext cx="8382000" cy="895500"/>
            <a:chOff x="381000" y="552450"/>
            <a:chExt cx="8382000" cy="895500"/>
          </a:xfrm>
        </p:grpSpPr>
        <p:sp>
          <p:nvSpPr>
            <p:cNvPr id="276" name="Google Shape;276;p21"/>
            <p:cNvSpPr txBox="1"/>
            <p:nvPr/>
          </p:nvSpPr>
          <p:spPr>
            <a:xfrm>
              <a:off x="381000" y="55245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تطبيقات ميدانية: تتبع قنوات فلج المدام القديم</a:t>
              </a:r>
              <a:endParaRPr b="1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8001000" y="10287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381000" y="11620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خطوات دراسة الحالة الميدانية لشبكة فلج المدام من الاكتشاف الفضائي إلى الحفر الميداني:</a:t>
              </a:r>
              <a:endParaRPr b="0" sz="12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1676400" y="1533525"/>
            <a:ext cx="5791200" cy="266700"/>
            <a:chOff x="1676400" y="1533525"/>
            <a:chExt cx="5791200" cy="266700"/>
          </a:xfrm>
        </p:grpSpPr>
        <p:cxnSp>
          <p:nvCxnSpPr>
            <p:cNvPr id="280" name="Google Shape;280;p21"/>
            <p:cNvCxnSpPr/>
            <p:nvPr/>
          </p:nvCxnSpPr>
          <p:spPr>
            <a:xfrm>
              <a:off x="1809750" y="1666875"/>
              <a:ext cx="5524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1" name="Google Shape;281;p21"/>
            <p:cNvSpPr/>
            <p:nvPr/>
          </p:nvSpPr>
          <p:spPr>
            <a:xfrm>
              <a:off x="72009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72771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443865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451485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16764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17526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571500" y="2000250"/>
            <a:ext cx="8001000" cy="1762200"/>
            <a:chOff x="571500" y="2000250"/>
            <a:chExt cx="8001000" cy="1762200"/>
          </a:xfrm>
        </p:grpSpPr>
        <p:grpSp>
          <p:nvGrpSpPr>
            <p:cNvPr id="288" name="Google Shape;288;p21"/>
            <p:cNvGrpSpPr/>
            <p:nvPr/>
          </p:nvGrpSpPr>
          <p:grpSpPr>
            <a:xfrm>
              <a:off x="6096000" y="2000250"/>
              <a:ext cx="2476500" cy="1762200"/>
              <a:chOff x="0" y="0"/>
              <a:chExt cx="2476500" cy="1762200"/>
            </a:xfrm>
          </p:grpSpPr>
          <p:sp>
            <p:nvSpPr>
              <p:cNvPr id="289" name="Google Shape;289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الأولى: المسح الفضائي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استخدام التقنيات الفضائية بنجاح لرسم مسار القنوات المائية الجافة (</a:t>
                </a:r>
                <a:r>
                  <a:rPr b="0" lang="en" sz="1050" u="sng">
                    <a:solidFill>
                      <a:schemeClr val="hlink"/>
                    </a:solidFill>
                    <a:latin typeface="Tajawal"/>
                    <a:ea typeface="Tajawal"/>
                    <a:cs typeface="Tajawal"/>
                    <a:sym typeface="Tajawal"/>
                    <a:hlinkClick r:id="rId3"/>
                  </a:rPr>
                  <a:t>Paleochannels</a:t>
                </a: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) المطمورة تحت رمال منطقة المدام.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92" name="Google Shape;292;p21"/>
            <p:cNvGrpSpPr/>
            <p:nvPr/>
          </p:nvGrpSpPr>
          <p:grpSpPr>
            <a:xfrm>
              <a:off x="3333750" y="2000250"/>
              <a:ext cx="2476500" cy="1762200"/>
              <a:chOff x="0" y="0"/>
              <a:chExt cx="2476500" cy="1762200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الثانية: التحليل الجغرافي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تحديد نقاط التقاء شبكات الري القديمة بمستوطنات العصر الحديدي المجاورة بدقة عالية بناءً على البيانات الفضائية.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96" name="Google Shape;296;p21"/>
            <p:cNvGrpSpPr/>
            <p:nvPr/>
          </p:nvGrpSpPr>
          <p:grpSpPr>
            <a:xfrm>
              <a:off x="571500" y="2000250"/>
              <a:ext cx="2476500" cy="1762200"/>
              <a:chOff x="0" y="0"/>
              <a:chExt cx="2476500" cy="1762200"/>
            </a:xfrm>
          </p:grpSpPr>
          <p:sp>
            <p:nvSpPr>
              <p:cNvPr id="297" name="Google Shape;297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الثالثة: التنقيب الميداني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توجيه فرق الحفر والتنقيب مباشرة إلى المواقع الدقيقة لفتحات التهوية وأحواض التوزيع المفقودة.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300" name="Google Shape;300;p21"/>
          <p:cNvGrpSpPr/>
          <p:nvPr/>
        </p:nvGrpSpPr>
        <p:grpSpPr>
          <a:xfrm>
            <a:off x="381000" y="3981450"/>
            <a:ext cx="8382150" cy="495300"/>
            <a:chOff x="0" y="0"/>
            <a:chExt cx="8382150" cy="495300"/>
          </a:xfrm>
        </p:grpSpPr>
        <p:sp>
          <p:nvSpPr>
            <p:cNvPr id="301" name="Google Shape;301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8324850" y="0"/>
              <a:ext cx="57300" cy="4953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1"/>
            <p:cNvSpPr txBox="1"/>
            <p:nvPr/>
          </p:nvSpPr>
          <p:spPr>
            <a:xfrm>
              <a:off x="190500" y="0"/>
              <a:ext cx="8001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الأثر والتأثير الميداني: </a:t>
              </a:r>
              <a:r>
                <a:rPr b="0" lang="en" sz="12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توجيه مباشر لفرق التنقيب نحو الأهداف الأثرية المفقودة بدقة عالية، مما وفر الكثير من الجهد والوقت.</a:t>
              </a:r>
              <a:endParaRPr b="1" sz="12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04" name="Google Shape;304;p21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10" name="Google Shape;310;p2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11" name="Google Shape;311;p2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" name="Google Shape;314;p2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315" name="Google Shape;315;p22"/>
          <p:cNvSpPr txBox="1"/>
          <p:nvPr/>
        </p:nvSpPr>
        <p:spPr>
          <a:xfrm>
            <a:off x="381000" y="57150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ثمار الاستشعار الفضائي التنبؤي ومؤشرات الأثر الاستكشافي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تحقق تقنيات الاستشعار الفضائي التنبؤي نتائج قياسية تشمل أداءً عالي الدقة وكفاءة ميدانية غير مسبوقة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8001000" y="9334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22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318" name="Google Shape;318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0" name="Google Shape;320;p2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321" name="Google Shape;321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1-3م</a:t>
                </a:r>
                <a:endParaRPr b="1" sz="26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عمق الاختراق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23" name="Google Shape;323;p2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عمق الاختراق الراداري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الوصول إلى 1 - 3 أمتار تحت السطح الرملي للكشف عن الهياكل والمعالم الأثرية المدفونة بكفاءة فائقة.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24" name="Google Shape;324;p22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325" name="Google Shape;325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22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328" name="Google Shape;328;p22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95250" y="9525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0" name="Google Shape;330;p22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سرعة المسح الفضائي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إمكانية مسح آلاف الكيلومترات المربعة في دقائق معدودة، مما يختصر سنوات من العمل الميداني التقليدي.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31" name="Google Shape;331;p22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332" name="Google Shape;332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4" name="Google Shape;334;p2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335" name="Google Shape;335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92%</a:t>
                </a:r>
                <a:endParaRPr b="1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دقة التنبؤ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37" name="Google Shape;337;p2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دقة التنبؤ بالمواقع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تحقيق نسبة 92% في دقة التنبؤ بمواقع المدافن والمستوطنات الأثرية غير المكتشفة سابقاً.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38" name="Google Shape;338;p22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339" name="Google Shape;339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" name="Google Shape;341;p22"/>
            <p:cNvGrpSpPr/>
            <p:nvPr/>
          </p:nvGrpSpPr>
          <p:grpSpPr>
            <a:xfrm>
              <a:off x="2857500" y="238125"/>
              <a:ext cx="952500" cy="952500"/>
              <a:chOff x="0" y="0"/>
              <a:chExt cx="952500" cy="952500"/>
            </a:xfrm>
          </p:grpSpPr>
          <p:sp>
            <p:nvSpPr>
              <p:cNvPr id="342" name="Google Shape;342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صفر</a:t>
                </a:r>
                <a:endParaRPr b="1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حفريات عشوائية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44" name="Google Shape;344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الكفاءة الميدانية العالية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الوصول إلى صفر حفريات عشوائية هدامة بفضل التوجيه الدقيق والمسبق لفرق التنقيب الأثري.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45" name="Google Shape;345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