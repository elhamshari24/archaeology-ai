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  <p:sldMasterId id="2147483674" r:id="rId3"/>
    <p:sldMasterId id="2147483687" r:id="rId4"/>
    <p:sldMasterId id="2147483700" r:id="rId5"/>
  </p:sldMasterIdLst>
  <p:notesMasterIdLst>
    <p:notesMasterId r:id="rId5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9144000" cy="5143500" type="screen16x9"/>
  <p:notesSz cx="6858000" cy="9144000"/>
  <p:embeddedFontLst>
    <p:embeddedFont>
      <p:font typeface="Cairo" panose="020B0604020202020204" charset="-78"/>
      <p:bold r:id="rId51"/>
    </p:embeddedFont>
    <p:embeddedFont>
      <p:font typeface="Tajawal" panose="020B0604020202020204" charset="-78"/>
      <p:regular r:id="rId52"/>
      <p:bold r:id="rId53"/>
    </p:embeddedFont>
    <p:embeddedFont>
      <p:font typeface="Tajawal Medium" panose="020B0604020202020204" charset="-78"/>
      <p:regular r:id="rId54"/>
      <p:bold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4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7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font" Target="fonts/font3.fntdata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e33851bb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e33851bb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e33851bb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e33851bb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e33851bb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be33851bb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be33851bb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be33851bb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be33851bb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be33851bb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be33851bb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be33851bb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be33851bb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be33851bb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be33851bb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be33851bb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ee13889d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ee13889d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ee13889d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8ee13889d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8ee13889d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8ee13889d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8ee13889d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8ee13889d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ee13889d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8ee13889d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8ee13889d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8ee13889d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8ee13889d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8ee13889d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8ee13889d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8ee13889d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8ee13889d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8ee13889d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d04eb988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d04eb988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bd04eb988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bd04eb988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bd04eb988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bd04eb988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bd04eb988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bd04eb988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bd04eb988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bd04eb988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bd04eb988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bd04eb988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bd04eb988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bd04eb988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bd04eb988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bd04eb988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bd04eb988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fbd04eb988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d18e7fc4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d18e7fc4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d18e7fc4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d18e7fc4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d18e7fc4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bd18e7fc4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bd18e7fc4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bd18e7fc4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bd18e7fc4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bd18e7fc4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bd18e7fc4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bd18e7fc4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bd18e7fc4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bd18e7fc4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d18e7fc4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bd18e7fc4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bd18e7fc4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bd18e7fc4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aca369b10570bbd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aca369b10570bbd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aca369b10570bbd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aca369b10570bbd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aca369b10570bbd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aca369b10570bbd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aca369b10570bbd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aca369b10570bbd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aca369b10570bbd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aca369b10570bbd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aca369b10570bbd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aca369b10570bbd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aca369b10570bbd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aca369b10570bbd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aca369b10570bbd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haca369b10570bbd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aca369b10570bb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haca369b10570bb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be33851bb_2_0)">
  <p:cSld name="Generated (g3fbe33851bb_2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8ee13889d_8_0)">
  <p:cSld name="Generated (g3f8ee13889d_8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165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776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8905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6196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0335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8062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720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4206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1772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3141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96769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93037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bd04eb988_8_0)">
  <p:cSld name="Generated (g3fbd04eb988_8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4148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52427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7990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84892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3006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99888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62772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8171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5836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28843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63971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05626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bd18e7fc4_8_0)">
  <p:cSld name="Generated (g3fbd18e7fc4_8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5829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22363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85638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30978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46072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93722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84268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90454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08478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44963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738239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83885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aca369b10570bbd_2_0)">
  <p:cSld name="Generated (haca369b10570bbd_2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1203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17638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295361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8564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64514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790356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62355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68626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198384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609330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57884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4376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0698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69790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7918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09041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dictingthepast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colab.research.google.com/github/google-deepmind/predictingthepast/blob/master/colabs/inference.ipynb" TargetMode="Externa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4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7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7.xml"/><Relationship Id="rId4" Type="http://schemas.openxmlformats.org/officeDocument/2006/relationships/hyperlink" Target="https://universe.roboflow.com/browse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browser.dataspace.copernicus.eu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eamena.org/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5470" y="190500"/>
            <a:ext cx="2675400" cy="95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8401050" y="352425"/>
            <a:ext cx="342900" cy="342900"/>
            <a:chOff x="19050" y="19050"/>
            <a:chExt cx="342900" cy="342900"/>
          </a:xfrm>
        </p:grpSpPr>
        <p:sp>
          <p:nvSpPr>
            <p:cNvPr id="57" name="Google Shape;57;p14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428750"/>
            <a:ext cx="3962400" cy="222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14"/>
          <p:cNvGrpSpPr/>
          <p:nvPr/>
        </p:nvGrpSpPr>
        <p:grpSpPr>
          <a:xfrm>
            <a:off x="4572000" y="1428750"/>
            <a:ext cx="4095900" cy="2276475"/>
            <a:chOff x="4572000" y="1428750"/>
            <a:chExt cx="4095900" cy="2276475"/>
          </a:xfrm>
        </p:grpSpPr>
        <p:sp>
          <p:nvSpPr>
            <p:cNvPr id="62" name="Google Shape;62;p14"/>
            <p:cNvSpPr txBox="1"/>
            <p:nvPr/>
          </p:nvSpPr>
          <p:spPr>
            <a:xfrm>
              <a:off x="4572000" y="1428750"/>
              <a:ext cx="4095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الذكاء الاصطناعي في توثيق المواقع والقطع الأثرية</a:t>
              </a:r>
              <a:endParaRPr sz="2200" b="1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900"/>
                </a:spcBef>
                <a:spcAft>
                  <a:spcPts val="0"/>
                </a:spcAft>
                <a:buNone/>
              </a:pPr>
              <a:endParaRPr sz="1100" b="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7905750" y="366712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476250" y="42862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حكومة الشارقة | هيئة الشارقة للآثار</a:t>
            </a:r>
            <a:endParaRPr sz="1400" b="1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5"/>
          <p:cNvGrpSpPr/>
          <p:nvPr/>
        </p:nvGrpSpPr>
        <p:grpSpPr>
          <a:xfrm>
            <a:off x="8572500" y="190500"/>
            <a:ext cx="342900" cy="342900"/>
            <a:chOff x="0" y="0"/>
            <a:chExt cx="342900" cy="342900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15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sz="1050" b="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381000" y="619125"/>
            <a:ext cx="8382000" cy="438150"/>
            <a:chOff x="0" y="0"/>
            <a:chExt cx="8382000" cy="438150"/>
          </a:xfrm>
        </p:grpSpPr>
        <p:sp>
          <p:nvSpPr>
            <p:cNvPr id="75" name="Google Shape;75;p15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صون التراث برؤية المستقبل: آفاق التحول الرقمي بالشارقة</a:t>
              </a:r>
              <a:endParaRPr sz="220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7620000" y="4000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381000" y="1285875"/>
            <a:ext cx="8382000" cy="1476300"/>
            <a:chOff x="0" y="0"/>
            <a:chExt cx="8382000" cy="14763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0"/>
              <a:ext cx="8382000" cy="1476300"/>
            </a:xfrm>
            <a:prstGeom prst="roundRect">
              <a:avLst>
                <a:gd name="adj" fmla="val 6451"/>
              </a:avLst>
            </a:prstGeom>
            <a:solidFill>
              <a:srgbClr val="FFFFFF"/>
            </a:solidFill>
            <a:ln w="19050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9" name="Google Shape;79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0488" y="90488"/>
              <a:ext cx="8201100" cy="12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5"/>
            <p:cNvSpPr/>
            <p:nvPr/>
          </p:nvSpPr>
          <p:spPr>
            <a:xfrm>
              <a:off x="142875" y="142875"/>
              <a:ext cx="954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8143875" y="142875"/>
              <a:ext cx="954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0"/>
                  </a:ln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42875" y="1238250"/>
              <a:ext cx="954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8143875" y="1238250"/>
              <a:ext cx="954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285750" y="190500"/>
              <a:ext cx="7810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60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«الذكاء الاصطناعي هو أداة رئيسية لتمكين حفظ المكتشفات الأثرية وإبراز العمق التاريخي والإنساني لإمارة الشارقة»</a:t>
              </a:r>
              <a:endParaRPr sz="1200" b="1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4667250" y="2952750"/>
            <a:ext cx="4095900" cy="1619100"/>
            <a:chOff x="0" y="0"/>
            <a:chExt cx="4095900" cy="16191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4095900" cy="1619100"/>
            </a:xfrm>
            <a:prstGeom prst="roundRect">
              <a:avLst>
                <a:gd name="adj" fmla="val 4705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0" y="0"/>
              <a:ext cx="40959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190500" y="171450"/>
              <a:ext cx="3714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الترحيب والرؤية القيادية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457200" lvl="0" indent="-317500" algn="r" rtl="1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10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الترحيب بسعادة الدكتور سعيد عبد الله بن يعروف النقبي والخبراء المشاركين.</a:t>
              </a:r>
              <a:endParaRPr sz="110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lvl="0" indent="-317500" algn="r" rtl="1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10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تأكيد أهمية التكامل بين الخبرات الأثرية الوطنية والتقنيات الرقمية الحديثة.</a:t>
              </a:r>
              <a:endParaRPr sz="110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381000" y="2952750"/>
            <a:ext cx="8381850" cy="1619100"/>
            <a:chOff x="0" y="0"/>
            <a:chExt cx="4095900" cy="16191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4095900" cy="1619100"/>
            </a:xfrm>
            <a:prstGeom prst="roundRect">
              <a:avLst>
                <a:gd name="adj" fmla="val 4705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0" y="0"/>
              <a:ext cx="40959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190500" y="171450"/>
              <a:ext cx="3714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التزام الهيئة بالثورة الصناعية الرابعة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457200" lvl="0" indent="-317500" algn="r" rtl="1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10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التزام كامل بتبني حلول الثورة الصناعية الرابعة وتطبيقات الخوارزميات المتقدمة.</a:t>
              </a:r>
              <a:endParaRPr sz="110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lvl="0" indent="-317500" algn="r" rtl="1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lang="en" sz="110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الارتقاء بعمليات التوثيق والحماية المستدامة للتراث الأثري في الإمارة.</a:t>
              </a:r>
              <a:endParaRPr sz="110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93" name="Google Shape;93;p15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381000" y="190500"/>
            <a:ext cx="8534400" cy="342900"/>
            <a:chOff x="381000" y="190500"/>
            <a:chExt cx="8534400" cy="342900"/>
          </a:xfrm>
        </p:grpSpPr>
        <p:grpSp>
          <p:nvGrpSpPr>
            <p:cNvPr id="99" name="Google Shape;99;p16"/>
            <p:cNvGrpSpPr/>
            <p:nvPr/>
          </p:nvGrpSpPr>
          <p:grpSpPr>
            <a:xfrm>
              <a:off x="8572500" y="190500"/>
              <a:ext cx="342900" cy="342900"/>
              <a:chOff x="0" y="0"/>
              <a:chExt cx="342900" cy="342900"/>
            </a:xfrm>
          </p:grpSpPr>
          <p:sp>
            <p:nvSpPr>
              <p:cNvPr id="100" name="Google Shape;100;p16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6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3" name="Google Shape;103;p16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sz="1050" b="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381000" y="571500"/>
            <a:ext cx="8382000" cy="514350"/>
            <a:chOff x="0" y="0"/>
            <a:chExt cx="8382000" cy="514350"/>
          </a:xfrm>
        </p:grpSpPr>
        <p:sp>
          <p:nvSpPr>
            <p:cNvPr id="105" name="Google Shape;105;p16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دوافع المبادرة: لماذا الذكاء الاصطناعي في علم الآثار الآن؟</a:t>
              </a:r>
              <a:endParaRPr sz="220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7620000" y="4762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6286500" y="1714500"/>
            <a:ext cx="2476500" cy="2918841"/>
            <a:chOff x="0" y="0"/>
            <a:chExt cx="2476500" cy="2918841"/>
          </a:xfrm>
        </p:grpSpPr>
        <p:sp>
          <p:nvSpPr>
            <p:cNvPr id="108" name="Google Shape;108;p16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اتساع رقعة المسح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تزايد الحفريات والمشاريع الأثرية الميدانية بمناطق الشارقة الصحراوية والساحلية المتسعة بشكل متسارع.</a:t>
              </a:r>
              <a:endParaRPr sz="110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200" b="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map</a:t>
              </a:r>
              <a:endParaRPr sz="4200" b="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3333750" y="1714500"/>
            <a:ext cx="2476500" cy="2918841"/>
            <a:chOff x="0" y="0"/>
            <a:chExt cx="2476500" cy="2918841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التحديات المناخية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رصد وتتبع تأثير العوامل الجوية والتعرية البيئية على المواقع الأثرية المفتوحة لحمايتها المستدامة.</a:t>
              </a:r>
              <a:endParaRPr sz="110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200" b="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thermostat</a:t>
              </a:r>
              <a:endParaRPr sz="4200" b="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381000" y="1714500"/>
            <a:ext cx="2476500" cy="2918841"/>
            <a:chOff x="0" y="0"/>
            <a:chExt cx="2476500" cy="2918841"/>
          </a:xfrm>
        </p:grpSpPr>
        <p:sp>
          <p:nvSpPr>
            <p:cNvPr id="120" name="Google Shape;120;p16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تدفق البيانات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معالجة سريعة ودقيقة لآلاف الصور الجوية والفضائية، ونقاط المسح الجيوفيزيائي، والقطع المخزونة.</a:t>
              </a:r>
              <a:endParaRPr sz="110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200" b="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dataset</a:t>
              </a:r>
              <a:endParaRPr sz="4200" b="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25" name="Google Shape;125;p16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7"/>
          <p:cNvGrpSpPr/>
          <p:nvPr/>
        </p:nvGrpSpPr>
        <p:grpSpPr>
          <a:xfrm>
            <a:off x="8572500" y="190500"/>
            <a:ext cx="342900" cy="342900"/>
            <a:chOff x="0" y="0"/>
            <a:chExt cx="342900" cy="342900"/>
          </a:xfrm>
        </p:grpSpPr>
        <p:sp>
          <p:nvSpPr>
            <p:cNvPr id="131" name="Google Shape;131;p17"/>
            <p:cNvSpPr/>
            <p:nvPr/>
          </p:nvSpPr>
          <p:spPr>
            <a:xfrm>
              <a:off x="0" y="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" name="Google Shape;134;p17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sz="1050" b="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81000" y="523875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الأهداف الاستراتيجية المعتمدة للورشة</a:t>
            </a:r>
            <a:endParaRPr sz="2000" b="1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lvl="0" indent="0" algn="r" rtl="1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الركائز الأساسية لدمج الذكاء الاصطناعي والتقنيات الحديثة في حماية وتوثيق التراث الأثري</a:t>
            </a:r>
            <a:endParaRPr sz="1100" b="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8001000" y="109537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17"/>
          <p:cNvGrpSpPr/>
          <p:nvPr/>
        </p:nvGrpSpPr>
        <p:grpSpPr>
          <a:xfrm>
            <a:off x="4762500" y="1333500"/>
            <a:ext cx="4000500" cy="1476300"/>
            <a:chOff x="0" y="0"/>
            <a:chExt cx="4000500" cy="1476300"/>
          </a:xfrm>
        </p:grpSpPr>
        <p:sp>
          <p:nvSpPr>
            <p:cNvPr id="138" name="Google Shape;138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name="adj" fmla="val 1666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3562350" y="266700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73333" y="46667"/>
                  </a:lnTo>
                  <a:lnTo>
                    <a:pt x="120000" y="60000"/>
                  </a:lnTo>
                  <a:lnTo>
                    <a:pt x="73333" y="73333"/>
                  </a:lnTo>
                  <a:lnTo>
                    <a:pt x="60000" y="120000"/>
                  </a:lnTo>
                  <a:lnTo>
                    <a:pt x="46667" y="73333"/>
                  </a:lnTo>
                  <a:lnTo>
                    <a:pt x="0" y="60000"/>
                  </a:lnTo>
                  <a:lnTo>
                    <a:pt x="46667" y="46667"/>
                  </a:lnTo>
                  <a:close/>
                </a:path>
              </a:pathLst>
            </a:cu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التعريف بتطبيقات الذكاء الاصطناعي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استعراض أحدث تقنيات وخوارزميات الذكاء الاصطناعي واستخداماتها المباشرة في تطوير مجالات المسح والتحليل الأثري.</a:t>
              </a:r>
              <a:endParaRPr sz="105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43" name="Google Shape;143;p17"/>
          <p:cNvGrpSpPr/>
          <p:nvPr/>
        </p:nvGrpSpPr>
        <p:grpSpPr>
          <a:xfrm>
            <a:off x="381000" y="1333500"/>
            <a:ext cx="4000500" cy="1476300"/>
            <a:chOff x="0" y="0"/>
            <a:chExt cx="4000500" cy="1476300"/>
          </a:xfrm>
        </p:grpSpPr>
        <p:sp>
          <p:nvSpPr>
            <p:cNvPr id="144" name="Google Shape;144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name="adj" fmla="val 1666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" name="Google Shape;147;p17"/>
            <p:cNvGrpSpPr/>
            <p:nvPr/>
          </p:nvGrpSpPr>
          <p:grpSpPr>
            <a:xfrm>
              <a:off x="3562350" y="266700"/>
              <a:ext cx="171600" cy="152400"/>
              <a:chOff x="9525" y="9525"/>
              <a:chExt cx="171600" cy="152400"/>
            </a:xfrm>
          </p:grpSpPr>
          <p:sp>
            <p:nvSpPr>
              <p:cNvPr id="148" name="Google Shape;148;p17"/>
              <p:cNvSpPr/>
              <p:nvPr/>
            </p:nvSpPr>
            <p:spPr>
              <a:xfrm>
                <a:off x="9525" y="9525"/>
                <a:ext cx="1716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120000" y="60000"/>
                    </a:lnTo>
                    <a:lnTo>
                      <a:pt x="60000" y="120000"/>
                    </a:lnTo>
                    <a:lnTo>
                      <a:pt x="0" y="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71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7"/>
              <p:cNvSpPr/>
              <p:nvPr/>
            </p:nvSpPr>
            <p:spPr>
              <a:xfrm>
                <a:off x="9525" y="47625"/>
                <a:ext cx="85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80000"/>
                    </a:lnTo>
                    <a:lnTo>
                      <a:pt x="120000" y="120000"/>
                    </a:lnTo>
                    <a:lnTo>
                      <a:pt x="120000" y="4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71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7"/>
              <p:cNvSpPr/>
              <p:nvPr/>
            </p:nvSpPr>
            <p:spPr>
              <a:xfrm>
                <a:off x="95250" y="47625"/>
                <a:ext cx="85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0"/>
                    </a:moveTo>
                    <a:lnTo>
                      <a:pt x="120000" y="8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71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" name="Google Shape;151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التوثيق الرقمي والنمذجة ثلاثية الأبعاد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تطبيق أساليب التوثيق الرقمي المتقدمة وإنشاء نماذج ثلاثية الأبعاد عالية الدقة للمواقع والمكتشفات الأثرية.</a:t>
              </a:r>
              <a:endParaRPr sz="105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4762500" y="3000375"/>
            <a:ext cx="4000500" cy="1476300"/>
            <a:chOff x="0" y="0"/>
            <a:chExt cx="4000500" cy="1476300"/>
          </a:xfrm>
        </p:grpSpPr>
        <p:sp>
          <p:nvSpPr>
            <p:cNvPr id="153" name="Google Shape;153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name="adj" fmla="val 1666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17"/>
            <p:cNvGrpSpPr/>
            <p:nvPr/>
          </p:nvGrpSpPr>
          <p:grpSpPr>
            <a:xfrm>
              <a:off x="3562350" y="266700"/>
              <a:ext cx="162075" cy="162075"/>
              <a:chOff x="9525" y="9525"/>
              <a:chExt cx="162075" cy="162075"/>
            </a:xfrm>
          </p:grpSpPr>
          <p:sp>
            <p:nvSpPr>
              <p:cNvPr id="157" name="Google Shape;157;p17"/>
              <p:cNvSpPr/>
              <p:nvPr/>
            </p:nvSpPr>
            <p:spPr>
              <a:xfrm>
                <a:off x="9525" y="9525"/>
                <a:ext cx="114300" cy="1143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7150" cap="flat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8" name="Google Shape;158;p17"/>
              <p:cNvCxnSpPr/>
              <p:nvPr/>
            </p:nvCxnSpPr>
            <p:spPr>
              <a:xfrm>
                <a:off x="114300" y="114300"/>
                <a:ext cx="57300" cy="57300"/>
              </a:xfrm>
              <a:prstGeom prst="straightConnector1">
                <a:avLst/>
              </a:prstGeom>
              <a:solidFill>
                <a:srgbClr val="FFFFFF"/>
              </a:solidFill>
              <a:ln w="190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9" name="Google Shape;159;p17"/>
              <p:cNvSpPr/>
              <p:nvPr/>
            </p:nvSpPr>
            <p:spPr>
              <a:xfrm>
                <a:off x="47625" y="47625"/>
                <a:ext cx="38100" cy="38100"/>
              </a:xfrm>
              <a:prstGeom prst="ellipse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" name="Google Shape;160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جمع البيانات والتنبؤ بالمواقع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تحسين كفاءة جمع البيانات الميدانية واستخدام التحليل التنبؤي للكشف عن المواقع والمعالم الأثرية المطمورة.</a:t>
              </a:r>
              <a:endParaRPr sz="105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381000" y="3000375"/>
            <a:ext cx="4000500" cy="1476300"/>
            <a:chOff x="0" y="0"/>
            <a:chExt cx="4000500" cy="1476300"/>
          </a:xfrm>
        </p:grpSpPr>
        <p:sp>
          <p:nvSpPr>
            <p:cNvPr id="162" name="Google Shape;162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name="adj" fmla="val 1666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7"/>
            <p:cNvGrpSpPr/>
            <p:nvPr/>
          </p:nvGrpSpPr>
          <p:grpSpPr>
            <a:xfrm>
              <a:off x="3571875" y="266700"/>
              <a:ext cx="152400" cy="162000"/>
              <a:chOff x="19050" y="9525"/>
              <a:chExt cx="152400" cy="162000"/>
            </a:xfrm>
          </p:grpSpPr>
          <p:sp>
            <p:nvSpPr>
              <p:cNvPr id="166" name="Google Shape;166;p17"/>
              <p:cNvSpPr/>
              <p:nvPr/>
            </p:nvSpPr>
            <p:spPr>
              <a:xfrm>
                <a:off x="19050" y="9525"/>
                <a:ext cx="152400" cy="1620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120000" y="21176"/>
                    </a:lnTo>
                    <a:lnTo>
                      <a:pt x="120000" y="63529"/>
                    </a:lnTo>
                    <a:cubicBezTo>
                      <a:pt x="120000" y="98824"/>
                      <a:pt x="60000" y="120000"/>
                      <a:pt x="60000" y="120000"/>
                    </a:cubicBezTo>
                    <a:cubicBezTo>
                      <a:pt x="60000" y="120000"/>
                      <a:pt x="0" y="98824"/>
                      <a:pt x="0" y="63529"/>
                    </a:cubicBezTo>
                    <a:lnTo>
                      <a:pt x="0" y="2117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71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>
                <a:off x="57150" y="57150"/>
                <a:ext cx="76200" cy="57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7150" cap="rnd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مراقبة المواقع والصيانة الوقائية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متابعة حالة المواقع الأثرية باستمرار وتطبيق أنظمة الصيانة الوقائية المؤتمتة لحمايتها من العوامل البيئية.</a:t>
              </a:r>
              <a:endParaRPr sz="105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69" name="Google Shape;169;p17"/>
          <p:cNvSpPr/>
          <p:nvPr/>
        </p:nvSpPr>
        <p:spPr>
          <a:xfrm>
            <a:off x="381000" y="471487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8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75" name="Google Shape;175;p18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18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sz="1050" b="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381000" y="53340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برنامج العمل والمحاور الرئيسية الأربعة</a:t>
            </a:r>
            <a:endParaRPr sz="2100" b="1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8001000" y="9906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381000" y="11049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مسار تدفقي متكامل يستعرض المراحل الأساسية لتطبيق الذكاء الاصطناعي في العمل الأثري:</a:t>
            </a:r>
            <a:endParaRPr sz="1100" b="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cxnSp>
        <p:nvCxnSpPr>
          <p:cNvPr id="182" name="Google Shape;182;p18"/>
          <p:cNvCxnSpPr/>
          <p:nvPr/>
        </p:nvCxnSpPr>
        <p:spPr>
          <a:xfrm>
            <a:off x="1381125" y="1638300"/>
            <a:ext cx="6429300" cy="0"/>
          </a:xfrm>
          <a:prstGeom prst="straightConnector1">
            <a:avLst/>
          </a:prstGeom>
          <a:solidFill>
            <a:srgbClr val="FFFFFF"/>
          </a:solidFill>
          <a:ln w="28575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83" name="Google Shape;183;p18"/>
          <p:cNvGrpSpPr/>
          <p:nvPr/>
        </p:nvGrpSpPr>
        <p:grpSpPr>
          <a:xfrm>
            <a:off x="7639050" y="1466850"/>
            <a:ext cx="342900" cy="342900"/>
            <a:chOff x="-171450" y="-171450"/>
            <a:chExt cx="342900" cy="342900"/>
          </a:xfrm>
        </p:grpSpPr>
        <p:sp>
          <p:nvSpPr>
            <p:cNvPr id="184" name="Google Shape;184;p18"/>
            <p:cNvSpPr/>
            <p:nvPr/>
          </p:nvSpPr>
          <p:spPr>
            <a:xfrm>
              <a:off x="-171450" y="-1714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-114300" y="-114300"/>
              <a:ext cx="228600" cy="2286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-114300" y="-133350"/>
              <a:ext cx="228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1</a:t>
              </a:r>
              <a:endParaRPr sz="1200" b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187" name="Google Shape;187;p18"/>
          <p:cNvGrpSpPr/>
          <p:nvPr/>
        </p:nvGrpSpPr>
        <p:grpSpPr>
          <a:xfrm>
            <a:off x="6858000" y="1981200"/>
            <a:ext cx="1905000" cy="2476500"/>
            <a:chOff x="0" y="0"/>
            <a:chExt cx="1905000" cy="2476500"/>
          </a:xfrm>
        </p:grpSpPr>
        <p:sp>
          <p:nvSpPr>
            <p:cNvPr id="188" name="Google Shape;188;p18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114300" y="190500"/>
              <a:ext cx="1676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المقدمة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ctr" rtl="1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مفاهيم وتطبيقات الذكاء الاصطناعي الأساسية في الاستكشاف والبحث الأثري.</a:t>
              </a:r>
              <a:endParaRPr sz="1050" b="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5495925" y="1466850"/>
            <a:ext cx="342900" cy="342900"/>
            <a:chOff x="-171450" y="-171450"/>
            <a:chExt cx="342900" cy="342900"/>
          </a:xfrm>
        </p:grpSpPr>
        <p:sp>
          <p:nvSpPr>
            <p:cNvPr id="192" name="Google Shape;192;p18"/>
            <p:cNvSpPr/>
            <p:nvPr/>
          </p:nvSpPr>
          <p:spPr>
            <a:xfrm>
              <a:off x="-171450" y="-1714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-114300" y="-114300"/>
              <a:ext cx="228600" cy="2286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-114300" y="-133350"/>
              <a:ext cx="228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2</a:t>
              </a:r>
              <a:endParaRPr sz="1200" b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4714875" y="1981200"/>
            <a:ext cx="1905000" cy="2476500"/>
            <a:chOff x="0" y="0"/>
            <a:chExt cx="1905000" cy="2476500"/>
          </a:xfrm>
        </p:grpSpPr>
        <p:sp>
          <p:nvSpPr>
            <p:cNvPr id="196" name="Google Shape;196;p18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114300" y="190500"/>
              <a:ext cx="1676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التوثيق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ctr" rtl="1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تسجيل البيانات الرقمية وبناء التوائم الرقمية ثلاثية الأبعاد للمواقع والمقتنيات الأثرية.</a:t>
              </a:r>
              <a:endParaRPr sz="1050" b="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99" name="Google Shape;199;p18"/>
          <p:cNvGrpSpPr/>
          <p:nvPr/>
        </p:nvGrpSpPr>
        <p:grpSpPr>
          <a:xfrm>
            <a:off x="3352800" y="1466850"/>
            <a:ext cx="342900" cy="342900"/>
            <a:chOff x="-171450" y="-171450"/>
            <a:chExt cx="342900" cy="342900"/>
          </a:xfrm>
        </p:grpSpPr>
        <p:sp>
          <p:nvSpPr>
            <p:cNvPr id="200" name="Google Shape;200;p18"/>
            <p:cNvSpPr/>
            <p:nvPr/>
          </p:nvSpPr>
          <p:spPr>
            <a:xfrm>
              <a:off x="-171450" y="-1714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-114300" y="-114300"/>
              <a:ext cx="228600" cy="2286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8"/>
            <p:cNvSpPr txBox="1"/>
            <p:nvPr/>
          </p:nvSpPr>
          <p:spPr>
            <a:xfrm>
              <a:off x="-114300" y="-133350"/>
              <a:ext cx="228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3</a:t>
              </a:r>
              <a:endParaRPr sz="1200" b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203" name="Google Shape;203;p18"/>
          <p:cNvGrpSpPr/>
          <p:nvPr/>
        </p:nvGrpSpPr>
        <p:grpSpPr>
          <a:xfrm>
            <a:off x="2571750" y="1981200"/>
            <a:ext cx="1905000" cy="2476500"/>
            <a:chOff x="0" y="0"/>
            <a:chExt cx="1905000" cy="2476500"/>
          </a:xfrm>
        </p:grpSpPr>
        <p:sp>
          <p:nvSpPr>
            <p:cNvPr id="204" name="Google Shape;204;p18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8"/>
            <p:cNvSpPr txBox="1"/>
            <p:nvPr/>
          </p:nvSpPr>
          <p:spPr>
            <a:xfrm>
              <a:off x="114300" y="190500"/>
              <a:ext cx="1676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الكشف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ctr" rtl="1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التنبؤ بالمواقع الأثرية الكامنة عبر تحليل الصور الفضائية وتقنيات الاستشعار عن بعد.</a:t>
              </a:r>
              <a:endParaRPr sz="1050" b="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07" name="Google Shape;207;p18"/>
          <p:cNvGrpSpPr/>
          <p:nvPr/>
        </p:nvGrpSpPr>
        <p:grpSpPr>
          <a:xfrm>
            <a:off x="1209675" y="1466850"/>
            <a:ext cx="342900" cy="342900"/>
            <a:chOff x="-171450" y="-171450"/>
            <a:chExt cx="342900" cy="342900"/>
          </a:xfrm>
        </p:grpSpPr>
        <p:sp>
          <p:nvSpPr>
            <p:cNvPr id="208" name="Google Shape;208;p18"/>
            <p:cNvSpPr/>
            <p:nvPr/>
          </p:nvSpPr>
          <p:spPr>
            <a:xfrm>
              <a:off x="-171450" y="-1714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-114300" y="-114300"/>
              <a:ext cx="228600" cy="2286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8"/>
            <p:cNvSpPr txBox="1"/>
            <p:nvPr/>
          </p:nvSpPr>
          <p:spPr>
            <a:xfrm>
              <a:off x="-114300" y="-133350"/>
              <a:ext cx="228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4</a:t>
              </a:r>
              <a:endParaRPr sz="1200" b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428625" y="1981200"/>
            <a:ext cx="1905000" cy="2476500"/>
            <a:chOff x="0" y="0"/>
            <a:chExt cx="1905000" cy="2476500"/>
          </a:xfrm>
        </p:grpSpPr>
        <p:sp>
          <p:nvSpPr>
            <p:cNvPr id="212" name="Google Shape;212;p18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8"/>
            <p:cNvSpPr txBox="1"/>
            <p:nvPr/>
          </p:nvSpPr>
          <p:spPr>
            <a:xfrm>
              <a:off x="114300" y="190500"/>
              <a:ext cx="1676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المراقبة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ctr" rtl="1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رصد ومتابعة التدهور الهيكلي وتطبيق نماذج الصيانة التنبؤية وحماية التراث.</a:t>
              </a:r>
              <a:endParaRPr sz="1050" b="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215" name="Google Shape;215;p18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9"/>
          <p:cNvGrpSpPr/>
          <p:nvPr/>
        </p:nvGrpSpPr>
        <p:grpSpPr>
          <a:xfrm>
            <a:off x="381000" y="190500"/>
            <a:ext cx="8534400" cy="342900"/>
            <a:chOff x="381000" y="190500"/>
            <a:chExt cx="8534400" cy="342900"/>
          </a:xfrm>
        </p:grpSpPr>
        <p:grpSp>
          <p:nvGrpSpPr>
            <p:cNvPr id="221" name="Google Shape;221;p19"/>
            <p:cNvGrpSpPr/>
            <p:nvPr/>
          </p:nvGrpSpPr>
          <p:grpSpPr>
            <a:xfrm>
              <a:off x="8572500" y="190500"/>
              <a:ext cx="342900" cy="342900"/>
              <a:chOff x="0" y="0"/>
              <a:chExt cx="342900" cy="342900"/>
            </a:xfrm>
          </p:grpSpPr>
          <p:sp>
            <p:nvSpPr>
              <p:cNvPr id="222" name="Google Shape;222;p19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9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9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5" name="Google Shape;225;p19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sz="1050" b="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381000" y="552450"/>
            <a:ext cx="8382000" cy="485775"/>
            <a:chOff x="381000" y="552450"/>
            <a:chExt cx="8382000" cy="485775"/>
          </a:xfrm>
        </p:grpSpPr>
        <p:sp>
          <p:nvSpPr>
            <p:cNvPr id="227" name="Google Shape;227;p19"/>
            <p:cNvSpPr txBox="1"/>
            <p:nvPr/>
          </p:nvSpPr>
          <p:spPr>
            <a:xfrm>
              <a:off x="381000" y="55245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ورشة تطبيقية تفاعلية: من النظرية إلى الميدان</a:t>
              </a:r>
              <a:endParaRPr sz="220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8001000" y="100012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" name="Google Shape;229;p19"/>
          <p:cNvGrpSpPr/>
          <p:nvPr/>
        </p:nvGrpSpPr>
        <p:grpSpPr>
          <a:xfrm>
            <a:off x="4476750" y="1238250"/>
            <a:ext cx="4529028" cy="3200325"/>
            <a:chOff x="0" y="0"/>
            <a:chExt cx="4529028" cy="3200325"/>
          </a:xfrm>
        </p:grpSpPr>
        <p:grpSp>
          <p:nvGrpSpPr>
            <p:cNvPr id="230" name="Google Shape;230;p19"/>
            <p:cNvGrpSpPr/>
            <p:nvPr/>
          </p:nvGrpSpPr>
          <p:grpSpPr>
            <a:xfrm>
              <a:off x="0" y="0"/>
              <a:ext cx="4464179" cy="714300"/>
              <a:chOff x="0" y="0"/>
              <a:chExt cx="4464179" cy="714300"/>
            </a:xfrm>
          </p:grpSpPr>
          <p:sp>
            <p:nvSpPr>
              <p:cNvPr id="231" name="Google Shape;231;p19"/>
              <p:cNvSpPr/>
              <p:nvPr/>
            </p:nvSpPr>
            <p:spPr>
              <a:xfrm>
                <a:off x="0" y="0"/>
                <a:ext cx="4286400" cy="714300"/>
              </a:xfrm>
              <a:prstGeom prst="roundRect">
                <a:avLst>
                  <a:gd name="adj" fmla="val 10666"/>
                </a:avLst>
              </a:prstGeom>
              <a:solidFill>
                <a:srgbClr val="FFFFFF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9"/>
              <p:cNvSpPr/>
              <p:nvPr/>
            </p:nvSpPr>
            <p:spPr>
              <a:xfrm>
                <a:off x="4229100" y="0"/>
                <a:ext cx="57300" cy="714300"/>
              </a:xfrm>
              <a:prstGeom prst="roundRect">
                <a:avLst>
                  <a:gd name="adj" fmla="val 50000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9"/>
              <p:cNvSpPr/>
              <p:nvPr/>
            </p:nvSpPr>
            <p:spPr>
              <a:xfrm>
                <a:off x="3667125" y="142875"/>
                <a:ext cx="428700" cy="428700"/>
              </a:xfrm>
              <a:prstGeom prst="roundRect">
                <a:avLst>
                  <a:gd name="adj" fmla="val 13333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9"/>
              <p:cNvSpPr txBox="1"/>
              <p:nvPr/>
            </p:nvSpPr>
            <p:spPr>
              <a:xfrm>
                <a:off x="3298679" y="251460"/>
                <a:ext cx="1165500" cy="3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50">
                    <a:solidFill>
                      <a:srgbClr val="8B5A2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touch_app</a:t>
                </a:r>
                <a:endParaRPr sz="165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5" name="Google Shape;235;p19"/>
              <p:cNvSpPr txBox="1"/>
              <p:nvPr/>
            </p:nvSpPr>
            <p:spPr>
              <a:xfrm>
                <a:off x="190500" y="114300"/>
                <a:ext cx="3333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49" b="1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بيئة عمل تطبيقية تفاعلية بالكامل</a:t>
                </a:r>
                <a:endParaRPr sz="1249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lvl="0" indent="0" algn="r" rtl="1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79" b="0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تدريب عملي مباشر (100% Hands-on) لتطبيق أدوات الذكاء الاصطناعي.</a:t>
                </a:r>
                <a:endParaRPr sz="879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236" name="Google Shape;236;p19"/>
            <p:cNvGrpSpPr/>
            <p:nvPr/>
          </p:nvGrpSpPr>
          <p:grpSpPr>
            <a:xfrm>
              <a:off x="0" y="828675"/>
              <a:ext cx="4529028" cy="714300"/>
              <a:chOff x="0" y="0"/>
              <a:chExt cx="4529028" cy="714300"/>
            </a:xfrm>
          </p:grpSpPr>
          <p:sp>
            <p:nvSpPr>
              <p:cNvPr id="237" name="Google Shape;237;p19"/>
              <p:cNvSpPr/>
              <p:nvPr/>
            </p:nvSpPr>
            <p:spPr>
              <a:xfrm>
                <a:off x="0" y="0"/>
                <a:ext cx="4286400" cy="714300"/>
              </a:xfrm>
              <a:prstGeom prst="roundRect">
                <a:avLst>
                  <a:gd name="adj" fmla="val 10666"/>
                </a:avLst>
              </a:prstGeom>
              <a:solidFill>
                <a:srgbClr val="FFFFFF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>
                <a:off x="4229100" y="0"/>
                <a:ext cx="57300" cy="714300"/>
              </a:xfrm>
              <a:prstGeom prst="roundRect">
                <a:avLst>
                  <a:gd name="adj" fmla="val 50000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9"/>
              <p:cNvSpPr/>
              <p:nvPr/>
            </p:nvSpPr>
            <p:spPr>
              <a:xfrm>
                <a:off x="3667125" y="142875"/>
                <a:ext cx="428700" cy="428700"/>
              </a:xfrm>
              <a:prstGeom prst="roundRect">
                <a:avLst>
                  <a:gd name="adj" fmla="val 13333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9"/>
              <p:cNvSpPr txBox="1"/>
              <p:nvPr/>
            </p:nvSpPr>
            <p:spPr>
              <a:xfrm>
                <a:off x="3233928" y="251460"/>
                <a:ext cx="1295100" cy="3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50">
                    <a:solidFill>
                      <a:srgbClr val="8B5A2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smartphone</a:t>
                </a:r>
                <a:endParaRPr sz="165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41" name="Google Shape;241;p19"/>
              <p:cNvSpPr txBox="1"/>
              <p:nvPr/>
            </p:nvSpPr>
            <p:spPr>
              <a:xfrm>
                <a:off x="190500" y="114300"/>
                <a:ext cx="3333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50" b="1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منصات المسح الذكية للهواتف</a:t>
                </a:r>
                <a:endParaRPr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lvl="0" indent="0" algn="r" rtl="1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50" b="0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استخدام تطبيقات (Polycam, Luma AI) للمسح الميداني ثلاثي الأبعاد.</a:t>
                </a:r>
                <a:endParaRPr sz="95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242" name="Google Shape;242;p19"/>
            <p:cNvGrpSpPr/>
            <p:nvPr/>
          </p:nvGrpSpPr>
          <p:grpSpPr>
            <a:xfrm>
              <a:off x="0" y="1657350"/>
              <a:ext cx="4286400" cy="714300"/>
              <a:chOff x="0" y="0"/>
              <a:chExt cx="4286400" cy="714300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0" y="0"/>
                <a:ext cx="4286400" cy="714300"/>
              </a:xfrm>
              <a:prstGeom prst="roundRect">
                <a:avLst>
                  <a:gd name="adj" fmla="val 10666"/>
                </a:avLst>
              </a:prstGeom>
              <a:solidFill>
                <a:srgbClr val="FFFFFF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4229100" y="0"/>
                <a:ext cx="57300" cy="714300"/>
              </a:xfrm>
              <a:prstGeom prst="roundRect">
                <a:avLst>
                  <a:gd name="adj" fmla="val 50000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3667125" y="142875"/>
                <a:ext cx="428700" cy="428700"/>
              </a:xfrm>
              <a:prstGeom prst="roundRect">
                <a:avLst>
                  <a:gd name="adj" fmla="val 13333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9"/>
              <p:cNvSpPr txBox="1"/>
              <p:nvPr/>
            </p:nvSpPr>
            <p:spPr>
              <a:xfrm>
                <a:off x="3622434" y="251460"/>
                <a:ext cx="518100" cy="3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50">
                    <a:solidFill>
                      <a:srgbClr val="8B5A2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endParaRPr sz="165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47" name="Google Shape;247;p19"/>
              <p:cNvSpPr txBox="1"/>
              <p:nvPr/>
            </p:nvSpPr>
            <p:spPr>
              <a:xfrm>
                <a:off x="190500" y="114300"/>
                <a:ext cx="3333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50" b="1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تحليل الرادار عبر Google Colab</a:t>
                </a:r>
                <a:endParaRPr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lvl="0" indent="0" algn="r" rtl="1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50" b="0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استعراض تجارب المعالجة البرمجية وأكواد التحليل الذكي للبيانات.</a:t>
                </a:r>
                <a:endParaRPr sz="95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248" name="Google Shape;248;p19"/>
            <p:cNvGrpSpPr/>
            <p:nvPr/>
          </p:nvGrpSpPr>
          <p:grpSpPr>
            <a:xfrm>
              <a:off x="0" y="2486025"/>
              <a:ext cx="4529028" cy="714300"/>
              <a:chOff x="0" y="0"/>
              <a:chExt cx="4529028" cy="714300"/>
            </a:xfrm>
          </p:grpSpPr>
          <p:sp>
            <p:nvSpPr>
              <p:cNvPr id="249" name="Google Shape;249;p19"/>
              <p:cNvSpPr/>
              <p:nvPr/>
            </p:nvSpPr>
            <p:spPr>
              <a:xfrm>
                <a:off x="0" y="0"/>
                <a:ext cx="4286400" cy="714300"/>
              </a:xfrm>
              <a:prstGeom prst="roundRect">
                <a:avLst>
                  <a:gd name="adj" fmla="val 10666"/>
                </a:avLst>
              </a:prstGeom>
              <a:solidFill>
                <a:srgbClr val="FFFFFF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4229100" y="0"/>
                <a:ext cx="57300" cy="714300"/>
              </a:xfrm>
              <a:prstGeom prst="roundRect">
                <a:avLst>
                  <a:gd name="adj" fmla="val 50000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3667125" y="142875"/>
                <a:ext cx="428700" cy="428700"/>
              </a:xfrm>
              <a:prstGeom prst="roundRect">
                <a:avLst>
                  <a:gd name="adj" fmla="val 13333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9"/>
              <p:cNvSpPr txBox="1"/>
              <p:nvPr/>
            </p:nvSpPr>
            <p:spPr>
              <a:xfrm>
                <a:off x="3233928" y="251460"/>
                <a:ext cx="1295100" cy="3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50">
                    <a:solidFill>
                      <a:srgbClr val="8B5A2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view_in_ar</a:t>
                </a:r>
                <a:endParaRPr sz="165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53" name="Google Shape;253;p19"/>
              <p:cNvSpPr txBox="1"/>
              <p:nvPr/>
            </p:nvSpPr>
            <p:spPr>
              <a:xfrm>
                <a:off x="190500" y="114300"/>
                <a:ext cx="3333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50" b="1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بناء المجسمات والتقارير الفورية</a:t>
                </a:r>
                <a:endParaRPr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lvl="0" indent="0" algn="r" rtl="1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50" b="0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توليد نماذج ثلاثية الأبعاد وتقارير حالة أثرية فورية من الميدان.</a:t>
                </a:r>
                <a:endParaRPr sz="95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grpSp>
        <p:nvGrpSpPr>
          <p:cNvPr id="254" name="Google Shape;254;p19"/>
          <p:cNvGrpSpPr/>
          <p:nvPr/>
        </p:nvGrpSpPr>
        <p:grpSpPr>
          <a:xfrm>
            <a:off x="381000" y="1238250"/>
            <a:ext cx="3905400" cy="3200400"/>
            <a:chOff x="0" y="0"/>
            <a:chExt cx="3905400" cy="3200400"/>
          </a:xfrm>
        </p:grpSpPr>
        <p:sp>
          <p:nvSpPr>
            <p:cNvPr id="255" name="Google Shape;255;p19"/>
            <p:cNvSpPr/>
            <p:nvPr/>
          </p:nvSpPr>
          <p:spPr>
            <a:xfrm>
              <a:off x="0" y="0"/>
              <a:ext cx="3905400" cy="3200400"/>
            </a:xfrm>
            <a:prstGeom prst="roundRect">
              <a:avLst>
                <a:gd name="adj" fmla="val 238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142875" y="14287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واجهة التحليل الرقمي والمسح بالأجهزة المحمولة</a:t>
              </a:r>
              <a:endParaRPr sz="120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pic>
          <p:nvPicPr>
            <p:cNvPr id="258" name="Google Shape;258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2875" y="457200"/>
              <a:ext cx="3619500" cy="203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19"/>
            <p:cNvSpPr txBox="1"/>
            <p:nvPr/>
          </p:nvSpPr>
          <p:spPr>
            <a:xfrm>
              <a:off x="142875" y="2571750"/>
              <a:ext cx="361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التطبيق الميداني:</a:t>
              </a:r>
              <a:r>
                <a:rPr lang="en" sz="950" b="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 معالجة نماذج التعلم الآلي لتحديد النطاقات الأثرية وتوليد الخرائط الحرارية ثلاثية الأبعاد بدقة فائقة.</a:t>
              </a:r>
              <a:endParaRPr sz="950" b="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260" name="Google Shape;260;p19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20"/>
          <p:cNvGrpSpPr/>
          <p:nvPr/>
        </p:nvGrpSpPr>
        <p:grpSpPr>
          <a:xfrm>
            <a:off x="8572500" y="190500"/>
            <a:ext cx="342900" cy="342900"/>
            <a:chOff x="0" y="0"/>
            <a:chExt cx="342900" cy="342900"/>
          </a:xfrm>
        </p:grpSpPr>
        <p:sp>
          <p:nvSpPr>
            <p:cNvPr id="266" name="Google Shape;266;p20"/>
            <p:cNvSpPr/>
            <p:nvPr/>
          </p:nvSpPr>
          <p:spPr>
            <a:xfrm>
              <a:off x="0" y="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20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sz="1050" b="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381000" y="571500"/>
            <a:ext cx="83820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ماذا سنحقق بنهاية جلسات اليوم؟</a:t>
            </a:r>
            <a:endParaRPr sz="2100" b="1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lvl="0" indent="0" algn="r" rtl="1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النتائج والمخرجات المرتقبة لتعزيز صون التراث وتطوير البنية الرقمية الأثرية</a:t>
            </a:r>
            <a:endParaRPr sz="1100" b="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8001000" y="9334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20"/>
          <p:cNvGrpSpPr/>
          <p:nvPr/>
        </p:nvGrpSpPr>
        <p:grpSpPr>
          <a:xfrm>
            <a:off x="4762500" y="1524000"/>
            <a:ext cx="4000500" cy="1428900"/>
            <a:chOff x="0" y="0"/>
            <a:chExt cx="4000500" cy="1428900"/>
          </a:xfrm>
        </p:grpSpPr>
        <p:sp>
          <p:nvSpPr>
            <p:cNvPr id="273" name="Google Shape;273;p20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430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190500" y="238125"/>
              <a:ext cx="952500" cy="952500"/>
            </a:xfrm>
            <a:prstGeom prst="roundRect">
              <a:avLst>
                <a:gd name="adj" fmla="val 8000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0"/>
            <p:cNvSpPr txBox="1"/>
            <p:nvPr/>
          </p:nvSpPr>
          <p:spPr>
            <a:xfrm>
              <a:off x="190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80%</a:t>
              </a:r>
              <a:endParaRPr sz="2800" b="1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اختصار الزمن</a:t>
              </a:r>
              <a:endParaRPr sz="850" b="1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277" name="Google Shape;277;p20"/>
            <p:cNvSpPr txBox="1"/>
            <p:nvPr/>
          </p:nvSpPr>
          <p:spPr>
            <a:xfrm>
              <a:off x="1285875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تمكين الباحثين</a:t>
              </a:r>
              <a:endParaRPr sz="1350" b="1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اختصار زمن الفهرسة بنسبة 80% لتسريع معالجة البيانات الأثرية وتوثيقها بدقة عالية.</a:t>
              </a:r>
              <a:endParaRPr sz="110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78" name="Google Shape;278;p20"/>
          <p:cNvGrpSpPr/>
          <p:nvPr/>
        </p:nvGrpSpPr>
        <p:grpSpPr>
          <a:xfrm>
            <a:off x="381000" y="1524000"/>
            <a:ext cx="4000500" cy="1428900"/>
            <a:chOff x="0" y="0"/>
            <a:chExt cx="4000500" cy="1428900"/>
          </a:xfrm>
        </p:grpSpPr>
        <p:sp>
          <p:nvSpPr>
            <p:cNvPr id="279" name="Google Shape;279;p20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" name="Google Shape;281;p20"/>
            <p:cNvGrpSpPr/>
            <p:nvPr/>
          </p:nvGrpSpPr>
          <p:grpSpPr>
            <a:xfrm>
              <a:off x="3467100" y="190500"/>
              <a:ext cx="342900" cy="342900"/>
              <a:chOff x="0" y="0"/>
              <a:chExt cx="342900" cy="342900"/>
            </a:xfrm>
          </p:grpSpPr>
          <p:sp>
            <p:nvSpPr>
              <p:cNvPr id="282" name="Google Shape;282;p20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0"/>
              <p:cNvSpPr/>
              <p:nvPr/>
            </p:nvSpPr>
            <p:spPr>
              <a:xfrm>
                <a:off x="95250" y="952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60000" y="0"/>
                    </a:lnTo>
                    <a:lnTo>
                      <a:pt x="120000" y="60000"/>
                    </a:lnTo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4" name="Google Shape;284;p20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فهم تقنيات الرادار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تحديد مؤشرات المواقع المدفونة وتحليل قراءات الاستشعار لرفع كفاءة التنقيب الميداني.</a:t>
              </a:r>
              <a:endParaRPr sz="110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85" name="Google Shape;285;p20"/>
          <p:cNvGrpSpPr/>
          <p:nvPr/>
        </p:nvGrpSpPr>
        <p:grpSpPr>
          <a:xfrm>
            <a:off x="4762500" y="3095625"/>
            <a:ext cx="4000500" cy="1428900"/>
            <a:chOff x="0" y="0"/>
            <a:chExt cx="4000500" cy="1428900"/>
          </a:xfrm>
        </p:grpSpPr>
        <p:sp>
          <p:nvSpPr>
            <p:cNvPr id="286" name="Google Shape;286;p20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8" name="Google Shape;288;p20"/>
            <p:cNvGrpSpPr/>
            <p:nvPr/>
          </p:nvGrpSpPr>
          <p:grpSpPr>
            <a:xfrm>
              <a:off x="3467100" y="190500"/>
              <a:ext cx="342900" cy="342900"/>
              <a:chOff x="0" y="0"/>
              <a:chExt cx="342900" cy="342900"/>
            </a:xfrm>
          </p:grpSpPr>
          <p:sp>
            <p:nvSpPr>
              <p:cNvPr id="289" name="Google Shape;289;p20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0"/>
              <p:cNvSpPr/>
              <p:nvPr/>
            </p:nvSpPr>
            <p:spPr>
              <a:xfrm>
                <a:off x="85725" y="114300"/>
                <a:ext cx="171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cubicBezTo>
                      <a:pt x="20000" y="0"/>
                      <a:pt x="100000" y="0"/>
                      <a:pt x="120000" y="60000"/>
                    </a:cubicBezTo>
                    <a:cubicBezTo>
                      <a:pt x="100000" y="120000"/>
                      <a:pt x="20000" y="120000"/>
                      <a:pt x="0" y="60000"/>
                    </a:cubicBezTo>
                    <a:close/>
                    <a:moveTo>
                      <a:pt x="60000" y="30000"/>
                    </a:moveTo>
                    <a:cubicBezTo>
                      <a:pt x="48954" y="30000"/>
                      <a:pt x="40000" y="43431"/>
                      <a:pt x="40000" y="60000"/>
                    </a:cubicBezTo>
                    <a:cubicBezTo>
                      <a:pt x="40000" y="76569"/>
                      <a:pt x="48954" y="90000"/>
                      <a:pt x="60000" y="90000"/>
                    </a:cubicBezTo>
                    <a:cubicBezTo>
                      <a:pt x="71046" y="90000"/>
                      <a:pt x="80000" y="76569"/>
                      <a:pt x="80000" y="60000"/>
                    </a:cubicBezTo>
                    <a:cubicBezTo>
                      <a:pt x="80000" y="43431"/>
                      <a:pt x="71046" y="30000"/>
                      <a:pt x="60000" y="3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71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1" name="Google Shape;291;p20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اكتساب مهارة الرصد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الكشف المبكر لتصدعات المباني وتآكل القطع الأثرية لحمايتها واستدامتها المستقبليين.</a:t>
              </a:r>
              <a:endParaRPr sz="110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92" name="Google Shape;292;p20"/>
          <p:cNvGrpSpPr/>
          <p:nvPr/>
        </p:nvGrpSpPr>
        <p:grpSpPr>
          <a:xfrm>
            <a:off x="381000" y="3095625"/>
            <a:ext cx="4000500" cy="1428900"/>
            <a:chOff x="0" y="0"/>
            <a:chExt cx="4000500" cy="1428900"/>
          </a:xfrm>
        </p:grpSpPr>
        <p:sp>
          <p:nvSpPr>
            <p:cNvPr id="293" name="Google Shape;293;p20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5" name="Google Shape;295;p20"/>
            <p:cNvGrpSpPr/>
            <p:nvPr/>
          </p:nvGrpSpPr>
          <p:grpSpPr>
            <a:xfrm>
              <a:off x="3467100" y="190500"/>
              <a:ext cx="342900" cy="342900"/>
              <a:chOff x="0" y="0"/>
              <a:chExt cx="342900" cy="342900"/>
            </a:xfrm>
          </p:grpSpPr>
          <p:sp>
            <p:nvSpPr>
              <p:cNvPr id="296" name="Google Shape;296;p20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0"/>
              <p:cNvSpPr/>
              <p:nvPr/>
            </p:nvSpPr>
            <p:spPr>
              <a:xfrm>
                <a:off x="95250" y="76200"/>
                <a:ext cx="1524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90000" y="0"/>
                    </a:lnTo>
                    <a:lnTo>
                      <a:pt x="120000" y="2400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  <a:moveTo>
                      <a:pt x="30000" y="36000"/>
                    </a:moveTo>
                    <a:lnTo>
                      <a:pt x="75000" y="36000"/>
                    </a:lnTo>
                    <a:moveTo>
                      <a:pt x="30000" y="60000"/>
                    </a:moveTo>
                    <a:lnTo>
                      <a:pt x="90000" y="60000"/>
                    </a:lnTo>
                    <a:moveTo>
                      <a:pt x="30000" y="84000"/>
                    </a:moveTo>
                    <a:lnTo>
                      <a:pt x="60000" y="84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71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8" name="Google Shape;298;p20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صياغة توصيات حاسمة</a:t>
              </a:r>
              <a:endParaRPr sz="135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marL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تأسيس بنية رقمية أثرية ذكية تعزز من التكامل المؤسسي واستخدام الذكاء الاصطناعي.</a:t>
              </a:r>
              <a:endParaRPr sz="1100" b="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299" name="Google Shape;299;p20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1"/>
          <p:cNvGrpSpPr/>
          <p:nvPr/>
        </p:nvGrpSpPr>
        <p:grpSpPr>
          <a:xfrm>
            <a:off x="8572500" y="190500"/>
            <a:ext cx="342900" cy="342900"/>
            <a:chOff x="0" y="0"/>
            <a:chExt cx="342900" cy="342900"/>
          </a:xfrm>
        </p:grpSpPr>
        <p:sp>
          <p:nvSpPr>
            <p:cNvPr id="305" name="Google Shape;305;p21"/>
            <p:cNvSpPr/>
            <p:nvPr/>
          </p:nvSpPr>
          <p:spPr>
            <a:xfrm>
              <a:off x="0" y="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8" name="Google Shape;308;p21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sz="1050" b="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309" name="Google Shape;309;p21"/>
          <p:cNvGrpSpPr/>
          <p:nvPr/>
        </p:nvGrpSpPr>
        <p:grpSpPr>
          <a:xfrm>
            <a:off x="381000" y="571500"/>
            <a:ext cx="8382000" cy="428700"/>
            <a:chOff x="0" y="0"/>
            <a:chExt cx="8382000" cy="428700"/>
          </a:xfrm>
        </p:grpSpPr>
        <p:sp>
          <p:nvSpPr>
            <p:cNvPr id="310" name="Google Shape;310;p21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لنبدأ معاً: حماية شواهد الماضي بعيون تقنيات المستقبل</a:t>
              </a:r>
              <a:endParaRPr sz="220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7620000" y="3810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21"/>
          <p:cNvGrpSpPr/>
          <p:nvPr/>
        </p:nvGrpSpPr>
        <p:grpSpPr>
          <a:xfrm>
            <a:off x="952500" y="1428750"/>
            <a:ext cx="7239000" cy="2190900"/>
            <a:chOff x="0" y="0"/>
            <a:chExt cx="7239000" cy="2190900"/>
          </a:xfrm>
        </p:grpSpPr>
        <p:sp>
          <p:nvSpPr>
            <p:cNvPr id="313" name="Google Shape;313;p21"/>
            <p:cNvSpPr/>
            <p:nvPr/>
          </p:nvSpPr>
          <p:spPr>
            <a:xfrm>
              <a:off x="0" y="0"/>
              <a:ext cx="72390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4" name="Google Shape;314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4775" y="104775"/>
              <a:ext cx="7029600" cy="198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21"/>
            <p:cNvSpPr/>
            <p:nvPr/>
          </p:nvSpPr>
          <p:spPr>
            <a:xfrm>
              <a:off x="3143250" y="0"/>
              <a:ext cx="952500" cy="47700"/>
            </a:xfrm>
            <a:prstGeom prst="roundRect">
              <a:avLst>
                <a:gd name="adj" fmla="val 4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3143250" y="2143125"/>
              <a:ext cx="952500" cy="47700"/>
            </a:xfrm>
            <a:prstGeom prst="roundRect">
              <a:avLst>
                <a:gd name="adj" fmla="val 4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1"/>
            <p:cNvSpPr txBox="1"/>
            <p:nvPr/>
          </p:nvSpPr>
          <p:spPr>
            <a:xfrm>
              <a:off x="6477000" y="2381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50">
                  <a:solidFill>
                    <a:srgbClr val="D4AF37"/>
                  </a:solidFill>
                  <a:latin typeface="Cairo"/>
                  <a:ea typeface="Cairo"/>
                  <a:cs typeface="Cairo"/>
                  <a:sym typeface="Cairo"/>
                </a:rPr>
                <a:t>“</a:t>
              </a:r>
              <a:endParaRPr sz="2250">
                <a:solidFill>
                  <a:srgbClr val="D4AF37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18" name="Google Shape;318;p21"/>
            <p:cNvSpPr txBox="1"/>
            <p:nvPr/>
          </p:nvSpPr>
          <p:spPr>
            <a:xfrm>
              <a:off x="381000" y="14287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50">
                  <a:solidFill>
                    <a:srgbClr val="D4AF37"/>
                  </a:solidFill>
                  <a:latin typeface="Cairo"/>
                  <a:ea typeface="Cairo"/>
                  <a:cs typeface="Cairo"/>
                  <a:sym typeface="Cairo"/>
                </a:rPr>
                <a:t>”</a:t>
              </a:r>
              <a:endParaRPr sz="2250">
                <a:solidFill>
                  <a:srgbClr val="D4AF37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19" name="Google Shape;319;p21"/>
            <p:cNvSpPr txBox="1"/>
            <p:nvPr/>
          </p:nvSpPr>
          <p:spPr>
            <a:xfrm>
              <a:off x="476250" y="428625"/>
              <a:ext cx="6286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"الآثار ليست مجرد أحجار صامتة، بل هي هوية وتاريخ؛ والذكاء الاصطناعي اليوم هو مرآتنا لاستنطاق تفاصيل هذا التاريخ وصونه للأجيال القادمة."</a:t>
              </a:r>
              <a:endParaRPr sz="1800" b="1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320" name="Google Shape;320;p21"/>
          <p:cNvGrpSpPr/>
          <p:nvPr/>
        </p:nvGrpSpPr>
        <p:grpSpPr>
          <a:xfrm>
            <a:off x="3143250" y="3952875"/>
            <a:ext cx="2857500" cy="514500"/>
            <a:chOff x="0" y="0"/>
            <a:chExt cx="2857500" cy="514500"/>
          </a:xfrm>
        </p:grpSpPr>
        <p:sp>
          <p:nvSpPr>
            <p:cNvPr id="321" name="Google Shape;321;p21"/>
            <p:cNvSpPr/>
            <p:nvPr/>
          </p:nvSpPr>
          <p:spPr>
            <a:xfrm>
              <a:off x="0" y="38100"/>
              <a:ext cx="2857500" cy="476400"/>
            </a:xfrm>
            <a:prstGeom prst="roundRect">
              <a:avLst>
                <a:gd name="adj" fmla="val 50000"/>
              </a:avLst>
            </a:prstGeom>
            <a:solidFill>
              <a:srgbClr val="8B5A2B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0" y="0"/>
              <a:ext cx="2857500" cy="4764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19050" y="19050"/>
              <a:ext cx="2819400" cy="438300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0"/>
              </a:srgbClr>
            </a:solidFill>
            <a:ln w="14300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285750" y="152400"/>
              <a:ext cx="114300" cy="1716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6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1"/>
            <p:cNvSpPr txBox="1"/>
            <p:nvPr/>
          </p:nvSpPr>
          <p:spPr>
            <a:xfrm>
              <a:off x="428625" y="0"/>
              <a:ext cx="2143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50" b="1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الانتقال إلى المحور الأول</a:t>
              </a:r>
              <a:endParaRPr sz="1350" b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326" name="Google Shape;326;p21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3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D4A373">
              <a:alpha val="8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6" name="Google Shape;56;p14" title="nlg-w.png"/>
          <p:cNvPicPr preferRelativeResize="0"/>
          <p:nvPr/>
        </p:nvPicPr>
        <p:blipFill rotWithShape="1">
          <a:blip r:embed="rId3">
            <a:alphaModFix/>
          </a:blip>
          <a:srcRect l="169" r="159"/>
          <a:stretch/>
        </p:blipFill>
        <p:spPr>
          <a:xfrm>
            <a:off x="6269200" y="233400"/>
            <a:ext cx="2000100" cy="7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4"/>
          <p:cNvGrpSpPr/>
          <p:nvPr/>
        </p:nvGrpSpPr>
        <p:grpSpPr>
          <a:xfrm>
            <a:off x="352425" y="1002113"/>
            <a:ext cx="4057800" cy="3098475"/>
            <a:chOff x="352425" y="1002113"/>
            <a:chExt cx="4057800" cy="3098475"/>
          </a:xfrm>
        </p:grpSpPr>
        <p:pic>
          <p:nvPicPr>
            <p:cNvPr id="58" name="Google Shape;58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2425" y="1114425"/>
              <a:ext cx="4057800" cy="2305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4"/>
            <p:cNvPicPr preferRelativeResize="0"/>
            <p:nvPr/>
          </p:nvPicPr>
          <p:blipFill rotWithShape="1">
            <a:blip r:embed="rId5">
              <a:alphaModFix/>
            </a:blip>
            <a:srcRect t="9890" b="3582"/>
            <a:stretch/>
          </p:blipFill>
          <p:spPr>
            <a:xfrm>
              <a:off x="381000" y="1002113"/>
              <a:ext cx="4000500" cy="2417400"/>
            </a:xfrm>
            <a:prstGeom prst="roundRect">
              <a:avLst>
                <a:gd name="adj" fmla="val 3386"/>
              </a:avLst>
            </a:prstGeom>
            <a:noFill/>
            <a:ln>
              <a:noFill/>
            </a:ln>
          </p:spPr>
        </p:pic>
        <p:grpSp>
          <p:nvGrpSpPr>
            <p:cNvPr id="60" name="Google Shape;60;p14"/>
            <p:cNvGrpSpPr/>
            <p:nvPr/>
          </p:nvGrpSpPr>
          <p:grpSpPr>
            <a:xfrm>
              <a:off x="376238" y="3519488"/>
              <a:ext cx="4010100" cy="581100"/>
              <a:chOff x="-4762" y="-4762"/>
              <a:chExt cx="4010100" cy="581100"/>
            </a:xfrm>
          </p:grpSpPr>
          <p:pic>
            <p:nvPicPr>
              <p:cNvPr id="61" name="Google Shape;61;p14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-4762" y="-4762"/>
                <a:ext cx="4010100" cy="581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" name="Google Shape;62;p14"/>
              <p:cNvSpPr txBox="1"/>
              <p:nvPr/>
            </p:nvSpPr>
            <p:spPr>
              <a:xfrm>
                <a:off x="142875" y="95250"/>
                <a:ext cx="3714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تقنيات المسح الليزري ثلاثي الأبعاد والتحليل الطيفي الرقمي للقطع الأثرية</a:t>
                </a:r>
                <a:endParaRPr kumimoji="0" sz="1050" b="0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grpSp>
        <p:nvGrpSpPr>
          <p:cNvPr id="63" name="Google Shape;63;p14"/>
          <p:cNvGrpSpPr/>
          <p:nvPr/>
        </p:nvGrpSpPr>
        <p:grpSpPr>
          <a:xfrm>
            <a:off x="4572000" y="1143000"/>
            <a:ext cx="3810150" cy="2952825"/>
            <a:chOff x="4572000" y="1143000"/>
            <a:chExt cx="3810150" cy="2952825"/>
          </a:xfrm>
        </p:grpSpPr>
        <p:grpSp>
          <p:nvGrpSpPr>
            <p:cNvPr id="64" name="Google Shape;64;p14"/>
            <p:cNvGrpSpPr/>
            <p:nvPr/>
          </p:nvGrpSpPr>
          <p:grpSpPr>
            <a:xfrm>
              <a:off x="6000750" y="1143000"/>
              <a:ext cx="2381400" cy="304800"/>
              <a:chOff x="0" y="0"/>
              <a:chExt cx="2381400" cy="304800"/>
            </a:xfrm>
          </p:grpSpPr>
          <p:sp>
            <p:nvSpPr>
              <p:cNvPr id="65" name="Google Shape;65;p14"/>
              <p:cNvSpPr/>
              <p:nvPr/>
            </p:nvSpPr>
            <p:spPr>
              <a:xfrm>
                <a:off x="0" y="0"/>
                <a:ext cx="23814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B23A22">
                  <a:alpha val="25000"/>
                </a:srgbClr>
              </a:solidFill>
              <a:ln w="9525" cap="flat" cmpd="sng">
                <a:solidFill>
                  <a:srgbClr val="B23A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14"/>
              <p:cNvSpPr txBox="1"/>
              <p:nvPr/>
            </p:nvSpPr>
            <p:spPr>
              <a:xfrm>
                <a:off x="95250" y="19050"/>
                <a:ext cx="2190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935" b="1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ورشة العمل التخصصية — المحور الأول</a:t>
                </a:r>
                <a:endParaRPr kumimoji="0" sz="935" b="1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67" name="Google Shape;67;p14"/>
            <p:cNvSpPr txBox="1"/>
            <p:nvPr/>
          </p:nvSpPr>
          <p:spPr>
            <a:xfrm>
              <a:off x="4572000" y="160020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5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الذكاء الاصطناعي في علم الآثار</a:t>
              </a:r>
              <a:endParaRPr kumimoji="0" sz="2405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850" b="1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من الرقمنة إلى الاستنطاق المعرفي</a:t>
              </a:r>
              <a:endParaRPr kumimoji="0" sz="1850" b="1" i="0" u="none" strike="noStrike" kern="0" cap="none" spc="0" normalizeH="0" baseline="0" noProof="0">
                <a:ln>
                  <a:noFill/>
                </a:ln>
                <a:solidFill>
                  <a:srgbClr val="FDFCF0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7620000" y="31242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4572000" y="3286125"/>
              <a:ext cx="3810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0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خارطة الطريق الاستراتيجية للتحول الرقمي وتطوير البنية التحتية التقنية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DFCF0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381000" y="4519613"/>
            <a:ext cx="8382000" cy="414488"/>
            <a:chOff x="381000" y="4519613"/>
            <a:chExt cx="8382000" cy="414488"/>
          </a:xfrm>
        </p:grpSpPr>
        <p:pic>
          <p:nvPicPr>
            <p:cNvPr id="71" name="Google Shape;71;p1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81000" y="4519613"/>
              <a:ext cx="8382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4"/>
            <p:cNvSpPr txBox="1"/>
            <p:nvPr/>
          </p:nvSpPr>
          <p:spPr>
            <a:xfrm>
              <a:off x="4762500" y="464820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هيئة الشارقة للآثار — حكومة الشارقة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381000" y="464820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تاريخ الورشة: </a:t>
              </a:r>
              <a:r>
                <a:rPr kumimoji="0" lang="en" sz="105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سبتمبر 2026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FDFCF0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5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79" name="Google Shape;79;p15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80" name="Google Shape;80;p15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" name="Google Shape;83;p15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381000" y="619125"/>
            <a:ext cx="8382000" cy="495300"/>
            <a:chOff x="0" y="0"/>
            <a:chExt cx="8382000" cy="495300"/>
          </a:xfrm>
        </p:grpSpPr>
        <p:sp>
          <p:nvSpPr>
            <p:cNvPr id="85" name="Google Shape;85;p15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22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التحول الإبستمولوجي: من الأرشفة الساكنة إلى التحليل التوليدي</a:t>
              </a:r>
              <a:endParaRPr kumimoji="0" sz="2220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4762500" y="1333500"/>
            <a:ext cx="4000500" cy="2190900"/>
            <a:chOff x="0" y="0"/>
            <a:chExt cx="4000500" cy="2190900"/>
          </a:xfrm>
        </p:grpSpPr>
        <p:sp>
          <p:nvSpPr>
            <p:cNvPr id="88" name="Google Shape;88;p15"/>
            <p:cNvSpPr/>
            <p:nvPr/>
          </p:nvSpPr>
          <p:spPr>
            <a:xfrm>
              <a:off x="0" y="0"/>
              <a:ext cx="4000500" cy="2190900"/>
            </a:xfrm>
            <a:prstGeom prst="roundRect">
              <a:avLst>
                <a:gd name="adj" fmla="val 521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0" y="0"/>
              <a:ext cx="4000500" cy="457200"/>
            </a:xfrm>
            <a:prstGeom prst="roundRect">
              <a:avLst>
                <a:gd name="adj" fmla="val 25000"/>
              </a:avLst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0" y="228600"/>
              <a:ext cx="4000500" cy="228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190500" y="95250"/>
              <a:ext cx="3619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الرقمنة الكلاسيكية (الماضي)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190500" y="590550"/>
              <a:ext cx="36195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0" indent="-29845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قواعد بيانات Excel معزولة وملفات PDF ثابتة.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marR="0" lvl="0" indent="-29845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بحث يدوي يستنزف 70% من وقت الباحث.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marR="0" lvl="0" indent="-29845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F172A"/>
                </a:buClr>
                <a:buSzPts val="1100"/>
                <a:buFont typeface="Tajawal"/>
                <a:buChar char="●"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صور تفتقر للدلالة الحاسوبية والربط المعرفي.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93" name="Google Shape;93;p15"/>
          <p:cNvSpPr/>
          <p:nvPr/>
        </p:nvSpPr>
        <p:spPr>
          <a:xfrm>
            <a:off x="4429125" y="2286000"/>
            <a:ext cx="285900" cy="190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60000"/>
                </a:moveTo>
                <a:lnTo>
                  <a:pt x="0" y="60000"/>
                </a:lnTo>
                <a:moveTo>
                  <a:pt x="40000" y="0"/>
                </a:moveTo>
                <a:lnTo>
                  <a:pt x="0" y="60000"/>
                </a:lnTo>
                <a:lnTo>
                  <a:pt x="40000" y="120000"/>
                </a:lnTo>
              </a:path>
            </a:pathLst>
          </a:custGeom>
          <a:solidFill>
            <a:srgbClr val="000000"/>
          </a:solidFill>
          <a:ln w="33350" cap="rnd" cmpd="sng">
            <a:solidFill>
              <a:srgbClr val="D4A3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94" name="Google Shape;94;p15"/>
          <p:cNvGrpSpPr/>
          <p:nvPr/>
        </p:nvGrpSpPr>
        <p:grpSpPr>
          <a:xfrm>
            <a:off x="381000" y="1333500"/>
            <a:ext cx="4000500" cy="2190900"/>
            <a:chOff x="0" y="0"/>
            <a:chExt cx="4000500" cy="21909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0"/>
              <a:ext cx="4000500" cy="2190900"/>
            </a:xfrm>
            <a:prstGeom prst="roundRect">
              <a:avLst>
                <a:gd name="adj" fmla="val 521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0" y="0"/>
              <a:ext cx="4000500" cy="457200"/>
            </a:xfrm>
            <a:prstGeom prst="roundRect">
              <a:avLst>
                <a:gd name="adj" fmla="val 25000"/>
              </a:avLst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0" y="228600"/>
              <a:ext cx="4000500" cy="228600"/>
            </a:xfrm>
            <a:prstGeom prst="rect">
              <a:avLst/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190500" y="95250"/>
              <a:ext cx="3619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95" b="1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الذكاء الاصطناعي 2026 (الحاضر والمستقبل)</a:t>
              </a:r>
              <a:endParaRPr kumimoji="0" sz="1295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190500" y="590550"/>
              <a:ext cx="36195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0" indent="-29845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استنطاق فوري للمقتنيات الأثرية.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marR="0" lvl="0" indent="-29845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تعرف آلي على الأنماط الزخرفية بدقة عالية.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marR="0" lvl="0" indent="-29845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F172A"/>
                </a:buClr>
                <a:buSzPts val="1100"/>
                <a:buFont typeface="Tajawal"/>
                <a:buChar char="●"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ربط دلالي للمكتشفات وفهرسة لحظية بالنماذج متعددة الوسائط.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381000" y="3714750"/>
            <a:ext cx="8382000" cy="952500"/>
            <a:chOff x="0" y="0"/>
            <a:chExt cx="8382000" cy="952500"/>
          </a:xfrm>
        </p:grpSpPr>
        <p:sp>
          <p:nvSpPr>
            <p:cNvPr id="101" name="Google Shape;101;p15"/>
            <p:cNvSpPr/>
            <p:nvPr/>
          </p:nvSpPr>
          <p:spPr>
            <a:xfrm>
              <a:off x="0" y="0"/>
              <a:ext cx="8382000" cy="952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 cap="flat" cmpd="sng">
              <a:solidFill>
                <a:srgbClr val="D4A3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102" name="Google Shape;102;p15"/>
            <p:cNvPicPr preferRelativeResize="0"/>
            <p:nvPr/>
          </p:nvPicPr>
          <p:blipFill rotWithShape="1">
            <a:blip r:embed="rId3">
              <a:alphaModFix/>
            </a:blip>
            <a:srcRect l="3122" r="3131"/>
            <a:stretch/>
          </p:blipFill>
          <p:spPr>
            <a:xfrm>
              <a:off x="114300" y="95250"/>
              <a:ext cx="9525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5"/>
            <p:cNvSpPr txBox="1"/>
            <p:nvPr/>
          </p:nvSpPr>
          <p:spPr>
            <a:xfrm>
              <a:off x="1190625" y="142875"/>
              <a:ext cx="7000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توضيح مسار التدفق المعرفي: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رسم تخطيطي بياني يوضح تدفق البيانات المباشر من الأوراق والوثائق الأرشيفية القديمة عبر المحركات الدلالية وصولاً إلى الشبكة العصبية الذكية لتحليل وتوليد المعرفة الأثرية.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04" name="Google Shape;104;p15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6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10" name="Google Shape;110;p16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11" name="Google Shape;111;p16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6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6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" name="Google Shape;114;p16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0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15" name="Google Shape;115;p16"/>
          <p:cNvGrpSpPr/>
          <p:nvPr/>
        </p:nvGrpSpPr>
        <p:grpSpPr>
          <a:xfrm>
            <a:off x="381000" y="590550"/>
            <a:ext cx="8382000" cy="495300"/>
            <a:chOff x="0" y="0"/>
            <a:chExt cx="8382000" cy="495300"/>
          </a:xfrm>
        </p:grpSpPr>
        <p:sp>
          <p:nvSpPr>
            <p:cNvPr id="116" name="Google Shape;116;p16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الثالوث التقني لعلم الآثار الرقمي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16"/>
          <p:cNvGrpSpPr/>
          <p:nvPr/>
        </p:nvGrpSpPr>
        <p:grpSpPr>
          <a:xfrm>
            <a:off x="6286500" y="1333500"/>
            <a:ext cx="2476500" cy="3143400"/>
            <a:chOff x="0" y="0"/>
            <a:chExt cx="2476500" cy="3143400"/>
          </a:xfrm>
        </p:grpSpPr>
        <p:sp>
          <p:nvSpPr>
            <p:cNvPr id="119" name="Google Shape;119;p16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209550" y="228600"/>
              <a:ext cx="2057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200" b="0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remove_red_eye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1. الرؤية الحاسوبية</a:t>
              </a: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(Computer Vision)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تُستخدم لتصنيف الكسرات الفخارية، ومطابقة قوالب المسكوكات بدقة، وتتبع مسارات التآكل في المكتشفات.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3333750" y="1333500"/>
            <a:ext cx="2476500" cy="3143400"/>
            <a:chOff x="0" y="0"/>
            <a:chExt cx="2476500" cy="31434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209550" y="228600"/>
              <a:ext cx="2057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200" b="0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translate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2. معالجة اللغات الطبيعية</a:t>
              </a: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(NLP)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تُوظف لفك وترميم النقوش الصخرية القديمة مثل خط المسند، والآرامي، والكوفي المبكر، بالإضافة إلى أتمتة التقارير الأثرية.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381000" y="1333500"/>
            <a:ext cx="2476500" cy="3143400"/>
            <a:chOff x="0" y="0"/>
            <a:chExt cx="2476500" cy="31434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209550" y="228600"/>
              <a:ext cx="2057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200" b="0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3. الذكاء الجغرافي</a:t>
              </a: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(GeoAI)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يعمل على ربط مواقع الاستيطان بالخرائط البيئية وتكاملها مع نظم المعلومات الجغرافية (GIS).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30" name="Google Shape;130;p16"/>
          <p:cNvGrpSpPr/>
          <p:nvPr/>
        </p:nvGrpSpPr>
        <p:grpSpPr>
          <a:xfrm>
            <a:off x="381000" y="4714875"/>
            <a:ext cx="8382000" cy="333450"/>
            <a:chOff x="381000" y="4714875"/>
            <a:chExt cx="8382000" cy="333450"/>
          </a:xfrm>
        </p:grpSpPr>
        <p:sp>
          <p:nvSpPr>
            <p:cNvPr id="131" name="Google Shape;131;p16"/>
            <p:cNvSpPr/>
            <p:nvPr/>
          </p:nvSpPr>
          <p:spPr>
            <a:xfrm>
              <a:off x="381000" y="4714875"/>
              <a:ext cx="8382000" cy="9600"/>
            </a:xfrm>
            <a:prstGeom prst="rect">
              <a:avLst/>
            </a:prstGeom>
            <a:solidFill>
              <a:srgbClr val="D4A373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381000" y="4810125"/>
              <a:ext cx="838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0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هيئة الشارقة للآثار — التقرير التقني الاستراتيجي</a:t>
              </a: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7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38" name="Google Shape;138;p17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39" name="Google Shape;139;p17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7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7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2" name="Google Shape;142;p17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43" name="Google Shape;143;p17"/>
          <p:cNvGrpSpPr/>
          <p:nvPr/>
        </p:nvGrpSpPr>
        <p:grpSpPr>
          <a:xfrm>
            <a:off x="381000" y="571500"/>
            <a:ext cx="8382000" cy="762000"/>
            <a:chOff x="0" y="0"/>
            <a:chExt cx="8382000" cy="762000"/>
          </a:xfrm>
        </p:grpSpPr>
        <p:sp>
          <p:nvSpPr>
            <p:cNvPr id="144" name="Google Shape;144;p17"/>
            <p:cNvSpPr txBox="1"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2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إحياء النصوص التالفة: تجربة نموذج Ithaca من DeepMind وأكسفورد</a:t>
              </a:r>
              <a:endParaRPr kumimoji="0" sz="2200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9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00" b="0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أحدث </a:t>
              </a:r>
              <a:r>
                <a:rPr kumimoji="0" lang="en" sz="1300" b="0" i="0" u="sng" strike="noStrike" kern="0" cap="none" spc="0" normalizeH="0" baseline="0" noProof="0">
                  <a:ln>
                    <a:noFill/>
                  </a:ln>
                  <a:solidFill>
                    <a:srgbClr val="0097A7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  <a:hlinkClick r:id="rId3"/>
                </a:rPr>
                <a:t>نموذج Ithaca ثورة في ترميم النصوص القديمة</a:t>
              </a:r>
              <a:r>
                <a:rPr kumimoji="0" lang="en" sz="1300" b="0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 عبر المؤشرات التالية:</a:t>
              </a:r>
              <a:endParaRPr kumimoji="0" sz="1300" b="0" i="0" u="none" strike="noStrike" kern="0" cap="none" spc="0" normalizeH="0" baseline="0" noProof="0">
                <a:ln>
                  <a:noFill/>
                </a:ln>
                <a:solidFill>
                  <a:srgbClr val="FDFCF0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7620000" y="3810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46" name="Google Shape;14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428750"/>
            <a:ext cx="4191000" cy="314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17"/>
          <p:cNvGrpSpPr/>
          <p:nvPr/>
        </p:nvGrpSpPr>
        <p:grpSpPr>
          <a:xfrm>
            <a:off x="4762500" y="1428750"/>
            <a:ext cx="4000650" cy="952500"/>
            <a:chOff x="0" y="0"/>
            <a:chExt cx="4000650" cy="9525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3943350" y="0"/>
              <a:ext cx="57300" cy="9525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2857500" y="142875"/>
              <a:ext cx="95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8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71%</a:t>
              </a:r>
              <a:endParaRPr kumimoji="0" sz="28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190500" y="142875"/>
              <a:ext cx="2571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دقة استعادة النصوص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استعادة النصوص والكلمات المفقودة من النقوش الحجرية المتآكلة بكفاءة عالية.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4762500" y="2524125"/>
            <a:ext cx="4000650" cy="952500"/>
            <a:chOff x="0" y="0"/>
            <a:chExt cx="4000650" cy="952500"/>
          </a:xfrm>
        </p:grpSpPr>
        <p:sp>
          <p:nvSpPr>
            <p:cNvPr id="153" name="Google Shape;153;p17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3943350" y="0"/>
              <a:ext cx="57300" cy="952500"/>
            </a:xfrm>
            <a:prstGeom prst="roundRect">
              <a:avLst>
                <a:gd name="adj" fmla="val 50000"/>
              </a:avLst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2857500" y="142875"/>
              <a:ext cx="95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8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84%</a:t>
              </a:r>
              <a:endParaRPr kumimoji="0" sz="2800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190500" y="142875"/>
              <a:ext cx="2571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التحديد الجغرافي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تحديد الموقع الجغرافي الأصلي للمخطوطة أو النقش الأثري بدقة فائقة.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4762500" y="3619500"/>
            <a:ext cx="4000650" cy="952500"/>
            <a:chOff x="0" y="0"/>
            <a:chExt cx="4000650" cy="952500"/>
          </a:xfrm>
        </p:grpSpPr>
        <p:sp>
          <p:nvSpPr>
            <p:cNvPr id="158" name="Google Shape;158;p17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3943350" y="0"/>
              <a:ext cx="57300" cy="9525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2857500" y="142875"/>
              <a:ext cx="95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2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30 عاماً</a:t>
              </a:r>
              <a:endParaRPr kumimoji="0" sz="22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190500" y="142875"/>
              <a:ext cx="2571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التأريخ الزمني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القدرة على تحديد العصر التاريخي للنص ضمن نطاق زمني ضيق جداً.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62" name="Google Shape;162;p17"/>
          <p:cNvGrpSpPr/>
          <p:nvPr/>
        </p:nvGrpSpPr>
        <p:grpSpPr>
          <a:xfrm>
            <a:off x="381000" y="4810125"/>
            <a:ext cx="8382000" cy="257175"/>
            <a:chOff x="381000" y="4810125"/>
            <a:chExt cx="8382000" cy="257175"/>
          </a:xfrm>
        </p:grpSpPr>
        <p:sp>
          <p:nvSpPr>
            <p:cNvPr id="163" name="Google Shape;163;p17"/>
            <p:cNvSpPr/>
            <p:nvPr/>
          </p:nvSpPr>
          <p:spPr>
            <a:xfrm>
              <a:off x="381000" y="4810125"/>
              <a:ext cx="8382000" cy="9600"/>
            </a:xfrm>
            <a:prstGeom prst="rect">
              <a:avLst/>
            </a:prstGeom>
            <a:solidFill>
              <a:srgbClr val="D4A373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381000" y="487680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85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المصدر: </a:t>
              </a:r>
              <a:r>
                <a:rPr kumimoji="0" lang="en" sz="850" b="0" i="0" u="sng" strike="noStrike" kern="0" cap="none" spc="0" normalizeH="0" baseline="0" noProof="0">
                  <a:ln>
                    <a:noFill/>
                  </a:ln>
                  <a:solidFill>
                    <a:srgbClr val="0097A7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  <a:hlinkClick r:id="rId5"/>
                </a:rPr>
                <a:t>نتائج أبحاث نموذج Ithaca للذكاء الاصطناعي - DeepMind بجامعة أكسفورد</a:t>
              </a:r>
              <a:endParaRPr kumimoji="0" sz="85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8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70" name="Google Shape;170;p18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71" name="Google Shape;171;p18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8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4" name="Google Shape;174;p18"/>
            <p:cNvSpPr txBox="1"/>
            <p:nvPr/>
          </p:nvSpPr>
          <p:spPr>
            <a:xfrm>
              <a:off x="381000" y="20955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381000" y="495300"/>
            <a:ext cx="8382000" cy="466650"/>
            <a:chOff x="381000" y="495300"/>
            <a:chExt cx="8382000" cy="466650"/>
          </a:xfrm>
        </p:grpSpPr>
        <p:sp>
          <p:nvSpPr>
            <p:cNvPr id="176" name="Google Shape;176;p18"/>
            <p:cNvSpPr txBox="1"/>
            <p:nvPr/>
          </p:nvSpPr>
          <p:spPr>
            <a:xfrm>
              <a:off x="381000" y="49530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2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تصنيف المسكوكات الإسلامية المكتشفة في الشارقة</a:t>
              </a:r>
              <a:endParaRPr kumimoji="0" sz="2200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8001000" y="933450"/>
              <a:ext cx="762000" cy="28500"/>
            </a:xfrm>
            <a:prstGeom prst="roundRect">
              <a:avLst>
                <a:gd name="adj" fmla="val 50000"/>
              </a:avLst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78" name="Google Shape;17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1190625"/>
            <a:ext cx="3238500" cy="3238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8"/>
          <p:cNvGrpSpPr/>
          <p:nvPr/>
        </p:nvGrpSpPr>
        <p:grpSpPr>
          <a:xfrm>
            <a:off x="4143375" y="1190625"/>
            <a:ext cx="4619775" cy="3229050"/>
            <a:chOff x="4143375" y="1190625"/>
            <a:chExt cx="4619775" cy="3229050"/>
          </a:xfrm>
        </p:grpSpPr>
        <p:grpSp>
          <p:nvGrpSpPr>
            <p:cNvPr id="180" name="Google Shape;180;p18"/>
            <p:cNvGrpSpPr/>
            <p:nvPr/>
          </p:nvGrpSpPr>
          <p:grpSpPr>
            <a:xfrm>
              <a:off x="4143375" y="1190625"/>
              <a:ext cx="4619775" cy="1000200"/>
              <a:chOff x="0" y="0"/>
              <a:chExt cx="4619775" cy="1000200"/>
            </a:xfrm>
          </p:grpSpPr>
          <p:sp>
            <p:nvSpPr>
              <p:cNvPr id="181" name="Google Shape;181;p18"/>
              <p:cNvSpPr/>
              <p:nvPr/>
            </p:nvSpPr>
            <p:spPr>
              <a:xfrm>
                <a:off x="0" y="0"/>
                <a:ext cx="4619700" cy="1000200"/>
              </a:xfrm>
              <a:prstGeom prst="roundRect">
                <a:avLst>
                  <a:gd name="adj" fmla="val 7619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8"/>
              <p:cNvSpPr/>
              <p:nvPr/>
            </p:nvSpPr>
            <p:spPr>
              <a:xfrm>
                <a:off x="4562475" y="0"/>
                <a:ext cx="57300" cy="1000200"/>
              </a:xfrm>
              <a:prstGeom prst="roundRect">
                <a:avLst>
                  <a:gd name="adj" fmla="val 50000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8"/>
              <p:cNvSpPr/>
              <p:nvPr/>
            </p:nvSpPr>
            <p:spPr>
              <a:xfrm>
                <a:off x="4124325" y="161925"/>
                <a:ext cx="285900" cy="2859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8"/>
              <p:cNvSpPr txBox="1"/>
              <p:nvPr/>
            </p:nvSpPr>
            <p:spPr>
              <a:xfrm>
                <a:off x="4124325" y="190500"/>
                <a:ext cx="285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D4A373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01</a:t>
                </a:r>
                <a:endParaRPr kumimoji="0" sz="11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185" name="Google Shape;185;p18"/>
              <p:cNvSpPr txBox="1"/>
              <p:nvPr/>
            </p:nvSpPr>
            <p:spPr>
              <a:xfrm>
                <a:off x="190500" y="133350"/>
                <a:ext cx="3762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300" b="1" i="0" u="none" strike="noStrike" kern="0" cap="none" spc="0" normalizeH="0" baseline="0" noProof="0">
                    <a:ln>
                      <a:noFill/>
                    </a:ln>
                    <a:solidFill>
                      <a:srgbClr val="B23A22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التعرف المورفولوجي الذكي</a:t>
                </a:r>
                <a:endParaRPr kumimoji="0" sz="13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تطبيق خوارزميات التعرف المورفولوجي على الدراهم العباسية والأموية المكتشفة بموقعي "المدام" و"مليحة".</a:t>
                </a:r>
                <a:endParaRPr kumimoji="0" sz="105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86" name="Google Shape;186;p18"/>
            <p:cNvGrpSpPr/>
            <p:nvPr/>
          </p:nvGrpSpPr>
          <p:grpSpPr>
            <a:xfrm>
              <a:off x="4143375" y="2305050"/>
              <a:ext cx="4619775" cy="1000200"/>
              <a:chOff x="0" y="0"/>
              <a:chExt cx="4619775" cy="1000200"/>
            </a:xfrm>
          </p:grpSpPr>
          <p:sp>
            <p:nvSpPr>
              <p:cNvPr id="187" name="Google Shape;187;p18"/>
              <p:cNvSpPr/>
              <p:nvPr/>
            </p:nvSpPr>
            <p:spPr>
              <a:xfrm>
                <a:off x="0" y="0"/>
                <a:ext cx="4619700" cy="1000200"/>
              </a:xfrm>
              <a:prstGeom prst="roundRect">
                <a:avLst>
                  <a:gd name="adj" fmla="val 7619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8"/>
              <p:cNvSpPr/>
              <p:nvPr/>
            </p:nvSpPr>
            <p:spPr>
              <a:xfrm>
                <a:off x="4562475" y="0"/>
                <a:ext cx="57300" cy="1000200"/>
              </a:xfrm>
              <a:prstGeom prst="roundRect">
                <a:avLst>
                  <a:gd name="adj" fmla="val 50000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8"/>
              <p:cNvSpPr/>
              <p:nvPr/>
            </p:nvSpPr>
            <p:spPr>
              <a:xfrm>
                <a:off x="4124325" y="161925"/>
                <a:ext cx="285900" cy="2859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8"/>
              <p:cNvSpPr txBox="1"/>
              <p:nvPr/>
            </p:nvSpPr>
            <p:spPr>
              <a:xfrm>
                <a:off x="4124325" y="190500"/>
                <a:ext cx="285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D4A373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02</a:t>
                </a:r>
                <a:endParaRPr kumimoji="0" sz="11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191" name="Google Shape;191;p18"/>
              <p:cNvSpPr txBox="1"/>
              <p:nvPr/>
            </p:nvSpPr>
            <p:spPr>
              <a:xfrm>
                <a:off x="190500" y="133350"/>
                <a:ext cx="3762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300" b="1" i="0" u="none" strike="noStrike" kern="0" cap="none" spc="0" normalizeH="0" baseline="0" noProof="0">
                    <a:ln>
                      <a:noFill/>
                    </a:ln>
                    <a:solidFill>
                      <a:srgbClr val="B23A22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القراءة الآلية للنقوش الكوفية</a:t>
                </a:r>
                <a:endParaRPr kumimoji="0" sz="13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قراءة آلية للكتابات الطوقية والمركزية المنقوشة بالخط الكوفي المبكر غير المنقوط.</a:t>
                </a:r>
                <a:endParaRPr kumimoji="0" sz="105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92" name="Google Shape;192;p18"/>
            <p:cNvGrpSpPr/>
            <p:nvPr/>
          </p:nvGrpSpPr>
          <p:grpSpPr>
            <a:xfrm>
              <a:off x="4143375" y="3419475"/>
              <a:ext cx="4619775" cy="1000200"/>
              <a:chOff x="0" y="0"/>
              <a:chExt cx="4619775" cy="1000200"/>
            </a:xfrm>
          </p:grpSpPr>
          <p:sp>
            <p:nvSpPr>
              <p:cNvPr id="193" name="Google Shape;193;p18"/>
              <p:cNvSpPr/>
              <p:nvPr/>
            </p:nvSpPr>
            <p:spPr>
              <a:xfrm>
                <a:off x="0" y="0"/>
                <a:ext cx="4619700" cy="1000200"/>
              </a:xfrm>
              <a:prstGeom prst="roundRect">
                <a:avLst>
                  <a:gd name="adj" fmla="val 7619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8"/>
              <p:cNvSpPr/>
              <p:nvPr/>
            </p:nvSpPr>
            <p:spPr>
              <a:xfrm>
                <a:off x="4562475" y="0"/>
                <a:ext cx="57300" cy="1000200"/>
              </a:xfrm>
              <a:prstGeom prst="roundRect">
                <a:avLst>
                  <a:gd name="adj" fmla="val 50000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8"/>
              <p:cNvSpPr/>
              <p:nvPr/>
            </p:nvSpPr>
            <p:spPr>
              <a:xfrm>
                <a:off x="4124325" y="161925"/>
                <a:ext cx="285900" cy="2859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8"/>
              <p:cNvSpPr txBox="1"/>
              <p:nvPr/>
            </p:nvSpPr>
            <p:spPr>
              <a:xfrm>
                <a:off x="4124325" y="190500"/>
                <a:ext cx="285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D4A373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03</a:t>
                </a:r>
                <a:endParaRPr kumimoji="0" sz="11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197" name="Google Shape;197;p18"/>
              <p:cNvSpPr txBox="1"/>
              <p:nvPr/>
            </p:nvSpPr>
            <p:spPr>
              <a:xfrm>
                <a:off x="190500" y="133350"/>
                <a:ext cx="3762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300" b="1" i="0" u="none" strike="noStrike" kern="0" cap="none" spc="0" normalizeH="0" baseline="0" noProof="0">
                    <a:ln>
                      <a:noFill/>
                    </a:ln>
                    <a:solidFill>
                      <a:srgbClr val="B23A22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مطابقة قوالب السك الرقمية</a:t>
                </a:r>
                <a:endParaRPr kumimoji="0" sz="13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مطابقة قوالب السك بدقة تصل إلى 0.1 ملم لتمييز دور السك الأصلية واكتشاف التزييف التاريخي بدقة متناهية.</a:t>
                </a:r>
                <a:endParaRPr kumimoji="0" sz="105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198" name="Google Shape;198;p18"/>
          <p:cNvSpPr/>
          <p:nvPr/>
        </p:nvSpPr>
        <p:spPr>
          <a:xfrm>
            <a:off x="381000" y="4714875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04" name="Google Shape;204;p19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05" name="Google Shape;205;p19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06" name="Google Shape;206;p19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9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9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9" name="Google Shape;209;p19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10" name="Google Shape;210;p19"/>
          <p:cNvGrpSpPr/>
          <p:nvPr/>
        </p:nvGrpSpPr>
        <p:grpSpPr>
          <a:xfrm>
            <a:off x="381000" y="619125"/>
            <a:ext cx="8382000" cy="466725"/>
            <a:chOff x="0" y="0"/>
            <a:chExt cx="8382000" cy="466725"/>
          </a:xfrm>
        </p:grpSpPr>
        <p:sp>
          <p:nvSpPr>
            <p:cNvPr id="211" name="Google Shape;211;p19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أتمتة الفهرسة وفق المعايير الدولية (FAIR &amp; Dublin Core)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7620000" y="42862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19"/>
          <p:cNvGrpSpPr/>
          <p:nvPr/>
        </p:nvGrpSpPr>
        <p:grpSpPr>
          <a:xfrm>
            <a:off x="6381750" y="1333500"/>
            <a:ext cx="2381400" cy="3238500"/>
            <a:chOff x="0" y="0"/>
            <a:chExt cx="2381400" cy="3238500"/>
          </a:xfrm>
        </p:grpSpPr>
        <p:sp>
          <p:nvSpPr>
            <p:cNvPr id="214" name="Google Shape;214;p19"/>
            <p:cNvSpPr/>
            <p:nvPr/>
          </p:nvSpPr>
          <p:spPr>
            <a:xfrm>
              <a:off x="0" y="0"/>
              <a:ext cx="2381400" cy="3238500"/>
            </a:xfrm>
            <a:prstGeom prst="roundRect">
              <a:avLst>
                <a:gd name="adj" fmla="val 3999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0" y="0"/>
              <a:ext cx="2381400" cy="381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142875" y="142875"/>
              <a:ext cx="2095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3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مدخلات النظام: صورة اللقية</a:t>
              </a:r>
              <a:endParaRPr kumimoji="0" sz="1203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grpSp>
          <p:nvGrpSpPr>
            <p:cNvPr id="217" name="Google Shape;217;p19"/>
            <p:cNvGrpSpPr/>
            <p:nvPr/>
          </p:nvGrpSpPr>
          <p:grpSpPr>
            <a:xfrm>
              <a:off x="328613" y="519113"/>
              <a:ext cx="1724100" cy="1438200"/>
              <a:chOff x="-4762" y="-4762"/>
              <a:chExt cx="1724100" cy="1438200"/>
            </a:xfrm>
          </p:grpSpPr>
          <p:pic>
            <p:nvPicPr>
              <p:cNvPr id="218" name="Google Shape;218;p19"/>
              <p:cNvPicPr preferRelativeResize="0"/>
              <p:nvPr/>
            </p:nvPicPr>
            <p:blipFill rotWithShape="1">
              <a:blip r:embed="rId3">
                <a:alphaModFix/>
              </a:blip>
              <a:srcRect b="10"/>
              <a:stretch/>
            </p:blipFill>
            <p:spPr>
              <a:xfrm>
                <a:off x="-4762" y="-4762"/>
                <a:ext cx="1724100" cy="1438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9" name="Google Shape;219;p19"/>
              <p:cNvSpPr/>
              <p:nvPr/>
            </p:nvSpPr>
            <p:spPr>
              <a:xfrm>
                <a:off x="381000" y="238125"/>
                <a:ext cx="952500" cy="809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24000" y="120000"/>
                    </a:moveTo>
                    <a:cubicBezTo>
                      <a:pt x="12000" y="120000"/>
                      <a:pt x="0" y="91765"/>
                      <a:pt x="6000" y="49412"/>
                    </a:cubicBezTo>
                    <a:cubicBezTo>
                      <a:pt x="8400" y="28235"/>
                      <a:pt x="18000" y="21176"/>
                      <a:pt x="18000" y="14118"/>
                    </a:cubicBezTo>
                    <a:lnTo>
                      <a:pt x="18000" y="0"/>
                    </a:lnTo>
                    <a:lnTo>
                      <a:pt x="102000" y="0"/>
                    </a:lnTo>
                    <a:lnTo>
                      <a:pt x="102000" y="14118"/>
                    </a:lnTo>
                    <a:cubicBezTo>
                      <a:pt x="102000" y="21176"/>
                      <a:pt x="111600" y="28235"/>
                      <a:pt x="114000" y="49412"/>
                    </a:cubicBezTo>
                    <a:cubicBezTo>
                      <a:pt x="120000" y="91765"/>
                      <a:pt x="108000" y="120000"/>
                      <a:pt x="96000" y="120000"/>
                    </a:cubicBezTo>
                    <a:close/>
                  </a:path>
                </a:pathLst>
              </a:custGeom>
              <a:solidFill>
                <a:srgbClr val="B23A2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9"/>
              <p:cNvSpPr/>
              <p:nvPr/>
            </p:nvSpPr>
            <p:spPr>
              <a:xfrm>
                <a:off x="523875" y="190500"/>
                <a:ext cx="666900" cy="95400"/>
              </a:xfrm>
              <a:prstGeom prst="ellipse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9"/>
              <p:cNvSpPr/>
              <p:nvPr/>
            </p:nvSpPr>
            <p:spPr>
              <a:xfrm>
                <a:off x="333375" y="476250"/>
                <a:ext cx="142800" cy="2859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0"/>
                    </a:moveTo>
                    <a:cubicBezTo>
                      <a:pt x="0" y="0"/>
                      <a:pt x="0" y="100000"/>
                      <a:pt x="96000" y="120000"/>
                    </a:cubicBezTo>
                  </a:path>
                </a:pathLst>
              </a:custGeom>
              <a:solidFill>
                <a:srgbClr val="000000"/>
              </a:solidFill>
              <a:ln w="38100" cap="flat" cmpd="sng">
                <a:solidFill>
                  <a:srgbClr val="B23A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9"/>
              <p:cNvSpPr/>
              <p:nvPr/>
            </p:nvSpPr>
            <p:spPr>
              <a:xfrm>
                <a:off x="1238250" y="476250"/>
                <a:ext cx="142800" cy="2859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cubicBezTo>
                      <a:pt x="120000" y="0"/>
                      <a:pt x="120000" y="100000"/>
                      <a:pt x="24000" y="120000"/>
                    </a:cubicBezTo>
                  </a:path>
                </a:pathLst>
              </a:custGeom>
              <a:solidFill>
                <a:srgbClr val="000000"/>
              </a:solidFill>
              <a:ln w="38100" cap="flat" cmpd="sng">
                <a:solidFill>
                  <a:srgbClr val="B23A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223" name="Google Shape;223;p19"/>
              <p:cNvCxnSpPr/>
              <p:nvPr/>
            </p:nvCxnSpPr>
            <p:spPr>
              <a:xfrm>
                <a:off x="190500" y="666750"/>
                <a:ext cx="13335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24" name="Google Shape;224;p19"/>
              <p:cNvSpPr/>
              <p:nvPr/>
            </p:nvSpPr>
            <p:spPr>
              <a:xfrm>
                <a:off x="0" y="666750"/>
                <a:ext cx="1714500" cy="476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3333" y="0"/>
                    </a:moveTo>
                    <a:lnTo>
                      <a:pt x="106667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5" name="Google Shape;225;p19"/>
            <p:cNvSpPr/>
            <p:nvPr/>
          </p:nvSpPr>
          <p:spPr>
            <a:xfrm>
              <a:off x="333375" y="2076450"/>
              <a:ext cx="1714500" cy="266700"/>
            </a:xfrm>
            <a:prstGeom prst="roundRect">
              <a:avLst>
                <a:gd name="adj" fmla="val 14285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9"/>
            <p:cNvSpPr txBox="1"/>
            <p:nvPr/>
          </p:nvSpPr>
          <p:spPr>
            <a:xfrm>
              <a:off x="333375" y="2076450"/>
              <a:ext cx="17145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95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جاري تحليل السمة البصرية...</a:t>
              </a:r>
              <a:endParaRPr kumimoji="0" sz="95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grpSp>
          <p:nvGrpSpPr>
            <p:cNvPr id="227" name="Google Shape;227;p19"/>
            <p:cNvGrpSpPr/>
            <p:nvPr/>
          </p:nvGrpSpPr>
          <p:grpSpPr>
            <a:xfrm>
              <a:off x="333375" y="2476500"/>
              <a:ext cx="1714575" cy="228600"/>
              <a:chOff x="0" y="0"/>
              <a:chExt cx="1714575" cy="228600"/>
            </a:xfrm>
          </p:grpSpPr>
          <p:sp>
            <p:nvSpPr>
              <p:cNvPr id="228" name="Google Shape;228;p19"/>
              <p:cNvSpPr/>
              <p:nvPr/>
            </p:nvSpPr>
            <p:spPr>
              <a:xfrm>
                <a:off x="0" y="0"/>
                <a:ext cx="8097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D4A373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9"/>
              <p:cNvSpPr txBox="1"/>
              <p:nvPr/>
            </p:nvSpPr>
            <p:spPr>
              <a:xfrm>
                <a:off x="0" y="0"/>
                <a:ext cx="8097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850" b="1" i="0" u="none" strike="noStrike" kern="0" cap="none" spc="0" normalizeH="0" baseline="0" noProof="0">
                    <a:ln>
                      <a:noFill/>
                    </a:ln>
                    <a:solidFill>
                      <a:srgbClr val="B23A22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FAIR</a:t>
                </a:r>
                <a:endParaRPr kumimoji="0" sz="85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230" name="Google Shape;230;p19"/>
              <p:cNvSpPr/>
              <p:nvPr/>
            </p:nvSpPr>
            <p:spPr>
              <a:xfrm>
                <a:off x="904875" y="0"/>
                <a:ext cx="8097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D4A373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9"/>
              <p:cNvSpPr txBox="1"/>
              <p:nvPr/>
            </p:nvSpPr>
            <p:spPr>
              <a:xfrm>
                <a:off x="904875" y="0"/>
                <a:ext cx="8097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850" b="1" i="0" u="none" strike="noStrike" kern="0" cap="none" spc="0" normalizeH="0" baseline="0" noProof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Dublin Core</a:t>
                </a:r>
                <a:endParaRPr kumimoji="0" sz="850" b="1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</p:grpSp>
      </p:grpSp>
      <p:pic>
        <p:nvPicPr>
          <p:cNvPr id="232" name="Google Shape;232;p19"/>
          <p:cNvPicPr preferRelativeResize="0"/>
          <p:nvPr/>
        </p:nvPicPr>
        <p:blipFill rotWithShape="1">
          <a:blip r:embed="rId4">
            <a:alphaModFix/>
          </a:blip>
          <a:srcRect t="20" b="10"/>
          <a:stretch/>
        </p:blipFill>
        <p:spPr>
          <a:xfrm>
            <a:off x="5853113" y="2895600"/>
            <a:ext cx="4383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9"/>
          <p:cNvGrpSpPr/>
          <p:nvPr/>
        </p:nvGrpSpPr>
        <p:grpSpPr>
          <a:xfrm>
            <a:off x="3381375" y="1333500"/>
            <a:ext cx="2381400" cy="3238500"/>
            <a:chOff x="0" y="0"/>
            <a:chExt cx="2381400" cy="3238500"/>
          </a:xfrm>
        </p:grpSpPr>
        <p:grpSp>
          <p:nvGrpSpPr>
            <p:cNvPr id="234" name="Google Shape;234;p19"/>
            <p:cNvGrpSpPr/>
            <p:nvPr/>
          </p:nvGrpSpPr>
          <p:grpSpPr>
            <a:xfrm>
              <a:off x="0" y="0"/>
              <a:ext cx="2381400" cy="1143000"/>
              <a:chOff x="0" y="0"/>
              <a:chExt cx="2381400" cy="1143000"/>
            </a:xfrm>
          </p:grpSpPr>
          <p:sp>
            <p:nvSpPr>
              <p:cNvPr id="235" name="Google Shape;235;p19"/>
              <p:cNvSpPr/>
              <p:nvPr/>
            </p:nvSpPr>
            <p:spPr>
              <a:xfrm>
                <a:off x="0" y="0"/>
                <a:ext cx="23814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9"/>
              <p:cNvSpPr/>
              <p:nvPr/>
            </p:nvSpPr>
            <p:spPr>
              <a:xfrm>
                <a:off x="0" y="0"/>
                <a:ext cx="23814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9"/>
              <p:cNvSpPr txBox="1"/>
              <p:nvPr/>
            </p:nvSpPr>
            <p:spPr>
              <a:xfrm>
                <a:off x="95250" y="142875"/>
                <a:ext cx="2190900" cy="904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السرعة الفائقة</a:t>
                </a:r>
                <a:endParaRPr kumimoji="0" sz="1100" b="1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3000" b="1" i="0" u="none" strike="noStrike" kern="0" cap="none" spc="0" normalizeH="0" baseline="0" noProof="0">
                    <a:ln>
                      <a:noFill/>
                    </a:ln>
                    <a:solidFill>
                      <a:srgbClr val="B23A22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3 ثوانٍ</a:t>
                </a:r>
                <a:endParaRPr kumimoji="0" sz="1100" b="1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150"/>
                  </a:spcBef>
                  <a:spcAft>
                    <a:spcPts val="15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950" b="1" i="0" u="none" strike="noStrike" kern="0" cap="none" spc="0" normalizeH="0" baseline="0" noProof="0">
                    <a:ln>
                      <a:noFill/>
                    </a:ln>
                    <a:solidFill>
                      <a:srgbClr val="B23A22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تحويل آلي كامل لاستمارة التوثيق</a:t>
                </a:r>
                <a:endParaRPr kumimoji="0" sz="950" b="1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</p:grpSp>
        <p:pic>
          <p:nvPicPr>
            <p:cNvPr id="238" name="Google Shape;238;p19"/>
            <p:cNvPicPr preferRelativeResize="0"/>
            <p:nvPr/>
          </p:nvPicPr>
          <p:blipFill rotWithShape="1">
            <a:blip r:embed="rId5">
              <a:alphaModFix/>
            </a:blip>
            <a:srcRect l="30" r="30"/>
            <a:stretch/>
          </p:blipFill>
          <p:spPr>
            <a:xfrm>
              <a:off x="1133475" y="1238250"/>
              <a:ext cx="114300" cy="247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9" name="Google Shape;239;p19"/>
            <p:cNvGrpSpPr/>
            <p:nvPr/>
          </p:nvGrpSpPr>
          <p:grpSpPr>
            <a:xfrm>
              <a:off x="0" y="1524000"/>
              <a:ext cx="2381400" cy="1714500"/>
              <a:chOff x="0" y="0"/>
              <a:chExt cx="2381400" cy="1714500"/>
            </a:xfrm>
          </p:grpSpPr>
          <p:sp>
            <p:nvSpPr>
              <p:cNvPr id="240" name="Google Shape;240;p19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name="adj" fmla="val 5554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9"/>
              <p:cNvSpPr/>
              <p:nvPr/>
            </p:nvSpPr>
            <p:spPr>
              <a:xfrm>
                <a:off x="0" y="0"/>
                <a:ext cx="23814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9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B23A22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الاستخراج التلقائي</a:t>
                </a:r>
                <a:endParaRPr kumimoji="0" sz="12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تحديد خوارزمي شامل للسمات الأساسية دون تدخل بشري:</a:t>
                </a:r>
                <a:endParaRPr kumimoji="0" sz="10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• المادة الخام والملمس</a:t>
                </a:r>
                <a:endParaRPr kumimoji="0" sz="95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225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• تقنية التصنيع والزخرفة</a:t>
                </a:r>
                <a:endParaRPr kumimoji="0" sz="95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225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• العصر التقديري والتأريخ</a:t>
                </a:r>
                <a:endParaRPr kumimoji="0" sz="95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225"/>
                  </a:spcBef>
                  <a:spcAft>
                    <a:spcPts val="45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• حالة الحفظ والسلامة</a:t>
                </a:r>
                <a:endParaRPr kumimoji="0" sz="95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</p:grpSp>
      </p:grpSp>
      <p:pic>
        <p:nvPicPr>
          <p:cNvPr id="243" name="Google Shape;243;p19"/>
          <p:cNvPicPr preferRelativeResize="0"/>
          <p:nvPr/>
        </p:nvPicPr>
        <p:blipFill rotWithShape="1">
          <a:blip r:embed="rId4">
            <a:alphaModFix/>
          </a:blip>
          <a:srcRect t="20" b="10"/>
          <a:stretch/>
        </p:blipFill>
        <p:spPr>
          <a:xfrm>
            <a:off x="2852738" y="2895600"/>
            <a:ext cx="4383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" name="Google Shape;244;p19"/>
          <p:cNvGrpSpPr/>
          <p:nvPr/>
        </p:nvGrpSpPr>
        <p:grpSpPr>
          <a:xfrm>
            <a:off x="381000" y="1333500"/>
            <a:ext cx="2381400" cy="3238500"/>
            <a:chOff x="0" y="0"/>
            <a:chExt cx="2381400" cy="3238500"/>
          </a:xfrm>
        </p:grpSpPr>
        <p:sp>
          <p:nvSpPr>
            <p:cNvPr id="245" name="Google Shape;245;p19"/>
            <p:cNvSpPr/>
            <p:nvPr/>
          </p:nvSpPr>
          <p:spPr>
            <a:xfrm>
              <a:off x="0" y="0"/>
              <a:ext cx="2381400" cy="3238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0" y="0"/>
              <a:ext cx="2381400" cy="381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9"/>
            <p:cNvSpPr txBox="1"/>
            <p:nvPr/>
          </p:nvSpPr>
          <p:spPr>
            <a:xfrm>
              <a:off x="142875" y="142875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بطاقة البيانات المعيارية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grpSp>
          <p:nvGrpSpPr>
            <p:cNvPr id="248" name="Google Shape;248;p19"/>
            <p:cNvGrpSpPr/>
            <p:nvPr/>
          </p:nvGrpSpPr>
          <p:grpSpPr>
            <a:xfrm>
              <a:off x="138113" y="452438"/>
              <a:ext cx="2105100" cy="2009700"/>
              <a:chOff x="-4762" y="-4762"/>
              <a:chExt cx="2105100" cy="2009700"/>
            </a:xfrm>
          </p:grpSpPr>
          <p:pic>
            <p:nvPicPr>
              <p:cNvPr id="249" name="Google Shape;249;p1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-4762" y="-4762"/>
                <a:ext cx="2105100" cy="20097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50" name="Google Shape;250;p19"/>
              <p:cNvGrpSpPr/>
              <p:nvPr/>
            </p:nvGrpSpPr>
            <p:grpSpPr>
              <a:xfrm>
                <a:off x="95250" y="238125"/>
                <a:ext cx="1905000" cy="1409850"/>
                <a:chOff x="0" y="142875"/>
                <a:chExt cx="1905000" cy="1409850"/>
              </a:xfrm>
            </p:grpSpPr>
            <p:sp>
              <p:nvSpPr>
                <p:cNvPr id="251" name="Google Shape;251;p19"/>
                <p:cNvSpPr/>
                <p:nvPr/>
              </p:nvSpPr>
              <p:spPr>
                <a:xfrm>
                  <a:off x="0" y="142875"/>
                  <a:ext cx="1905000" cy="209700"/>
                </a:xfrm>
                <a:prstGeom prst="roundRect">
                  <a:avLst>
                    <a:gd name="adj" fmla="val 13636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19"/>
                <p:cNvSpPr txBox="1"/>
                <p:nvPr/>
              </p:nvSpPr>
              <p:spPr>
                <a:xfrm>
                  <a:off x="47625" y="161925"/>
                  <a:ext cx="18096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F172A"/>
                      </a:solidFill>
                      <a:effectLst/>
                      <a:uLnTx/>
                      <a:uFillTx/>
                      <a:latin typeface="Tajawal"/>
                      <a:ea typeface="Tajawal"/>
                      <a:cs typeface="Tajawal"/>
                      <a:sym typeface="Tajawal"/>
                    </a:rPr>
                    <a:t>فخار ناعم (Terracotta)</a:t>
                  </a:r>
                  <a:endParaRPr kumimoji="0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F172A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endParaRPr>
                </a:p>
              </p:txBody>
            </p:sp>
            <p:grpSp>
              <p:nvGrpSpPr>
                <p:cNvPr id="253" name="Google Shape;253;p19"/>
                <p:cNvGrpSpPr/>
                <p:nvPr/>
              </p:nvGrpSpPr>
              <p:grpSpPr>
                <a:xfrm>
                  <a:off x="0" y="542925"/>
                  <a:ext cx="1905000" cy="209700"/>
                  <a:chOff x="0" y="142875"/>
                  <a:chExt cx="1905000" cy="209700"/>
                </a:xfrm>
              </p:grpSpPr>
              <p:sp>
                <p:nvSpPr>
                  <p:cNvPr id="254" name="Google Shape;254;p19"/>
                  <p:cNvSpPr/>
                  <p:nvPr/>
                </p:nvSpPr>
                <p:spPr>
                  <a:xfrm>
                    <a:off x="0" y="142875"/>
                    <a:ext cx="1905000" cy="209700"/>
                  </a:xfrm>
                  <a:prstGeom prst="roundRect">
                    <a:avLst>
                      <a:gd name="adj" fmla="val 13636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" name="Google Shape;255;p19"/>
                  <p:cNvSpPr txBox="1"/>
                  <p:nvPr/>
                </p:nvSpPr>
                <p:spPr>
                  <a:xfrm>
                    <a:off x="47625" y="161925"/>
                    <a:ext cx="18096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marR="0" lvl="0" indent="0" algn="r" defTabSz="914400" rtl="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F172A"/>
                        </a:solidFill>
                        <a:effectLst/>
                        <a:uLnTx/>
                        <a:uFillTx/>
                        <a:latin typeface="Tajawal"/>
                        <a:ea typeface="Tajawal"/>
                        <a:cs typeface="Tajawal"/>
                        <a:sym typeface="Tajawal"/>
                      </a:rPr>
                      <a:t>عجلة الفخار / دولاب سريع</a:t>
                    </a:r>
                    <a:endParaRPr kumimoji="0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F172A"/>
                      </a:solidFill>
                      <a:effectLst/>
                      <a:uLnTx/>
                      <a:uFillTx/>
                      <a:latin typeface="Tajawal"/>
                      <a:ea typeface="Tajawal"/>
                      <a:cs typeface="Tajawal"/>
                      <a:sym typeface="Tajawal"/>
                    </a:endParaRPr>
                  </a:p>
                </p:txBody>
              </p:sp>
            </p:grpSp>
            <p:grpSp>
              <p:nvGrpSpPr>
                <p:cNvPr id="256" name="Google Shape;256;p19"/>
                <p:cNvGrpSpPr/>
                <p:nvPr/>
              </p:nvGrpSpPr>
              <p:grpSpPr>
                <a:xfrm>
                  <a:off x="0" y="942975"/>
                  <a:ext cx="1905000" cy="209700"/>
                  <a:chOff x="0" y="142875"/>
                  <a:chExt cx="1905000" cy="209700"/>
                </a:xfrm>
              </p:grpSpPr>
              <p:sp>
                <p:nvSpPr>
                  <p:cNvPr id="257" name="Google Shape;257;p19"/>
                  <p:cNvSpPr/>
                  <p:nvPr/>
                </p:nvSpPr>
                <p:spPr>
                  <a:xfrm>
                    <a:off x="0" y="142875"/>
                    <a:ext cx="1905000" cy="209700"/>
                  </a:xfrm>
                  <a:prstGeom prst="roundRect">
                    <a:avLst>
                      <a:gd name="adj" fmla="val 13636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" name="Google Shape;258;p19"/>
                  <p:cNvSpPr txBox="1"/>
                  <p:nvPr/>
                </p:nvSpPr>
                <p:spPr>
                  <a:xfrm>
                    <a:off x="47625" y="161925"/>
                    <a:ext cx="18096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marR="0" lvl="0" indent="0" algn="r" defTabSz="914400" rtl="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F172A"/>
                        </a:solidFill>
                        <a:effectLst/>
                        <a:uLnTx/>
                        <a:uFillTx/>
                        <a:latin typeface="Tajawal"/>
                        <a:ea typeface="Tajawal"/>
                        <a:cs typeface="Tajawal"/>
                        <a:sym typeface="Tajawal"/>
                      </a:rPr>
                      <a:t>العصر الحديدي II (1000 - 600 ق.م)</a:t>
                    </a:r>
                    <a:endParaRPr kumimoji="0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F172A"/>
                      </a:solidFill>
                      <a:effectLst/>
                      <a:uLnTx/>
                      <a:uFillTx/>
                      <a:latin typeface="Tajawal"/>
                      <a:ea typeface="Tajawal"/>
                      <a:cs typeface="Tajawal"/>
                      <a:sym typeface="Tajawal"/>
                    </a:endParaRPr>
                  </a:p>
                </p:txBody>
              </p:sp>
            </p:grpSp>
            <p:grpSp>
              <p:nvGrpSpPr>
                <p:cNvPr id="259" name="Google Shape;259;p19"/>
                <p:cNvGrpSpPr/>
                <p:nvPr/>
              </p:nvGrpSpPr>
              <p:grpSpPr>
                <a:xfrm>
                  <a:off x="0" y="1343025"/>
                  <a:ext cx="1905000" cy="209700"/>
                  <a:chOff x="0" y="142875"/>
                  <a:chExt cx="1905000" cy="209700"/>
                </a:xfrm>
              </p:grpSpPr>
              <p:sp>
                <p:nvSpPr>
                  <p:cNvPr id="260" name="Google Shape;260;p19"/>
                  <p:cNvSpPr/>
                  <p:nvPr/>
                </p:nvSpPr>
                <p:spPr>
                  <a:xfrm>
                    <a:off x="0" y="142875"/>
                    <a:ext cx="1905000" cy="209700"/>
                  </a:xfrm>
                  <a:prstGeom prst="roundRect">
                    <a:avLst>
                      <a:gd name="adj" fmla="val 13636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no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19"/>
                  <p:cNvSpPr txBox="1"/>
                  <p:nvPr/>
                </p:nvSpPr>
                <p:spPr>
                  <a:xfrm>
                    <a:off x="47625" y="161925"/>
                    <a:ext cx="18096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marR="0" lvl="0" indent="0" algn="r" defTabSz="914400" rtl="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F172A"/>
                        </a:solidFill>
                        <a:effectLst/>
                        <a:uLnTx/>
                        <a:uFillTx/>
                        <a:latin typeface="Tajawal"/>
                        <a:ea typeface="Tajawal"/>
                        <a:cs typeface="Tajawal"/>
                        <a:sym typeface="Tajawal"/>
                      </a:rPr>
                      <a:t>جيدة (مستقرة / ترميم جزئي)</a:t>
                    </a:r>
                    <a:endParaRPr kumimoji="0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F172A"/>
                      </a:solidFill>
                      <a:effectLst/>
                      <a:uLnTx/>
                      <a:uFillTx/>
                      <a:latin typeface="Tajawal"/>
                      <a:ea typeface="Tajawal"/>
                      <a:cs typeface="Tajawal"/>
                      <a:sym typeface="Tajawal"/>
                    </a:endParaRPr>
                  </a:p>
                </p:txBody>
              </p:sp>
            </p:grpSp>
          </p:grpSp>
        </p:grpSp>
        <p:grpSp>
          <p:nvGrpSpPr>
            <p:cNvPr id="262" name="Google Shape;262;p19"/>
            <p:cNvGrpSpPr/>
            <p:nvPr/>
          </p:nvGrpSpPr>
          <p:grpSpPr>
            <a:xfrm>
              <a:off x="142875" y="2552700"/>
              <a:ext cx="2095500" cy="552600"/>
              <a:chOff x="0" y="0"/>
              <a:chExt cx="2095500" cy="552600"/>
            </a:xfrm>
          </p:grpSpPr>
          <p:sp>
            <p:nvSpPr>
              <p:cNvPr id="263" name="Google Shape;263;p19"/>
              <p:cNvSpPr/>
              <p:nvPr/>
            </p:nvSpPr>
            <p:spPr>
              <a:xfrm>
                <a:off x="0" y="0"/>
                <a:ext cx="2095500" cy="552600"/>
              </a:xfrm>
              <a:prstGeom prst="roundRect">
                <a:avLst>
                  <a:gd name="adj" fmla="val 10344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9"/>
              <p:cNvSpPr txBox="1"/>
              <p:nvPr/>
            </p:nvSpPr>
            <p:spPr>
              <a:xfrm>
                <a:off x="95250" y="47625"/>
                <a:ext cx="1905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950" b="1" i="0" u="none" strike="noStrike" kern="0" cap="none" spc="0" normalizeH="0" baseline="0" noProof="0">
                    <a:ln>
                      <a:noFill/>
                    </a:ln>
                    <a:solidFill>
                      <a:srgbClr val="D4A373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التوافق العالمي:</a:t>
                </a:r>
                <a:endParaRPr kumimoji="0" sz="95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850" b="0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متوافق بالكامل مع معايير CIDOC-CRM للمتاحف العالمية لتحقيق التشغيل البيني.</a:t>
                </a:r>
                <a:endParaRPr kumimoji="0" sz="850" b="0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265" name="Google Shape;265;p19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0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71" name="Google Shape;271;p20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72" name="Google Shape;272;p20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20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20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5" name="Google Shape;275;p20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76" name="Google Shape;276;p20"/>
          <p:cNvGrpSpPr/>
          <p:nvPr/>
        </p:nvGrpSpPr>
        <p:grpSpPr>
          <a:xfrm>
            <a:off x="381000" y="571500"/>
            <a:ext cx="8382000" cy="495300"/>
            <a:chOff x="0" y="0"/>
            <a:chExt cx="8382000" cy="495300"/>
          </a:xfrm>
        </p:grpSpPr>
        <p:sp>
          <p:nvSpPr>
            <p:cNvPr id="277" name="Google Shape;277;p20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العائد التشغيلي لتطبيقات الذكاء الاصطناعي في الهيئة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20"/>
          <p:cNvGrpSpPr/>
          <p:nvPr/>
        </p:nvGrpSpPr>
        <p:grpSpPr>
          <a:xfrm>
            <a:off x="4714875" y="1428750"/>
            <a:ext cx="4048200" cy="1428900"/>
            <a:chOff x="0" y="0"/>
            <a:chExt cx="4048200" cy="1428900"/>
          </a:xfrm>
        </p:grpSpPr>
        <p:sp>
          <p:nvSpPr>
            <p:cNvPr id="280" name="Google Shape;280;p20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name="adj" fmla="val 666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name="adj" fmla="val 4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0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4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80%</a:t>
              </a:r>
              <a:endParaRPr kumimoji="0" sz="34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توفير في زمن الفهرسة والتوثيق المكتبي للقطع الأثرية.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283" name="Google Shape;283;p20"/>
          <p:cNvGrpSpPr/>
          <p:nvPr/>
        </p:nvGrpSpPr>
        <p:grpSpPr>
          <a:xfrm>
            <a:off x="381000" y="1428750"/>
            <a:ext cx="4048200" cy="1428900"/>
            <a:chOff x="0" y="0"/>
            <a:chExt cx="4048200" cy="1428900"/>
          </a:xfrm>
        </p:grpSpPr>
        <p:sp>
          <p:nvSpPr>
            <p:cNvPr id="284" name="Google Shape;284;p20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name="adj" fmla="val 666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name="adj" fmla="val 4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0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4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0.1 ملم</a:t>
              </a:r>
              <a:endParaRPr kumimoji="0" sz="34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دقة مطابقة السمات المورفولوجية الدقيقة للقى والمسكوكات.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287" name="Google Shape;287;p20"/>
          <p:cNvGrpSpPr/>
          <p:nvPr/>
        </p:nvGrpSpPr>
        <p:grpSpPr>
          <a:xfrm>
            <a:off x="4714875" y="3095625"/>
            <a:ext cx="4048200" cy="1428900"/>
            <a:chOff x="0" y="0"/>
            <a:chExt cx="4048200" cy="1428900"/>
          </a:xfrm>
        </p:grpSpPr>
        <p:sp>
          <p:nvSpPr>
            <p:cNvPr id="288" name="Google Shape;288;p20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name="adj" fmla="val 666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name="adj" fmla="val 4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0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4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100%</a:t>
              </a:r>
              <a:endParaRPr kumimoji="0" sz="34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قابلية ربط مقتنيات متاحف الشارقة بالسجل الأثري الوطني بشكل سلس.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291" name="Google Shape;291;p20"/>
          <p:cNvGrpSpPr/>
          <p:nvPr/>
        </p:nvGrpSpPr>
        <p:grpSpPr>
          <a:xfrm>
            <a:off x="381000" y="3095625"/>
            <a:ext cx="4048200" cy="1428900"/>
            <a:chOff x="0" y="0"/>
            <a:chExt cx="4048200" cy="1428900"/>
          </a:xfrm>
        </p:grpSpPr>
        <p:sp>
          <p:nvSpPr>
            <p:cNvPr id="292" name="Google Shape;292;p20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name="adj" fmla="val 666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name="adj" fmla="val 4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0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4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Zero</a:t>
              </a:r>
              <a:endParaRPr kumimoji="0" sz="34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تكرار في إدخال السجلات اليدوية أو ضياع للبيانات الميدانية.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95" name="Google Shape;295;p20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1"/>
          <p:cNvGrpSpPr/>
          <p:nvPr/>
        </p:nvGrpSpPr>
        <p:grpSpPr>
          <a:xfrm>
            <a:off x="381000" y="190500"/>
            <a:ext cx="8553450" cy="342900"/>
            <a:chOff x="381000" y="190500"/>
            <a:chExt cx="8553450" cy="342900"/>
          </a:xfrm>
        </p:grpSpPr>
        <p:grpSp>
          <p:nvGrpSpPr>
            <p:cNvPr id="301" name="Google Shape;301;p21"/>
            <p:cNvGrpSpPr/>
            <p:nvPr/>
          </p:nvGrpSpPr>
          <p:grpSpPr>
            <a:xfrm>
              <a:off x="8591550" y="190500"/>
              <a:ext cx="342900" cy="342900"/>
              <a:chOff x="19050" y="19050"/>
              <a:chExt cx="342900" cy="342900"/>
            </a:xfrm>
          </p:grpSpPr>
          <p:sp>
            <p:nvSpPr>
              <p:cNvPr id="302" name="Google Shape;302;p21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21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21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" name="Google Shape;305;p21"/>
            <p:cNvSpPr txBox="1"/>
            <p:nvPr/>
          </p:nvSpPr>
          <p:spPr>
            <a:xfrm>
              <a:off x="381000" y="20955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0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306" name="Google Shape;306;p21"/>
          <p:cNvGrpSpPr/>
          <p:nvPr/>
        </p:nvGrpSpPr>
        <p:grpSpPr>
          <a:xfrm>
            <a:off x="381000" y="495300"/>
            <a:ext cx="8382000" cy="390450"/>
            <a:chOff x="0" y="0"/>
            <a:chExt cx="8382000" cy="390450"/>
          </a:xfrm>
        </p:grpSpPr>
        <p:sp>
          <p:nvSpPr>
            <p:cNvPr id="307" name="Google Shape;307;p21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2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ورشة تطبيقية (10 دقائق): استنطاق قطعة أثرية بالهاتف</a:t>
              </a:r>
              <a:endParaRPr kumimoji="0" sz="2200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7620000" y="361950"/>
              <a:ext cx="762000" cy="285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309" name="Google Shape;309;p21"/>
          <p:cNvPicPr preferRelativeResize="0"/>
          <p:nvPr/>
        </p:nvPicPr>
        <p:blipFill rotWithShape="1">
          <a:blip r:embed="rId3">
            <a:alphaModFix/>
          </a:blip>
          <a:srcRect t="768" b="758"/>
          <a:stretch/>
        </p:blipFill>
        <p:spPr>
          <a:xfrm>
            <a:off x="1666875" y="1133475"/>
            <a:ext cx="58104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21"/>
          <p:cNvGrpSpPr/>
          <p:nvPr/>
        </p:nvGrpSpPr>
        <p:grpSpPr>
          <a:xfrm>
            <a:off x="6191250" y="990600"/>
            <a:ext cx="2571900" cy="1723950"/>
            <a:chOff x="6191250" y="990600"/>
            <a:chExt cx="2571900" cy="1723950"/>
          </a:xfrm>
        </p:grpSpPr>
        <p:sp>
          <p:nvSpPr>
            <p:cNvPr id="311" name="Google Shape;311;p21"/>
            <p:cNvSpPr/>
            <p:nvPr/>
          </p:nvSpPr>
          <p:spPr>
            <a:xfrm>
              <a:off x="6191250" y="1238250"/>
              <a:ext cx="2571900" cy="14763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6191250" y="1238250"/>
              <a:ext cx="2571900" cy="381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7324725" y="990600"/>
              <a:ext cx="304800" cy="304800"/>
            </a:xfrm>
            <a:prstGeom prst="ellipse">
              <a:avLst/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1"/>
            <p:cNvSpPr txBox="1"/>
            <p:nvPr/>
          </p:nvSpPr>
          <p:spPr>
            <a:xfrm>
              <a:off x="7334250" y="1028700"/>
              <a:ext cx="285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1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15" name="Google Shape;315;p21"/>
            <p:cNvSpPr txBox="1"/>
            <p:nvPr/>
          </p:nvSpPr>
          <p:spPr>
            <a:xfrm>
              <a:off x="6343250" y="1381125"/>
              <a:ext cx="22767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1. التقاط أو رفع الصورة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45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التقاط صورة مباشرة أو رفع ملف لمسكوكة أو كسرة فخارية عبر واجهة نموذج الذكاء الاصطناعي المخصص.</a:t>
              </a:r>
              <a:br>
                <a:rPr kumimoji="0" lang="en" sz="10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</a:br>
              <a:endParaRPr kumimoji="0" sz="10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316" name="Google Shape;316;p21"/>
          <p:cNvGrpSpPr/>
          <p:nvPr/>
        </p:nvGrpSpPr>
        <p:grpSpPr>
          <a:xfrm>
            <a:off x="3286125" y="990600"/>
            <a:ext cx="2571900" cy="1723950"/>
            <a:chOff x="3286125" y="990600"/>
            <a:chExt cx="2571900" cy="1723950"/>
          </a:xfrm>
        </p:grpSpPr>
        <p:sp>
          <p:nvSpPr>
            <p:cNvPr id="317" name="Google Shape;317;p21"/>
            <p:cNvSpPr/>
            <p:nvPr/>
          </p:nvSpPr>
          <p:spPr>
            <a:xfrm>
              <a:off x="3286125" y="1238250"/>
              <a:ext cx="2571900" cy="14763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3286125" y="1238250"/>
              <a:ext cx="2571900" cy="381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4419600" y="990600"/>
              <a:ext cx="304800" cy="304800"/>
            </a:xfrm>
            <a:prstGeom prst="ellipse">
              <a:avLst/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1"/>
            <p:cNvSpPr txBox="1"/>
            <p:nvPr/>
          </p:nvSpPr>
          <p:spPr>
            <a:xfrm>
              <a:off x="4429125" y="1028700"/>
              <a:ext cx="285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2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21" name="Google Shape;321;p21"/>
            <p:cNvSpPr txBox="1"/>
            <p:nvPr/>
          </p:nvSpPr>
          <p:spPr>
            <a:xfrm>
              <a:off x="3429000" y="1381125"/>
              <a:ext cx="2286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2. حقن البرومبت الأثري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إدخال الأمر الدقيق:</a:t>
              </a:r>
              <a:endParaRPr kumimoji="0" sz="10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45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950" b="0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highlight>
                    <a:srgbClr val="FDFCF0"/>
                  </a:highlight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«استخرج الميتاداتا، نوع الخط، تقييم التآكل، وبطاقة التوثيق وفق معيار  Dublin Core، قراءة وترجمة حرفية للنص المكتوب»</a:t>
              </a:r>
              <a:endParaRPr kumimoji="0" sz="95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322" name="Google Shape;322;p21"/>
          <p:cNvGrpSpPr/>
          <p:nvPr/>
        </p:nvGrpSpPr>
        <p:grpSpPr>
          <a:xfrm>
            <a:off x="381000" y="990600"/>
            <a:ext cx="2571900" cy="1723950"/>
            <a:chOff x="381000" y="990600"/>
            <a:chExt cx="2571900" cy="1723950"/>
          </a:xfrm>
        </p:grpSpPr>
        <p:sp>
          <p:nvSpPr>
            <p:cNvPr id="323" name="Google Shape;323;p21"/>
            <p:cNvSpPr/>
            <p:nvPr/>
          </p:nvSpPr>
          <p:spPr>
            <a:xfrm>
              <a:off x="381000" y="1238250"/>
              <a:ext cx="2571900" cy="14763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381000" y="1238250"/>
              <a:ext cx="2571900" cy="381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1514475" y="990600"/>
              <a:ext cx="304800" cy="304800"/>
            </a:xfrm>
            <a:prstGeom prst="ellipse">
              <a:avLst/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1"/>
            <p:cNvSpPr txBox="1"/>
            <p:nvPr/>
          </p:nvSpPr>
          <p:spPr>
            <a:xfrm>
              <a:off x="1524000" y="1028700"/>
              <a:ext cx="285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3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27" name="Google Shape;327;p21"/>
            <p:cNvSpPr txBox="1"/>
            <p:nvPr/>
          </p:nvSpPr>
          <p:spPr>
            <a:xfrm>
              <a:off x="523875" y="1381125"/>
              <a:ext cx="2286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3. مراجعة وتقييم الدقة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45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00" b="0" i="0" u="none" strike="noStrike" kern="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مراجعة النتيجة المستخرجة آلياً ومقارنتها بالقراءة الميدانية الدقيقة للباحث الأثري المعتمد لضمان أعلى مستويات الموثوقية.</a:t>
              </a:r>
              <a:endParaRPr kumimoji="0" sz="10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328" name="Google Shape;328;p21"/>
          <p:cNvGrpSpPr/>
          <p:nvPr/>
        </p:nvGrpSpPr>
        <p:grpSpPr>
          <a:xfrm>
            <a:off x="381000" y="3114675"/>
            <a:ext cx="8382150" cy="1552500"/>
            <a:chOff x="381000" y="209550"/>
            <a:chExt cx="8382150" cy="1552500"/>
          </a:xfrm>
        </p:grpSpPr>
        <p:pic>
          <p:nvPicPr>
            <p:cNvPr id="329" name="Google Shape;329;p21"/>
            <p:cNvPicPr preferRelativeResize="0"/>
            <p:nvPr/>
          </p:nvPicPr>
          <p:blipFill rotWithShape="1">
            <a:blip r:embed="rId4">
              <a:alphaModFix/>
            </a:blip>
            <a:srcRect l="348" r="348"/>
            <a:stretch/>
          </p:blipFill>
          <p:spPr>
            <a:xfrm>
              <a:off x="381000" y="209550"/>
              <a:ext cx="2762400" cy="1552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0" name="Google Shape;330;p21"/>
            <p:cNvGrpSpPr/>
            <p:nvPr/>
          </p:nvGrpSpPr>
          <p:grpSpPr>
            <a:xfrm>
              <a:off x="3333750" y="209550"/>
              <a:ext cx="5429400" cy="1552500"/>
              <a:chOff x="3333750" y="209550"/>
              <a:chExt cx="5429400" cy="1552500"/>
            </a:xfrm>
          </p:grpSpPr>
          <p:pic>
            <p:nvPicPr>
              <p:cNvPr id="331" name="Google Shape;331;p21"/>
              <p:cNvPicPr preferRelativeResize="0"/>
              <p:nvPr/>
            </p:nvPicPr>
            <p:blipFill rotWithShape="1">
              <a:blip r:embed="rId5">
                <a:alphaModFix/>
              </a:blip>
              <a:srcRect t="2245" b="2245"/>
              <a:stretch/>
            </p:blipFill>
            <p:spPr>
              <a:xfrm>
                <a:off x="3333750" y="209550"/>
                <a:ext cx="5429400" cy="15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2" name="Google Shape;332;p21"/>
              <p:cNvSpPr/>
              <p:nvPr/>
            </p:nvSpPr>
            <p:spPr>
              <a:xfrm>
                <a:off x="3333750" y="209550"/>
                <a:ext cx="5429400" cy="247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36923"/>
                    </a:moveTo>
                    <a:cubicBezTo>
                      <a:pt x="0" y="16531"/>
                      <a:pt x="843" y="0"/>
                      <a:pt x="1882" y="0"/>
                    </a:cubicBezTo>
                    <a:lnTo>
                      <a:pt x="118118" y="0"/>
                    </a:lnTo>
                    <a:cubicBezTo>
                      <a:pt x="119157" y="4"/>
                      <a:pt x="120000" y="16534"/>
                      <a:pt x="120000" y="3692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7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1"/>
              <p:cNvSpPr/>
              <p:nvPr/>
            </p:nvSpPr>
            <p:spPr>
              <a:xfrm>
                <a:off x="3486150" y="295275"/>
                <a:ext cx="76200" cy="76200"/>
              </a:xfrm>
              <a:prstGeom prst="ellipse">
                <a:avLst/>
              </a:prstGeom>
              <a:solidFill>
                <a:srgbClr val="B23A2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21"/>
              <p:cNvSpPr/>
              <p:nvPr/>
            </p:nvSpPr>
            <p:spPr>
              <a:xfrm>
                <a:off x="3609975" y="295275"/>
                <a:ext cx="76200" cy="76200"/>
              </a:xfrm>
              <a:prstGeom prst="ellipse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21"/>
              <p:cNvSpPr/>
              <p:nvPr/>
            </p:nvSpPr>
            <p:spPr>
              <a:xfrm>
                <a:off x="3733800" y="295275"/>
                <a:ext cx="76200" cy="76200"/>
              </a:xfrm>
              <a:prstGeom prst="ellipse">
                <a:avLst/>
              </a:prstGeom>
              <a:solidFill>
                <a:srgbClr val="4ADE80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1"/>
              <p:cNvSpPr txBox="1"/>
              <p:nvPr/>
            </p:nvSpPr>
            <p:spPr>
              <a:xfrm>
                <a:off x="3905250" y="247650"/>
                <a:ext cx="46674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1" i="0" u="none" strike="noStrike" kern="0" cap="none" spc="0" normalizeH="0" baseline="0" noProof="0">
                    <a:ln>
                      <a:noFill/>
                    </a:ln>
                    <a:solidFill>
                      <a:srgbClr val="D4A373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بطاقة التوثيق والميتاداتا المستخرجة (Dublin Core Standards)</a:t>
                </a:r>
                <a:endParaRPr kumimoji="0" sz="105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337" name="Google Shape;337;p21"/>
              <p:cNvSpPr txBox="1"/>
              <p:nvPr/>
            </p:nvSpPr>
            <p:spPr>
              <a:xfrm>
                <a:off x="4933975" y="523913"/>
                <a:ext cx="37989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kumimoji="0" lang="en" sz="950" b="1" i="0" u="none" strike="noStrike" kern="0" cap="none" spc="0" normalizeH="0" baseline="0" noProof="0">
                    <a:ln>
                      <a:noFill/>
                    </a:ln>
                    <a:solidFill>
                      <a:srgbClr val="D4A37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العنوان (Title):</a:t>
                </a: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 كسرة فخارية أثرية ذات نقوش محفورة</a:t>
                </a:r>
                <a:endParaRPr kumimoji="0" sz="950" b="0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kumimoji="0" lang="en" sz="950" b="1" i="0" u="none" strike="noStrike" kern="0" cap="none" spc="0" normalizeH="0" baseline="0" noProof="0">
                    <a:ln>
                      <a:noFill/>
                    </a:ln>
                    <a:solidFill>
                      <a:srgbClr val="D4A37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نوع الخط والتآكل (Script &amp; Condition):</a:t>
                </a: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 خط كوفي مبكر | نسبة التآكل: 35%</a:t>
                </a:r>
                <a:endParaRPr kumimoji="0" sz="950" b="0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kumimoji="0" lang="en" sz="950" b="1" i="0" u="none" strike="noStrike" kern="0" cap="none" spc="0" normalizeH="0" baseline="0" noProof="0">
                    <a:ln>
                      <a:noFill/>
                    </a:ln>
                    <a:solidFill>
                      <a:srgbClr val="D4A37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عناصر الميتاداتا (Dublin Core):</a:t>
                </a: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 DC.Identifier: SHJ-ARCH-2026 | DC.Material: Terracotta</a:t>
                </a:r>
                <a:endParaRPr kumimoji="0" sz="950" b="0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kumimoji="0" lang="en" sz="950" b="1" i="0" u="none" strike="noStrike" kern="0" cap="none" spc="0" normalizeH="0" baseline="0" noProof="0">
                    <a:ln>
                      <a:noFill/>
                    </a:ln>
                    <a:solidFill>
                      <a:srgbClr val="4ADE8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نتيجة التقييم:</a:t>
                </a:r>
                <a:r>
                  <a:rPr kumimoji="0" lang="en" sz="950" b="0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 تطابق القراءة الآلية مع القراءة الميدانية للباحث بنسبة 96.4%</a:t>
                </a:r>
                <a:endParaRPr kumimoji="0" sz="950" b="0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338" name="Google Shape;338;p21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39" name="Google Shape;339;p21" title="برومت الوصف الأثر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6125" y="2161351"/>
            <a:ext cx="900950" cy="9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1" title="Gemini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1250" y="2113500"/>
            <a:ext cx="948800" cy="9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2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346" name="Google Shape;346;p22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347" name="Google Shape;347;p2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22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D4A3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2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0" name="Google Shape;350;p22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351" name="Google Shape;351;p22"/>
          <p:cNvGrpSpPr/>
          <p:nvPr/>
        </p:nvGrpSpPr>
        <p:grpSpPr>
          <a:xfrm>
            <a:off x="381000" y="590550"/>
            <a:ext cx="8382000" cy="495300"/>
            <a:chOff x="381000" y="590550"/>
            <a:chExt cx="8382000" cy="495300"/>
          </a:xfrm>
        </p:grpSpPr>
        <p:sp>
          <p:nvSpPr>
            <p:cNvPr id="352" name="Google Shape;352;p22"/>
            <p:cNvSpPr txBox="1"/>
            <p:nvPr/>
          </p:nvSpPr>
          <p:spPr>
            <a:xfrm>
              <a:off x="381000" y="590550"/>
              <a:ext cx="8382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035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الخلاصة: الذكاء الاصطناعي المساعد الفائق لعالم الآثار</a:t>
              </a:r>
              <a:endParaRPr kumimoji="0" sz="2035" b="1" i="0" u="none" strike="noStrike" kern="0" cap="none" spc="0" normalizeH="0" baseline="0" noProof="0">
                <a:ln>
                  <a:noFill/>
                </a:ln>
                <a:solidFill>
                  <a:srgbClr val="D4A37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8001000" y="10477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22"/>
          <p:cNvGrpSpPr/>
          <p:nvPr/>
        </p:nvGrpSpPr>
        <p:grpSpPr>
          <a:xfrm>
            <a:off x="381000" y="1238250"/>
            <a:ext cx="8382000" cy="3429000"/>
            <a:chOff x="0" y="0"/>
            <a:chExt cx="8382000" cy="3429000"/>
          </a:xfrm>
        </p:grpSpPr>
        <p:sp>
          <p:nvSpPr>
            <p:cNvPr id="355" name="Google Shape;355;p22"/>
            <p:cNvSpPr/>
            <p:nvPr/>
          </p:nvSpPr>
          <p:spPr>
            <a:xfrm>
              <a:off x="0" y="0"/>
              <a:ext cx="8382000" cy="3429000"/>
            </a:xfrm>
            <a:prstGeom prst="roundRect">
              <a:avLst>
                <a:gd name="adj" fmla="val 3333"/>
              </a:avLst>
            </a:prstGeom>
            <a:solidFill>
              <a:srgbClr val="17223B"/>
            </a:solidFill>
            <a:ln w="14300" cap="flat" cmpd="sng">
              <a:solidFill>
                <a:srgbClr val="D4A3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0" y="0"/>
              <a:ext cx="8382000" cy="47700"/>
            </a:xfrm>
            <a:prstGeom prst="roundRect">
              <a:avLst>
                <a:gd name="adj" fmla="val 40000"/>
              </a:avLst>
            </a:prstGeom>
            <a:solidFill>
              <a:srgbClr val="D4A37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57" name="Google Shape;357;p22"/>
            <p:cNvGrpSpPr/>
            <p:nvPr/>
          </p:nvGrpSpPr>
          <p:grpSpPr>
            <a:xfrm>
              <a:off x="285750" y="238125"/>
              <a:ext cx="7810500" cy="809700"/>
              <a:chOff x="0" y="0"/>
              <a:chExt cx="7810500" cy="809700"/>
            </a:xfrm>
          </p:grpSpPr>
          <p:sp>
            <p:nvSpPr>
              <p:cNvPr id="358" name="Google Shape;358;p22"/>
              <p:cNvSpPr/>
              <p:nvPr/>
            </p:nvSpPr>
            <p:spPr>
              <a:xfrm>
                <a:off x="0" y="0"/>
                <a:ext cx="7810500" cy="809700"/>
              </a:xfrm>
              <a:prstGeom prst="roundRect">
                <a:avLst>
                  <a:gd name="adj" fmla="val 9411"/>
                </a:avLst>
              </a:prstGeom>
              <a:solidFill>
                <a:srgbClr val="0F172A"/>
              </a:solidFill>
              <a:ln w="9525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22"/>
              <p:cNvSpPr/>
              <p:nvPr/>
            </p:nvSpPr>
            <p:spPr>
              <a:xfrm>
                <a:off x="6048375" y="114300"/>
                <a:ext cx="15240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D4A373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22"/>
              <p:cNvSpPr txBox="1"/>
              <p:nvPr/>
            </p:nvSpPr>
            <p:spPr>
              <a:xfrm>
                <a:off x="6048375" y="142875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D4A37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قدرات الذكاء الاصطناعي</a:t>
                </a:r>
                <a:endParaRPr kumimoji="0" sz="1000" b="1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  <p:sp>
            <p:nvSpPr>
              <p:cNvPr id="361" name="Google Shape;361;p22"/>
              <p:cNvSpPr txBox="1"/>
              <p:nvPr/>
            </p:nvSpPr>
            <p:spPr>
              <a:xfrm>
                <a:off x="238125" y="400050"/>
                <a:ext cx="7334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تقدم الخوارزميات ونماذج الذكاء الاصطناعي ترجيحات إحصائية دقيقة وسرعة معالجة فائقة للبيانات الضخمة.</a:t>
                </a:r>
                <a:endPara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362" name="Google Shape;362;p22"/>
            <p:cNvGrpSpPr/>
            <p:nvPr/>
          </p:nvGrpSpPr>
          <p:grpSpPr>
            <a:xfrm>
              <a:off x="285750" y="1190625"/>
              <a:ext cx="7810500" cy="1952700"/>
              <a:chOff x="0" y="0"/>
              <a:chExt cx="7810500" cy="1952700"/>
            </a:xfrm>
          </p:grpSpPr>
          <p:sp>
            <p:nvSpPr>
              <p:cNvPr id="363" name="Google Shape;363;p22"/>
              <p:cNvSpPr/>
              <p:nvPr/>
            </p:nvSpPr>
            <p:spPr>
              <a:xfrm>
                <a:off x="0" y="0"/>
                <a:ext cx="7810500" cy="1952700"/>
              </a:xfrm>
              <a:prstGeom prst="roundRect">
                <a:avLst>
                  <a:gd name="adj" fmla="val 4878"/>
                </a:avLst>
              </a:prstGeom>
              <a:solidFill>
                <a:srgbClr val="0F172A"/>
              </a:solidFill>
              <a:ln w="19050" cap="flat" cmpd="sng">
                <a:solidFill>
                  <a:srgbClr val="B23A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2"/>
              <p:cNvSpPr/>
              <p:nvPr/>
            </p:nvSpPr>
            <p:spPr>
              <a:xfrm>
                <a:off x="5572125" y="142875"/>
                <a:ext cx="20001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2"/>
              <p:cNvSpPr txBox="1"/>
              <p:nvPr/>
            </p:nvSpPr>
            <p:spPr>
              <a:xfrm>
                <a:off x="5572125" y="180975"/>
                <a:ext cx="2000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الرسالة المحورية والمسؤولية</a:t>
                </a:r>
                <a:endParaRPr kumimoji="0" sz="10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366" name="Google Shape;366;p22"/>
              <p:cNvSpPr txBox="1"/>
              <p:nvPr/>
            </p:nvSpPr>
            <p:spPr>
              <a:xfrm>
                <a:off x="285750" y="495300"/>
                <a:ext cx="7239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D4A373"/>
                    </a:solidFill>
                    <a:effectLst/>
                    <a:uLnTx/>
                    <a:uFillTx/>
                    <a:latin typeface="Tajawal Medium"/>
                    <a:ea typeface="Tajawal Medium"/>
                    <a:cs typeface="Tajawal Medium"/>
                    <a:sym typeface="Tajawal Medium"/>
                  </a:rPr>
                  <a:t>ومع ذلك، يظل القرار الأثري النهائي، والتفسير التاريخي العميق، وفهم السياق الثقافي مسؤولية حصرية للباحث البشري.</a:t>
                </a:r>
                <a:endPara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D4A37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endParaRPr>
              </a:p>
            </p:txBody>
          </p:sp>
          <p:grpSp>
            <p:nvGrpSpPr>
              <p:cNvPr id="367" name="Google Shape;367;p22"/>
              <p:cNvGrpSpPr/>
              <p:nvPr/>
            </p:nvGrpSpPr>
            <p:grpSpPr>
              <a:xfrm>
                <a:off x="280988" y="1090613"/>
                <a:ext cx="7248600" cy="628800"/>
                <a:chOff x="-4762" y="-4762"/>
                <a:chExt cx="7248600" cy="628800"/>
              </a:xfrm>
            </p:grpSpPr>
            <p:pic>
              <p:nvPicPr>
                <p:cNvPr id="368" name="Google Shape;368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-4762" y="-4762"/>
                  <a:ext cx="7248600" cy="628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69" name="Google Shape;369;p22"/>
                <p:cNvSpPr txBox="1"/>
                <p:nvPr/>
              </p:nvSpPr>
              <p:spPr>
                <a:xfrm>
                  <a:off x="142875" y="95250"/>
                  <a:ext cx="69534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" sz="15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DFCF0"/>
                      </a:solidFill>
                      <a:effectLst/>
                      <a:uLnTx/>
                      <a:uFillTx/>
                      <a:latin typeface="Cairo"/>
                      <a:ea typeface="Cairo"/>
                      <a:cs typeface="Cairo"/>
                      <a:sym typeface="Cairo"/>
                    </a:rPr>
                    <a:t>"القرار الأثري والتفسير التاريخي يظل مسؤولية الباحث البشري حصراً"</a:t>
                  </a:r>
                  <a:endParaRPr kumimoji="0" sz="1500" b="1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endParaRPr>
                </a:p>
              </p:txBody>
            </p:sp>
          </p:grpSp>
        </p:grpSp>
      </p:grpSp>
      <p:sp>
        <p:nvSpPr>
          <p:cNvPr id="370" name="Google Shape;370;p22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5594011" y="190509"/>
            <a:ext cx="3150641" cy="990667"/>
            <a:chOff x="4191000" y="190500"/>
            <a:chExt cx="4552950" cy="1431600"/>
          </a:xfrm>
        </p:grpSpPr>
        <p:pic>
          <p:nvPicPr>
            <p:cNvPr id="56" name="Google Shape;56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191000" y="190500"/>
              <a:ext cx="3999900" cy="1431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" name="Google Shape;57;p14"/>
            <p:cNvGrpSpPr/>
            <p:nvPr/>
          </p:nvGrpSpPr>
          <p:grpSpPr>
            <a:xfrm>
              <a:off x="8401050" y="400050"/>
              <a:ext cx="342900" cy="342900"/>
              <a:chOff x="19050" y="19050"/>
              <a:chExt cx="342900" cy="34290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3200" cap="flat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3200" cap="flat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F3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666875"/>
            <a:ext cx="3905400" cy="2196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14"/>
          <p:cNvGrpSpPr/>
          <p:nvPr/>
        </p:nvGrpSpPr>
        <p:grpSpPr>
          <a:xfrm>
            <a:off x="4286250" y="1666875"/>
            <a:ext cx="4476900" cy="2038350"/>
            <a:chOff x="0" y="0"/>
            <a:chExt cx="4476900" cy="2038350"/>
          </a:xfrm>
        </p:grpSpPr>
        <p:sp>
          <p:nvSpPr>
            <p:cNvPr id="63" name="Google Shape;63;p14"/>
            <p:cNvSpPr txBox="1"/>
            <p:nvPr/>
          </p:nvSpPr>
          <p:spPr>
            <a:xfrm>
              <a:off x="0" y="0"/>
              <a:ext cx="4476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6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التوثيق الميداني الذكي</a:t>
              </a:r>
              <a:br>
                <a:rPr kumimoji="0" lang="en" sz="26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</a:br>
              <a:r>
                <a:rPr kumimoji="0" lang="en" sz="26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والتوائم الرقمية </a:t>
              </a:r>
              <a:br>
                <a:rPr kumimoji="0" lang="en" sz="26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</a:br>
              <a:r>
                <a:rPr kumimoji="0" lang="en" sz="26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(3D Digital Twins)</a:t>
              </a:r>
              <a:endParaRPr kumimoji="0" sz="26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9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حوسبة الحفريات والتسجيل الميداني المتقدم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714750" y="20002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381000" y="419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هيئة الشارقة للآثار — حكومة الشارقة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5C403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5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71" name="Google Shape;71;p15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15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75" name="Google Shape;75;p15"/>
          <p:cNvGrpSpPr/>
          <p:nvPr/>
        </p:nvGrpSpPr>
        <p:grpSpPr>
          <a:xfrm>
            <a:off x="381000" y="619125"/>
            <a:ext cx="8382000" cy="438150"/>
            <a:chOff x="0" y="0"/>
            <a:chExt cx="8382000" cy="438150"/>
          </a:xfrm>
        </p:grpSpPr>
        <p:sp>
          <p:nvSpPr>
            <p:cNvPr id="76" name="Google Shape;76;p15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2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التوأم الرقمي: حفظ السياق الطبقي وتجميد الزمن الأثري</a:t>
              </a:r>
              <a:endParaRPr kumimoji="0" sz="22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7620000" y="4000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15"/>
          <p:cNvSpPr txBox="1"/>
          <p:nvPr/>
        </p:nvSpPr>
        <p:spPr>
          <a:xfrm>
            <a:off x="381000" y="1162050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تحويل الحفريات غير القابلة للتكرار إلى بيئات تفاعلية ثلاثية الأبعاد تضمن استدامة المعرفة</a:t>
            </a:r>
            <a:endParaRPr kumimoji="0" sz="125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6191250" y="1666875"/>
            <a:ext cx="2571900" cy="2905200"/>
            <a:chOff x="0" y="0"/>
            <a:chExt cx="2571900" cy="2905200"/>
          </a:xfrm>
        </p:grpSpPr>
        <p:sp>
          <p:nvSpPr>
            <p:cNvPr id="80" name="Google Shape;80;p15"/>
            <p:cNvSpPr/>
            <p:nvPr/>
          </p:nvSpPr>
          <p:spPr>
            <a:xfrm>
              <a:off x="0" y="0"/>
              <a:ext cx="2571900" cy="2905200"/>
            </a:xfrm>
            <a:prstGeom prst="roundRect">
              <a:avLst>
                <a:gd name="adj" fmla="val 370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0" y="38100"/>
              <a:ext cx="2571900" cy="428700"/>
            </a:xfrm>
            <a:prstGeom prst="roundRect">
              <a:avLst>
                <a:gd name="adj" fmla="val 22222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0" y="276225"/>
              <a:ext cx="2571900" cy="190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95250" y="11430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طبيعة الحفرية الأثرية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142875" y="590550"/>
              <a:ext cx="2286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• عملية تدميرية بطبيعتها:</a:t>
              </a: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إزالة الطبقات الترابية أثناء التنقيب هي إجراء ينتهي بإزالة الشواهد الفيزيائية نهائياً.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• غير قابلة للتكرار:</a:t>
              </a: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لا يمكن إعادة الموقع إلى حالته الأصليـة أو إعادة إجراء الحفرية في الميدان مرة أخرى.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86" name="Google Shape;86;p15"/>
          <p:cNvSpPr/>
          <p:nvPr/>
        </p:nvSpPr>
        <p:spPr>
          <a:xfrm>
            <a:off x="5934075" y="2990850"/>
            <a:ext cx="162000" cy="114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60000"/>
                </a:moveTo>
                <a:lnTo>
                  <a:pt x="14118" y="60000"/>
                </a:lnTo>
                <a:moveTo>
                  <a:pt x="49412" y="0"/>
                </a:moveTo>
                <a:lnTo>
                  <a:pt x="0" y="60000"/>
                </a:lnTo>
                <a:lnTo>
                  <a:pt x="49412" y="120000"/>
                </a:lnTo>
              </a:path>
            </a:pathLst>
          </a:custGeom>
          <a:solidFill>
            <a:srgbClr val="000000">
              <a:alpha val="0"/>
            </a:srgbClr>
          </a:solidFill>
          <a:ln w="19050" cap="rnd" cmpd="sng">
            <a:solidFill>
              <a:srgbClr val="8B5A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87" name="Google Shape;87;p15"/>
          <p:cNvGrpSpPr/>
          <p:nvPr/>
        </p:nvGrpSpPr>
        <p:grpSpPr>
          <a:xfrm>
            <a:off x="3286125" y="1666875"/>
            <a:ext cx="2571900" cy="2905200"/>
            <a:chOff x="0" y="0"/>
            <a:chExt cx="2571900" cy="2905200"/>
          </a:xfrm>
        </p:grpSpPr>
        <p:sp>
          <p:nvSpPr>
            <p:cNvPr id="88" name="Google Shape;88;p15"/>
            <p:cNvSpPr/>
            <p:nvPr/>
          </p:nvSpPr>
          <p:spPr>
            <a:xfrm>
              <a:off x="0" y="0"/>
              <a:ext cx="2571900" cy="2905200"/>
            </a:xfrm>
            <a:prstGeom prst="roundRect">
              <a:avLst>
                <a:gd name="adj" fmla="val 3703"/>
              </a:avLst>
            </a:prstGeom>
            <a:solidFill>
              <a:srgbClr val="FFFFFF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0" y="0"/>
              <a:ext cx="2571900" cy="428700"/>
            </a:xfrm>
            <a:prstGeom prst="roundRect">
              <a:avLst>
                <a:gd name="adj" fmla="val 22222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0" y="238125"/>
              <a:ext cx="2571900" cy="1905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95250" y="9525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التوأم الرقمي (Digital Twin)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FDFCF0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142875" y="590550"/>
              <a:ext cx="2286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• إعادة تجميد الزمن:</a:t>
              </a: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يمثل الوسيلة العلمية الوحيدة لإيقاف التدهور وحفظ اللحظة التاريخية للموقع.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• حفظ السياق الطبقي:</a:t>
              </a: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توثيق الدلائل والأصل الطبقي (Stratigraphy) بكامل الإحداثيات الحقيقية ثلاثية الأبعاد (3D).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93" name="Google Shape;93;p15"/>
          <p:cNvSpPr/>
          <p:nvPr/>
        </p:nvSpPr>
        <p:spPr>
          <a:xfrm>
            <a:off x="3028950" y="2990850"/>
            <a:ext cx="162000" cy="114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60000"/>
                </a:moveTo>
                <a:lnTo>
                  <a:pt x="14118" y="60000"/>
                </a:lnTo>
                <a:moveTo>
                  <a:pt x="49412" y="0"/>
                </a:moveTo>
                <a:lnTo>
                  <a:pt x="0" y="60000"/>
                </a:lnTo>
                <a:lnTo>
                  <a:pt x="49412" y="120000"/>
                </a:lnTo>
              </a:path>
            </a:pathLst>
          </a:custGeom>
          <a:solidFill>
            <a:srgbClr val="000000">
              <a:alpha val="0"/>
            </a:srgbClr>
          </a:solidFill>
          <a:ln w="19050" cap="rnd" cmpd="sng">
            <a:solidFill>
              <a:srgbClr val="8B5A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94" name="Google Shape;94;p15"/>
          <p:cNvGrpSpPr/>
          <p:nvPr/>
        </p:nvGrpSpPr>
        <p:grpSpPr>
          <a:xfrm>
            <a:off x="381000" y="1666875"/>
            <a:ext cx="2571900" cy="2905200"/>
            <a:chOff x="0" y="0"/>
            <a:chExt cx="2571900" cy="29052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0"/>
              <a:ext cx="2571900" cy="2905200"/>
            </a:xfrm>
            <a:prstGeom prst="roundRect">
              <a:avLst>
                <a:gd name="adj" fmla="val 370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0" y="38100"/>
              <a:ext cx="2571900" cy="428700"/>
            </a:xfrm>
            <a:prstGeom prst="roundRect">
              <a:avLst>
                <a:gd name="adj" fmla="val 22222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0" y="276225"/>
              <a:ext cx="2571900" cy="190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95250" y="11430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التنقيب الافتراضي المستدام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142875" y="590550"/>
              <a:ext cx="2286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• تمكين الأجيال القادمة:</a:t>
              </a: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يتيح للباحثين مستقبلاً إعادة التنقيب الافتراضي وتحليل البيانات بتقنيات جديدة.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• استدامة المعرفة:</a:t>
              </a: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ضمان بقاء المعلومات كاملة ومتاحة للدراسة حتى بعد ردم الموقع أو انتهاء العمل الميداني.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01" name="Google Shape;101;p15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6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07" name="Google Shape;107;p16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381000" y="238125"/>
            <a:ext cx="8001000" cy="285900"/>
            <a:chOff x="0" y="0"/>
            <a:chExt cx="8001000" cy="2859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381000" y="571500"/>
            <a:ext cx="8382000" cy="466725"/>
            <a:chOff x="0" y="0"/>
            <a:chExt cx="8382000" cy="466725"/>
          </a:xfrm>
        </p:grpSpPr>
        <p:sp>
          <p:nvSpPr>
            <p:cNvPr id="114" name="Google Shape;114;p16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تطور تقنيات النمذجة ثلاثية الأبعاد في التوثيق الأثري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7620000" y="42862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381000" y="11430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3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مقارنة تقنية تستعرض مراحل الانتقال والتطور من التصوير المساحي إلى المعالجة الحجمية والرذاذ ثلاثي الأبعاد: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117" name="Google Shape;117;p16"/>
          <p:cNvGrpSpPr/>
          <p:nvPr/>
        </p:nvGrpSpPr>
        <p:grpSpPr>
          <a:xfrm>
            <a:off x="6286500" y="1619250"/>
            <a:ext cx="2476500" cy="3048000"/>
            <a:chOff x="0" y="0"/>
            <a:chExt cx="2476500" cy="30480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name="adj" fmla="val 4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142875" y="171450"/>
              <a:ext cx="2190900" cy="19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9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المرحلة 01 • التصوير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التصوير المساحي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 SemiBold"/>
                  <a:ea typeface="Cairo SemiBold"/>
                  <a:cs typeface="Cairo SemiBold"/>
                  <a:sym typeface="Cairo SemiBold"/>
                </a:rPr>
                <a:t>(Photogrammetry)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يعتمد على مئات الصور المتداخلة. يتميز بالدقة العالية، ولكنه بطيء ومعقد ويتأثر بظروف الإضاءة وانعكاس شمس الصحراء.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142875" y="2219325"/>
              <a:ext cx="2190900" cy="6669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142875" y="2266061"/>
              <a:ext cx="2190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2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camera_enhance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3333750" y="1619250"/>
            <a:ext cx="2476500" cy="3048000"/>
            <a:chOff x="0" y="0"/>
            <a:chExt cx="2476500" cy="3048000"/>
          </a:xfrm>
        </p:grpSpPr>
        <p:sp>
          <p:nvSpPr>
            <p:cNvPr id="124" name="Google Shape;124;p16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name="adj" fmla="val 4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142875" y="171450"/>
              <a:ext cx="2190900" cy="19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9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المرحلة 02 • التمثيل الحجمي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حقول الإشعاع العصبي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 SemiBold"/>
                  <a:ea typeface="Cairo SemiBold"/>
                  <a:cs typeface="Cairo SemiBold"/>
                  <a:sym typeface="Cairo SemiBold"/>
                </a:rPr>
                <a:t>(NeRF)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تستخدم شبكات عصبية لتمثيل المشهد الحجمي. تتفوق في معالجة الظلال والانعكاسات والإضاءة المعقدة رغم ثقل المعالجة.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142875" y="2219325"/>
              <a:ext cx="2190900" cy="6669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142875" y="2266061"/>
              <a:ext cx="2190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2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model_training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381000" y="1619250"/>
            <a:ext cx="2476500" cy="3048000"/>
            <a:chOff x="0" y="0"/>
            <a:chExt cx="2476500" cy="30480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4615"/>
              </a:avLst>
            </a:prstGeom>
            <a:solidFill>
              <a:srgbClr val="FFFDF8"/>
            </a:solidFill>
            <a:ln w="19050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name="adj" fmla="val 4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142875" y="171450"/>
              <a:ext cx="2190900" cy="19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950" b="1" i="0" u="none" strike="noStrike" kern="0" cap="none" spc="0" normalizeH="0" baseline="0" noProof="0">
                  <a:ln>
                    <a:noFill/>
                  </a:ln>
                  <a:solidFill>
                    <a:srgbClr val="B38F1D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المرحلة 03 • طفرة 2026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رذاذ غاوس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B38F1D"/>
                  </a:solidFill>
                  <a:effectLst/>
                  <a:uLnTx/>
                  <a:uFillTx/>
                  <a:latin typeface="Cairo SemiBold"/>
                  <a:ea typeface="Cairo SemiBold"/>
                  <a:cs typeface="Cairo SemiBold"/>
                  <a:sym typeface="Cairo SemiBold"/>
                </a:rPr>
                <a:t>(3D Gaussian Splatting)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B38F1D"/>
                </a:solidFill>
                <a:effectLst/>
                <a:uLnTx/>
                <a:uFillTx/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طفرة عام 2026؛ توفر معالجة شبه فورية وسرعة عرض فائقة (60 إطاراً/ثانية) مباشرة عبر الأجهزة اللوحية الميدانية.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142875" y="2219325"/>
              <a:ext cx="2190900" cy="666900"/>
            </a:xfrm>
            <a:prstGeom prst="rect">
              <a:avLst/>
            </a:prstGeom>
            <a:solidFill>
              <a:srgbClr val="D4AF37">
                <a:alpha val="1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142875" y="2266061"/>
              <a:ext cx="2190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2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view_in_ar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35" name="Google Shape;135;p16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36" name="Google Shape;136;p16"/>
          <p:cNvGrpSpPr/>
          <p:nvPr/>
        </p:nvGrpSpPr>
        <p:grpSpPr>
          <a:xfrm>
            <a:off x="5867400" y="2819400"/>
            <a:ext cx="266700" cy="266700"/>
            <a:chOff x="5867400" y="2819400"/>
            <a:chExt cx="266700" cy="266700"/>
          </a:xfrm>
        </p:grpSpPr>
        <p:sp>
          <p:nvSpPr>
            <p:cNvPr id="137" name="Google Shape;137;p16"/>
            <p:cNvSpPr/>
            <p:nvPr/>
          </p:nvSpPr>
          <p:spPr>
            <a:xfrm>
              <a:off x="5867400" y="2819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5943600" y="2914650"/>
              <a:ext cx="954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60000"/>
                  </a:lnTo>
                  <a:moveTo>
                    <a:pt x="48000" y="0"/>
                  </a:moveTo>
                  <a:lnTo>
                    <a:pt x="0" y="60000"/>
                  </a:lnTo>
                  <a:lnTo>
                    <a:pt x="4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16"/>
          <p:cNvGrpSpPr/>
          <p:nvPr/>
        </p:nvGrpSpPr>
        <p:grpSpPr>
          <a:xfrm>
            <a:off x="2914650" y="2819400"/>
            <a:ext cx="266700" cy="266700"/>
            <a:chOff x="2914650" y="2819400"/>
            <a:chExt cx="266700" cy="266700"/>
          </a:xfrm>
        </p:grpSpPr>
        <p:sp>
          <p:nvSpPr>
            <p:cNvPr id="140" name="Google Shape;140;p16"/>
            <p:cNvSpPr/>
            <p:nvPr/>
          </p:nvSpPr>
          <p:spPr>
            <a:xfrm>
              <a:off x="2914650" y="2819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4300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2990850" y="2914650"/>
              <a:ext cx="954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60000"/>
                  </a:lnTo>
                  <a:moveTo>
                    <a:pt x="48000" y="0"/>
                  </a:moveTo>
                  <a:lnTo>
                    <a:pt x="0" y="60000"/>
                  </a:lnTo>
                  <a:lnTo>
                    <a:pt x="4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C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47" name="Google Shape;147;p17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48" name="Google Shape;148;p17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17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381000" y="552450"/>
            <a:ext cx="83820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1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التحول الرقمي في أتمتة التسجيل الميداني</a:t>
            </a:r>
            <a:endParaRPr kumimoji="0" sz="2100" b="1" i="0" u="none" strike="noStrike" kern="0" cap="none" spc="0" normalizeH="0" baseline="0" noProof="0">
              <a:ln>
                <a:noFill/>
              </a:ln>
              <a:solidFill>
                <a:srgbClr val="5C403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الانتقال من الدفاتر الورقية إلى قواعد بيانات حية وذكية لرفع كفاءة التوثيق الأثري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8001000" y="9144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54" name="Google Shape;154;p17"/>
          <p:cNvGrpSpPr/>
          <p:nvPr/>
        </p:nvGrpSpPr>
        <p:grpSpPr>
          <a:xfrm>
            <a:off x="381000" y="1381125"/>
            <a:ext cx="8382000" cy="1000200"/>
            <a:chOff x="0" y="0"/>
            <a:chExt cx="8382000" cy="1000200"/>
          </a:xfrm>
        </p:grpSpPr>
        <p:sp>
          <p:nvSpPr>
            <p:cNvPr id="155" name="Google Shape;155;p17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0" y="0"/>
              <a:ext cx="838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7772400" y="266700"/>
              <a:ext cx="419100" cy="419100"/>
            </a:xfrm>
            <a:prstGeom prst="roundRect">
              <a:avLst>
                <a:gd name="adj" fmla="val 1363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7943850" y="390525"/>
              <a:ext cx="76200" cy="133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cubicBezTo>
                    <a:pt x="93000" y="0"/>
                    <a:pt x="120000" y="15429"/>
                    <a:pt x="120000" y="34286"/>
                  </a:cubicBezTo>
                  <a:lnTo>
                    <a:pt x="120000" y="85714"/>
                  </a:lnTo>
                  <a:cubicBezTo>
                    <a:pt x="120000" y="104571"/>
                    <a:pt x="93000" y="120000"/>
                    <a:pt x="60000" y="120000"/>
                  </a:cubicBezTo>
                  <a:cubicBezTo>
                    <a:pt x="27000" y="120000"/>
                    <a:pt x="0" y="104571"/>
                    <a:pt x="0" y="85714"/>
                  </a:cubicBezTo>
                  <a:lnTo>
                    <a:pt x="0" y="34286"/>
                  </a:lnTo>
                  <a:cubicBezTo>
                    <a:pt x="0" y="15429"/>
                    <a:pt x="27000" y="0"/>
                    <a:pt x="60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7905750" y="476250"/>
              <a:ext cx="1524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cubicBezTo>
                    <a:pt x="0" y="66000"/>
                    <a:pt x="27000" y="120000"/>
                    <a:pt x="60000" y="120000"/>
                  </a:cubicBezTo>
                  <a:cubicBezTo>
                    <a:pt x="93000" y="120000"/>
                    <a:pt x="120000" y="66000"/>
                    <a:pt x="120000" y="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7943850" y="552450"/>
              <a:ext cx="76200" cy="47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285750" y="171450"/>
              <a:ext cx="7296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تحويل الملاحظات الصوتية إلى بطاقات سياق رقمية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تحويل التسجيل الصوتي لملاحظات المنقب آلياً إلى بطاقات سياق طبقي رقمية (Context Sheets) مصنفة بدقة عالية، مما يضمن التوثيق الفوري والتخلص من الدفاتر الورقية Traditional Notebooks.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62" name="Google Shape;162;p17"/>
          <p:cNvGrpSpPr/>
          <p:nvPr/>
        </p:nvGrpSpPr>
        <p:grpSpPr>
          <a:xfrm>
            <a:off x="381000" y="2524125"/>
            <a:ext cx="8382000" cy="1000200"/>
            <a:chOff x="0" y="0"/>
            <a:chExt cx="8382000" cy="1000200"/>
          </a:xfrm>
        </p:grpSpPr>
        <p:sp>
          <p:nvSpPr>
            <p:cNvPr id="163" name="Google Shape;163;p17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0" y="0"/>
              <a:ext cx="838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7772400" y="266700"/>
              <a:ext cx="419100" cy="419100"/>
            </a:xfrm>
            <a:prstGeom prst="roundRect">
              <a:avLst>
                <a:gd name="adj" fmla="val 1363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7877175" y="371475"/>
              <a:ext cx="209700" cy="2097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7929563" y="414338"/>
              <a:ext cx="28500" cy="28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7996238" y="404813"/>
              <a:ext cx="28500" cy="285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8015288" y="461963"/>
              <a:ext cx="28500" cy="28500"/>
            </a:xfrm>
            <a:prstGeom prst="ellipse">
              <a:avLst/>
            </a:prstGeom>
            <a:solidFill>
              <a:srgbClr val="5C403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285750" y="171450"/>
              <a:ext cx="7296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التحديد التلقائي لألوان التربة (Munsell Soil Color)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تطبيق خوارزميات تصحيح توازن البياض الكاميرية لمعايرة الصور رقمياً، والتحديد التلقائي الدقيق لرموز الألوان القياسية للتربة وفق نظام Munsell العالمي دون تدخل بشري تقديري.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71" name="Google Shape;171;p17"/>
          <p:cNvGrpSpPr/>
          <p:nvPr/>
        </p:nvGrpSpPr>
        <p:grpSpPr>
          <a:xfrm>
            <a:off x="381000" y="3667125"/>
            <a:ext cx="8382000" cy="1000200"/>
            <a:chOff x="0" y="0"/>
            <a:chExt cx="8382000" cy="1000200"/>
          </a:xfrm>
        </p:grpSpPr>
        <p:sp>
          <p:nvSpPr>
            <p:cNvPr id="172" name="Google Shape;172;p17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430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0" y="0"/>
              <a:ext cx="83820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72400" y="266700"/>
              <a:ext cx="419100" cy="419100"/>
            </a:xfrm>
            <a:prstGeom prst="roundRect">
              <a:avLst>
                <a:gd name="adj" fmla="val 1363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877175" y="371475"/>
              <a:ext cx="180900" cy="123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25263" y="120000"/>
                  </a:moveTo>
                  <a:cubicBezTo>
                    <a:pt x="12632" y="120000"/>
                    <a:pt x="0" y="101538"/>
                    <a:pt x="0" y="78462"/>
                  </a:cubicBezTo>
                  <a:cubicBezTo>
                    <a:pt x="0" y="58154"/>
                    <a:pt x="10105" y="41538"/>
                    <a:pt x="24000" y="37846"/>
                  </a:cubicBezTo>
                  <a:cubicBezTo>
                    <a:pt x="29052" y="15692"/>
                    <a:pt x="42947" y="0"/>
                    <a:pt x="60000" y="0"/>
                  </a:cubicBezTo>
                  <a:cubicBezTo>
                    <a:pt x="79579" y="0"/>
                    <a:pt x="95368" y="20308"/>
                    <a:pt x="99789" y="47077"/>
                  </a:cubicBezTo>
                  <a:cubicBezTo>
                    <a:pt x="111158" y="49846"/>
                    <a:pt x="120000" y="64615"/>
                    <a:pt x="120000" y="83077"/>
                  </a:cubicBezTo>
                  <a:cubicBezTo>
                    <a:pt x="120000" y="103385"/>
                    <a:pt x="108632" y="120000"/>
                    <a:pt x="94737" y="12000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7939088" y="495300"/>
              <a:ext cx="57300" cy="85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80000"/>
                  </a:moveTo>
                  <a:lnTo>
                    <a:pt x="60000" y="120000"/>
                  </a:lnTo>
                  <a:lnTo>
                    <a:pt x="120000" y="8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285750" y="171450"/>
              <a:ext cx="7296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الإحداثيات السنتيمترية والربط السحابي المركزي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ربط كل عينة أو لُقية أثرية بملاحظات وإحداثيات مكانية سنتيمترية فائقة الدقة، ورفعها فورياً للربط بالخوادم السحابية التابعة لهيئة الشارقة للآثار لضمان حفظ البيانات الموحد والآمن.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78" name="Google Shape;178;p17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18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84" name="Google Shape;184;p18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18"/>
          <p:cNvGrpSpPr/>
          <p:nvPr/>
        </p:nvGrpSpPr>
        <p:grpSpPr>
          <a:xfrm>
            <a:off x="381000" y="238125"/>
            <a:ext cx="8001000" cy="285900"/>
            <a:chOff x="0" y="0"/>
            <a:chExt cx="8001000" cy="285900"/>
          </a:xfrm>
        </p:grpSpPr>
        <p:sp>
          <p:nvSpPr>
            <p:cNvPr id="188" name="Google Shape;188;p18"/>
            <p:cNvSpPr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190" name="Google Shape;190;p18"/>
          <p:cNvSpPr txBox="1"/>
          <p:nvPr/>
        </p:nvSpPr>
        <p:spPr>
          <a:xfrm>
            <a:off x="381000" y="523875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0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الرؤية الحاسوبية في رسم ومطابقة القطع الفخارية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5C403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تحويل عملية التوثيق الفخاري التقليدية إلى آلية رقمية فائقة السرعة والدقة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8001000" y="111442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92" name="Google Shape;192;p18"/>
          <p:cNvGrpSpPr/>
          <p:nvPr/>
        </p:nvGrpSpPr>
        <p:grpSpPr>
          <a:xfrm>
            <a:off x="4572000" y="1143000"/>
            <a:ext cx="4191000" cy="1000200"/>
            <a:chOff x="0" y="0"/>
            <a:chExt cx="4191000" cy="10002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4191000" cy="10002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0" y="0"/>
              <a:ext cx="4191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3657600" y="152400"/>
              <a:ext cx="342900" cy="342900"/>
            </a:xfrm>
            <a:prstGeom prst="roundRect">
              <a:avLst>
                <a:gd name="adj" fmla="val 1666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3752850" y="247650"/>
              <a:ext cx="152400" cy="152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3829050" y="285750"/>
              <a:ext cx="28500" cy="38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142875" y="133350"/>
              <a:ext cx="3381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التحدي التقليدي في التوثيق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يعاني الباحثون من استغراق أسابيع طويلة في رسم مقاطع الكسرات الفخارية يدوياً باستخدام المشط والفرجار.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99" name="Google Shape;199;p18"/>
          <p:cNvGrpSpPr/>
          <p:nvPr/>
        </p:nvGrpSpPr>
        <p:grpSpPr>
          <a:xfrm>
            <a:off x="4572000" y="2286000"/>
            <a:ext cx="4191000" cy="1095300"/>
            <a:chOff x="0" y="0"/>
            <a:chExt cx="4191000" cy="1095300"/>
          </a:xfrm>
        </p:grpSpPr>
        <p:sp>
          <p:nvSpPr>
            <p:cNvPr id="200" name="Google Shape;200;p18"/>
            <p:cNvSpPr/>
            <p:nvPr/>
          </p:nvSpPr>
          <p:spPr>
            <a:xfrm>
              <a:off x="0" y="0"/>
              <a:ext cx="4191000" cy="1095300"/>
            </a:xfrm>
            <a:prstGeom prst="roundRect">
              <a:avLst>
                <a:gd name="adj" fmla="val 6956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0" y="0"/>
              <a:ext cx="4191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3657600" y="152400"/>
              <a:ext cx="342900" cy="342900"/>
            </a:xfrm>
            <a:prstGeom prst="roundRect">
              <a:avLst>
                <a:gd name="adj" fmla="val 1666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3762375" y="285750"/>
              <a:ext cx="133500" cy="95400"/>
            </a:xfrm>
            <a:prstGeom prst="roundRect">
              <a:avLst>
                <a:gd name="adj" fmla="val 20000"/>
              </a:avLst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3805238" y="309563"/>
              <a:ext cx="47700" cy="477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142875" y="133350"/>
              <a:ext cx="3381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حلول الرؤية الحاسوبية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التقاط صورة واحدة للكسرة الفخارية لاستخراج المنحنى الهندسي وحساب القطر التقديري للإناء ومطابقته آلياً بأطلس الفخار (مثل مليحة ومويلح).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4572000" y="3524250"/>
            <a:ext cx="4191000" cy="1095300"/>
            <a:chOff x="0" y="0"/>
            <a:chExt cx="4191000" cy="1095300"/>
          </a:xfrm>
        </p:grpSpPr>
        <p:sp>
          <p:nvSpPr>
            <p:cNvPr id="207" name="Google Shape;207;p18"/>
            <p:cNvSpPr/>
            <p:nvPr/>
          </p:nvSpPr>
          <p:spPr>
            <a:xfrm>
              <a:off x="0" y="0"/>
              <a:ext cx="4191000" cy="1095300"/>
            </a:xfrm>
            <a:prstGeom prst="roundRect">
              <a:avLst>
                <a:gd name="adj" fmla="val 6956"/>
              </a:avLst>
            </a:prstGeom>
            <a:solidFill>
              <a:srgbClr val="FFFFFF"/>
            </a:solidFill>
            <a:ln w="1430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0" y="0"/>
              <a:ext cx="41910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3048000" y="142875"/>
              <a:ext cx="1000200" cy="809700"/>
            </a:xfrm>
            <a:prstGeom prst="roundRect">
              <a:avLst>
                <a:gd name="adj" fmla="val 9411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8"/>
            <p:cNvSpPr txBox="1"/>
            <p:nvPr/>
          </p:nvSpPr>
          <p:spPr>
            <a:xfrm>
              <a:off x="3048000" y="142875"/>
              <a:ext cx="10002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8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75%+</a:t>
              </a:r>
              <a:endParaRPr kumimoji="0" sz="28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8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توفير الوقت</a:t>
              </a:r>
              <a:endParaRPr kumimoji="0" sz="8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211" name="Google Shape;211;p18"/>
            <p:cNvSpPr txBox="1"/>
            <p:nvPr/>
          </p:nvSpPr>
          <p:spPr>
            <a:xfrm>
              <a:off x="142875" y="142875"/>
              <a:ext cx="2762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رفع كفاءة العمل الميداني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توفير أكثر من 75% من الوقت المكتبي والميداني المخصص للتوثيق والرسم التحليلي.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12" name="Google Shape;212;p18"/>
          <p:cNvGrpSpPr/>
          <p:nvPr/>
        </p:nvGrpSpPr>
        <p:grpSpPr>
          <a:xfrm>
            <a:off x="381000" y="1143000"/>
            <a:ext cx="3952800" cy="3476700"/>
            <a:chOff x="0" y="0"/>
            <a:chExt cx="3952800" cy="3476700"/>
          </a:xfrm>
        </p:grpSpPr>
        <p:sp>
          <p:nvSpPr>
            <p:cNvPr id="213" name="Google Shape;213;p18"/>
            <p:cNvSpPr/>
            <p:nvPr/>
          </p:nvSpPr>
          <p:spPr>
            <a:xfrm>
              <a:off x="0" y="0"/>
              <a:ext cx="3952800" cy="3476700"/>
            </a:xfrm>
            <a:prstGeom prst="roundRect">
              <a:avLst>
                <a:gd name="adj" fmla="val 2191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0" y="0"/>
              <a:ext cx="39528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215" name="Google Shape;215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4300" y="142875"/>
              <a:ext cx="3724200" cy="279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8"/>
            <p:cNvSpPr/>
            <p:nvPr/>
          </p:nvSpPr>
          <p:spPr>
            <a:xfrm>
              <a:off x="114300" y="2981325"/>
              <a:ext cx="3724200" cy="381000"/>
            </a:xfrm>
            <a:prstGeom prst="roundRect">
              <a:avLst>
                <a:gd name="adj" fmla="val 10000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8"/>
            <p:cNvSpPr txBox="1"/>
            <p:nvPr/>
          </p:nvSpPr>
          <p:spPr>
            <a:xfrm>
              <a:off x="190500" y="2981325"/>
              <a:ext cx="3571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9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رسم مقارن: الكسرة الفخارية الحقيقية (يمين) مقابل المقطع الهندسي المولد بالذكاء الاصطناعي (يسار)</a:t>
              </a:r>
              <a:endParaRPr kumimoji="0" sz="9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218" name="Google Shape;218;p18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19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24" name="Google Shape;224;p19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25" name="Google Shape;225;p19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9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19"/>
            <p:cNvGrpSpPr/>
            <p:nvPr/>
          </p:nvGrpSpPr>
          <p:grpSpPr>
            <a:xfrm>
              <a:off x="381000" y="238125"/>
              <a:ext cx="8001000" cy="285900"/>
              <a:chOff x="0" y="0"/>
              <a:chExt cx="8001000" cy="285900"/>
            </a:xfrm>
          </p:grpSpPr>
          <p:sp>
            <p:nvSpPr>
              <p:cNvPr id="229" name="Google Shape;229;p19"/>
              <p:cNvSpPr/>
              <p:nvPr/>
            </p:nvSpPr>
            <p:spPr>
              <a:xfrm>
                <a:off x="0" y="0"/>
                <a:ext cx="80010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9"/>
              <p:cNvSpPr txBox="1"/>
              <p:nvPr/>
            </p:nvSpPr>
            <p:spPr>
              <a:xfrm>
                <a:off x="0" y="0"/>
                <a:ext cx="8001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Tajawal Medium"/>
                    <a:ea typeface="Tajawal Medium"/>
                    <a:cs typeface="Tajawal Medium"/>
                    <a:sym typeface="Tajawal Medium"/>
                  </a:rPr>
                  <a:t>الذكاء الاصطناعي وتطبيقاته في علم الآثار | هيئة الشارقة للآثار</a:t>
                </a:r>
                <a:endParaRPr kumimoji="0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endParaRPr>
              </a:p>
            </p:txBody>
          </p:sp>
        </p:grpSp>
      </p:grpSp>
      <p:grpSp>
        <p:nvGrpSpPr>
          <p:cNvPr id="231" name="Google Shape;231;p19"/>
          <p:cNvGrpSpPr/>
          <p:nvPr/>
        </p:nvGrpSpPr>
        <p:grpSpPr>
          <a:xfrm>
            <a:off x="381000" y="571500"/>
            <a:ext cx="8382000" cy="714300"/>
            <a:chOff x="0" y="0"/>
            <a:chExt cx="8382000" cy="714300"/>
          </a:xfrm>
        </p:grpSpPr>
        <p:sp>
          <p:nvSpPr>
            <p:cNvPr id="232" name="Google Shape;232;p19"/>
            <p:cNvSpPr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9"/>
            <p:cNvSpPr txBox="1"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 SemiBold"/>
                  <a:ea typeface="Cairo SemiBold"/>
                  <a:cs typeface="Cairo SemiBold"/>
                  <a:sym typeface="Cairo SemiBold"/>
                </a:rPr>
                <a:t>أدوات التوثيق الرقمي والمسح الأثري الميداني</a:t>
              </a:r>
              <a:endParaRPr kumimoji="0" sz="2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45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تطبيقات وتقنيات حديثة تضع دقة النمذجة والمزامنة المباشرة في متناول الآثاري بالميدان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 SemiBold"/>
                <a:ea typeface="Cairo SemiBold"/>
                <a:cs typeface="Cairo SemiBold"/>
                <a:sym typeface="Cairo SemiBold"/>
              </a:endParaRPr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7620000" y="3619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19"/>
          <p:cNvGrpSpPr/>
          <p:nvPr/>
        </p:nvGrpSpPr>
        <p:grpSpPr>
          <a:xfrm>
            <a:off x="4762500" y="1524000"/>
            <a:ext cx="4000500" cy="1428900"/>
            <a:chOff x="0" y="0"/>
            <a:chExt cx="4000500" cy="1428900"/>
          </a:xfrm>
        </p:grpSpPr>
        <p:sp>
          <p:nvSpPr>
            <p:cNvPr id="236" name="Google Shape;236;p19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38" name="Google Shape;238;p19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239" name="Google Shape;239;p19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9"/>
              <p:cNvSpPr/>
              <p:nvPr/>
            </p:nvSpPr>
            <p:spPr>
              <a:xfrm>
                <a:off x="76200" y="114300"/>
                <a:ext cx="190500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" y="0"/>
                    </a:moveTo>
                    <a:lnTo>
                      <a:pt x="36000" y="0"/>
                    </a:lnTo>
                    <a:lnTo>
                      <a:pt x="48000" y="17143"/>
                    </a:lnTo>
                    <a:lnTo>
                      <a:pt x="84000" y="17143"/>
                    </a:lnTo>
                    <a:lnTo>
                      <a:pt x="96000" y="0"/>
                    </a:lnTo>
                    <a:lnTo>
                      <a:pt x="108000" y="0"/>
                    </a:lnTo>
                    <a:cubicBezTo>
                      <a:pt x="114600" y="0"/>
                      <a:pt x="120000" y="7714"/>
                      <a:pt x="120000" y="17143"/>
                    </a:cubicBezTo>
                    <a:lnTo>
                      <a:pt x="120000" y="102857"/>
                    </a:lnTo>
                    <a:cubicBezTo>
                      <a:pt x="120000" y="112286"/>
                      <a:pt x="114600" y="120000"/>
                      <a:pt x="108000" y="120000"/>
                    </a:cubicBezTo>
                    <a:lnTo>
                      <a:pt x="12000" y="120000"/>
                    </a:lnTo>
                    <a:cubicBezTo>
                      <a:pt x="5400" y="120000"/>
                      <a:pt x="0" y="112286"/>
                      <a:pt x="0" y="102857"/>
                    </a:cubicBezTo>
                    <a:lnTo>
                      <a:pt x="0" y="17143"/>
                    </a:lnTo>
                    <a:cubicBezTo>
                      <a:pt x="0" y="7714"/>
                      <a:pt x="5400" y="0"/>
                      <a:pt x="12000" y="0"/>
                    </a:cubicBezTo>
                    <a:close/>
                    <a:moveTo>
                      <a:pt x="60000" y="94286"/>
                    </a:moveTo>
                    <a:cubicBezTo>
                      <a:pt x="73200" y="94286"/>
                      <a:pt x="84000" y="78857"/>
                      <a:pt x="84000" y="60000"/>
                    </a:cubicBezTo>
                    <a:cubicBezTo>
                      <a:pt x="84000" y="41143"/>
                      <a:pt x="73200" y="25714"/>
                      <a:pt x="60000" y="25714"/>
                    </a:cubicBezTo>
                    <a:cubicBezTo>
                      <a:pt x="46800" y="25714"/>
                      <a:pt x="36000" y="41143"/>
                      <a:pt x="36000" y="60000"/>
                    </a:cubicBezTo>
                    <a:cubicBezTo>
                      <a:pt x="36000" y="78857"/>
                      <a:pt x="46800" y="94286"/>
                      <a:pt x="60000" y="9428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71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" name="Google Shape;241;p19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تطبيق Polycam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يُستخدم للمسح السريع في الميدان باستعمال تقنية الليدار (LiDAR) وكاميرا الهاتف، لإنتاج نماذج أثرية ثلاثية الأبعاد بمقاييس هندسية حقيقية.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42" name="Google Shape;242;p19"/>
          <p:cNvGrpSpPr/>
          <p:nvPr/>
        </p:nvGrpSpPr>
        <p:grpSpPr>
          <a:xfrm>
            <a:off x="381000" y="1524000"/>
            <a:ext cx="4000500" cy="1428900"/>
            <a:chOff x="0" y="0"/>
            <a:chExt cx="4000500" cy="1428900"/>
          </a:xfrm>
        </p:grpSpPr>
        <p:sp>
          <p:nvSpPr>
            <p:cNvPr id="243" name="Google Shape;243;p19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45" name="Google Shape;245;p19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246" name="Google Shape;246;p19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95250" y="95250"/>
                <a:ext cx="152400" cy="152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7150" cap="flat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95250" y="123825"/>
                <a:ext cx="1524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cubicBezTo>
                      <a:pt x="0" y="60000"/>
                      <a:pt x="22500" y="120000"/>
                      <a:pt x="60000" y="120000"/>
                    </a:cubicBezTo>
                    <a:cubicBezTo>
                      <a:pt x="97500" y="120000"/>
                      <a:pt x="120000" y="60000"/>
                      <a:pt x="120000" y="60000"/>
                    </a:cubicBezTo>
                    <a:cubicBezTo>
                      <a:pt x="120000" y="60000"/>
                      <a:pt x="97500" y="0"/>
                      <a:pt x="60000" y="0"/>
                    </a:cubicBezTo>
                    <a:cubicBezTo>
                      <a:pt x="22500" y="0"/>
                      <a:pt x="0" y="60000"/>
                      <a:pt x="0" y="6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9" name="Google Shape;249;p19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تطبيق Luma AI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يعمل على تحويل مقاطع الفيديو الملتقطة بزاوية 360 درجة إلى مشاهد تفاعلية عالية الدقة والواقعية باستخدام تقنية Gaussian Splatting (3DGS).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50" name="Google Shape;250;p19"/>
          <p:cNvGrpSpPr/>
          <p:nvPr/>
        </p:nvGrpSpPr>
        <p:grpSpPr>
          <a:xfrm>
            <a:off x="4762500" y="3095625"/>
            <a:ext cx="4000500" cy="1428900"/>
            <a:chOff x="0" y="0"/>
            <a:chExt cx="4000500" cy="1428900"/>
          </a:xfrm>
        </p:grpSpPr>
        <p:sp>
          <p:nvSpPr>
            <p:cNvPr id="251" name="Google Shape;251;p19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53" name="Google Shape;253;p19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254" name="Google Shape;254;p19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85725" y="104775"/>
                <a:ext cx="1716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88000"/>
                    </a:lnTo>
                    <a:lnTo>
                      <a:pt x="0" y="88000"/>
                    </a:lnTo>
                    <a:close/>
                    <a:moveTo>
                      <a:pt x="33333" y="120000"/>
                    </a:moveTo>
                    <a:lnTo>
                      <a:pt x="86667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71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147638" y="133350"/>
                <a:ext cx="47700" cy="47700"/>
              </a:xfrm>
              <a:prstGeom prst="ellipse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7" name="Google Shape;257;p19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برمجية Meshroom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برمجية مفتوحة المصدر مخصصة للتحليل المكتبي، تُستخدم لإجراء المسح التصويري (Photogrammetry) عالي الدقة واستخراج المجسمات التفصيلية.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58" name="Google Shape;258;p19"/>
          <p:cNvGrpSpPr/>
          <p:nvPr/>
        </p:nvGrpSpPr>
        <p:grpSpPr>
          <a:xfrm>
            <a:off x="381000" y="3095625"/>
            <a:ext cx="4000500" cy="1428900"/>
            <a:chOff x="0" y="0"/>
            <a:chExt cx="4000500" cy="1428900"/>
          </a:xfrm>
        </p:grpSpPr>
        <p:sp>
          <p:nvSpPr>
            <p:cNvPr id="259" name="Google Shape;259;p19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19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262" name="Google Shape;262;p19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95250" y="85725"/>
                <a:ext cx="152400" cy="171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cubicBezTo>
                      <a:pt x="27000" y="0"/>
                      <a:pt x="0" y="24000"/>
                      <a:pt x="0" y="53333"/>
                    </a:cubicBezTo>
                    <a:cubicBezTo>
                      <a:pt x="0" y="93333"/>
                      <a:pt x="60000" y="120000"/>
                      <a:pt x="60000" y="120000"/>
                    </a:cubicBezTo>
                    <a:cubicBezTo>
                      <a:pt x="60000" y="120000"/>
                      <a:pt x="120000" y="93333"/>
                      <a:pt x="120000" y="53333"/>
                    </a:cubicBezTo>
                    <a:cubicBezTo>
                      <a:pt x="120000" y="24000"/>
                      <a:pt x="93000" y="0"/>
                      <a:pt x="60000" y="0"/>
                    </a:cubicBezTo>
                    <a:close/>
                    <a:moveTo>
                      <a:pt x="60000" y="70000"/>
                    </a:moveTo>
                    <a:cubicBezTo>
                      <a:pt x="49500" y="70000"/>
                      <a:pt x="41250" y="62667"/>
                      <a:pt x="41250" y="53333"/>
                    </a:cubicBezTo>
                    <a:cubicBezTo>
                      <a:pt x="41250" y="44000"/>
                      <a:pt x="49500" y="36667"/>
                      <a:pt x="60000" y="36667"/>
                    </a:cubicBezTo>
                    <a:cubicBezTo>
                      <a:pt x="70500" y="36667"/>
                      <a:pt x="78750" y="44000"/>
                      <a:pt x="78750" y="53333"/>
                    </a:cubicBezTo>
                    <a:cubicBezTo>
                      <a:pt x="78750" y="62667"/>
                      <a:pt x="70500" y="70000"/>
                      <a:pt x="60000" y="7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71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4" name="Google Shape;264;p19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تطبيق NRASS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يتيح مزامنة البيانات الجغرافية والمسح الميداني بشكل مباشر ومفهوم مع منظومة نظم المعلومات الجغرافية (GIS) المركزية التابعة للهيئة.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265" name="Google Shape;265;p19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0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271" name="Google Shape;271;p20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20"/>
          <p:cNvGrpSpPr/>
          <p:nvPr/>
        </p:nvGrpSpPr>
        <p:grpSpPr>
          <a:xfrm>
            <a:off x="381000" y="238125"/>
            <a:ext cx="8001000" cy="285900"/>
            <a:chOff x="0" y="0"/>
            <a:chExt cx="8001000" cy="285900"/>
          </a:xfrm>
        </p:grpSpPr>
        <p:sp>
          <p:nvSpPr>
            <p:cNvPr id="275" name="Google Shape;275;p20"/>
            <p:cNvSpPr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0"/>
            <p:cNvSpPr txBox="1"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277" name="Google Shape;277;p20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381000" y="5524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2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خط سير التوثيق الذكي: من الحفرية إلى السحابة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5C403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8001000" y="9525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381000" y="10668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مسار تدفقي متكامل يوضح مراحل التوثيق الرقمي الميداني والمعالجة الآلية: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81" name="Google Shape;281;p20"/>
          <p:cNvPicPr preferRelativeResize="0"/>
          <p:nvPr/>
        </p:nvPicPr>
        <p:blipFill rotWithShape="1">
          <a:blip r:embed="rId3">
            <a:alphaModFix/>
          </a:blip>
          <a:srcRect b="10"/>
          <a:stretch/>
        </p:blipFill>
        <p:spPr>
          <a:xfrm flipH="1">
            <a:off x="6667502" y="2609850"/>
            <a:ext cx="21909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0"/>
          <p:cNvPicPr preferRelativeResize="0"/>
          <p:nvPr/>
        </p:nvPicPr>
        <p:blipFill rotWithShape="1">
          <a:blip r:embed="rId3">
            <a:alphaModFix/>
          </a:blip>
          <a:srcRect b="10"/>
          <a:stretch/>
        </p:blipFill>
        <p:spPr>
          <a:xfrm flipH="1">
            <a:off x="4572002" y="2609850"/>
            <a:ext cx="21909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0"/>
          <p:cNvPicPr preferRelativeResize="0"/>
          <p:nvPr/>
        </p:nvPicPr>
        <p:blipFill rotWithShape="1">
          <a:blip r:embed="rId3">
            <a:alphaModFix/>
          </a:blip>
          <a:srcRect b="10"/>
          <a:stretch/>
        </p:blipFill>
        <p:spPr>
          <a:xfrm flipH="1">
            <a:off x="2476502" y="2609850"/>
            <a:ext cx="21909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20"/>
          <p:cNvGrpSpPr/>
          <p:nvPr/>
        </p:nvGrpSpPr>
        <p:grpSpPr>
          <a:xfrm>
            <a:off x="6762750" y="1524000"/>
            <a:ext cx="1905000" cy="2667000"/>
            <a:chOff x="0" y="0"/>
            <a:chExt cx="1905000" cy="2667000"/>
          </a:xfrm>
        </p:grpSpPr>
        <p:sp>
          <p:nvSpPr>
            <p:cNvPr id="285" name="Google Shape;285;p20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0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١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89" name="Google Shape;289;p20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المسح الميداني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بدء العملية بالمسح الميداني للموقع الأثري باستخدام طائرات الدرون والهواتف الذكية.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90" name="Google Shape;290;p20"/>
          <p:cNvGrpSpPr/>
          <p:nvPr/>
        </p:nvGrpSpPr>
        <p:grpSpPr>
          <a:xfrm>
            <a:off x="4667250" y="1524000"/>
            <a:ext cx="1905000" cy="2667000"/>
            <a:chOff x="0" y="0"/>
            <a:chExt cx="1905000" cy="2667000"/>
          </a:xfrm>
        </p:grpSpPr>
        <p:sp>
          <p:nvSpPr>
            <p:cNvPr id="291" name="Google Shape;291;p20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0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٢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95" name="Google Shape;295;p20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معالجة AI اللحظية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انتقال البيانات فوراً للذكاء الاصطناعي لتوليد السحابة النقطية الدقيقة للموقع.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96" name="Google Shape;296;p20"/>
          <p:cNvGrpSpPr/>
          <p:nvPr/>
        </p:nvGrpSpPr>
        <p:grpSpPr>
          <a:xfrm>
            <a:off x="2571750" y="1524000"/>
            <a:ext cx="1905000" cy="2667000"/>
            <a:chOff x="0" y="0"/>
            <a:chExt cx="1905000" cy="2667000"/>
          </a:xfrm>
        </p:grpSpPr>
        <p:sp>
          <p:nvSpPr>
            <p:cNvPr id="297" name="Google Shape;297;p20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0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٣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01" name="Google Shape;301;p20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استخراج الميتاداتا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استخراج الميتاداتا والمقاطع الإنشائية الدقيقة الخاصة باللقى الأثرية.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02" name="Google Shape;302;p20"/>
          <p:cNvGrpSpPr/>
          <p:nvPr/>
        </p:nvGrpSpPr>
        <p:grpSpPr>
          <a:xfrm>
            <a:off x="476250" y="1524000"/>
            <a:ext cx="1905000" cy="2667000"/>
            <a:chOff x="0" y="0"/>
            <a:chExt cx="1905000" cy="2667000"/>
          </a:xfrm>
        </p:grpSpPr>
        <p:sp>
          <p:nvSpPr>
            <p:cNvPr id="303" name="Google Shape;303;p20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0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٤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07" name="Google Shape;307;p20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المزامنة السحابية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المزامنة الفورية مع قواعد البيانات المركزية لهيئة الشارقة للآثار لضمان تكامل السجل.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08" name="Google Shape;308;p20"/>
          <p:cNvGrpSpPr/>
          <p:nvPr/>
        </p:nvGrpSpPr>
        <p:grpSpPr>
          <a:xfrm>
            <a:off x="381000" y="4333875"/>
            <a:ext cx="8382150" cy="400200"/>
            <a:chOff x="0" y="0"/>
            <a:chExt cx="8382150" cy="400200"/>
          </a:xfrm>
        </p:grpSpPr>
        <p:sp>
          <p:nvSpPr>
            <p:cNvPr id="309" name="Google Shape;309;p20"/>
            <p:cNvSpPr/>
            <p:nvPr/>
          </p:nvSpPr>
          <p:spPr>
            <a:xfrm>
              <a:off x="0" y="0"/>
              <a:ext cx="8382000" cy="400200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8324850" y="0"/>
              <a:ext cx="57300" cy="4002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190500" y="0"/>
              <a:ext cx="800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الهدف الرئيسي: </a:t>
              </a: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ربط الميدان الأثري بالسحابة المركزية مباشرة لضمان حماية وتوثيق الاكتشافات الأثرية دون تأخير.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21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317" name="Google Shape;317;p21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318" name="Google Shape;318;p21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21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21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1" name="Google Shape;321;p21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322" name="Google Shape;322;p21"/>
          <p:cNvGrpSpPr/>
          <p:nvPr/>
        </p:nvGrpSpPr>
        <p:grpSpPr>
          <a:xfrm>
            <a:off x="381000" y="552450"/>
            <a:ext cx="8382000" cy="495300"/>
            <a:chOff x="0" y="0"/>
            <a:chExt cx="8382000" cy="495300"/>
          </a:xfrm>
        </p:grpSpPr>
        <p:sp>
          <p:nvSpPr>
            <p:cNvPr id="323" name="Google Shape;323;p21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2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خطوات منهجية لبناء توأم رقمي دقيق لمجسم أثري</a:t>
              </a:r>
              <a:endParaRPr kumimoji="0" sz="22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25" name="Google Shape;325;p21"/>
          <p:cNvSpPr txBox="1"/>
          <p:nvPr/>
        </p:nvSpPr>
        <p:spPr>
          <a:xfrm>
            <a:off x="381000" y="11620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تتطلب عملية بناء توأم رقمي دقيق لمجسم أثري اتباع خطوات منهجية متكاملة: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5C4033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326" name="Google Shape;326;p21"/>
          <p:cNvGrpSpPr/>
          <p:nvPr/>
        </p:nvGrpSpPr>
        <p:grpSpPr>
          <a:xfrm>
            <a:off x="6286500" y="1571625"/>
            <a:ext cx="2476500" cy="3008324"/>
            <a:chOff x="0" y="0"/>
            <a:chExt cx="2476500" cy="3008324"/>
          </a:xfrm>
        </p:grpSpPr>
        <p:sp>
          <p:nvSpPr>
            <p:cNvPr id="327" name="Google Shape;327;p21"/>
            <p:cNvSpPr/>
            <p:nvPr/>
          </p:nvSpPr>
          <p:spPr>
            <a:xfrm>
              <a:off x="0" y="0"/>
              <a:ext cx="2476500" cy="30003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1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1" i="0" u="none" strike="noStrike" kern="0" cap="none" spc="0" normalizeH="0" baseline="0" noProof="0">
                  <a:ln>
                    <a:noFill/>
                  </a:ln>
                  <a:solidFill>
                    <a:srgbClr val="D4AF37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الخطوة 01</a:t>
              </a: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srgbClr val="D4AF37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قاعدة الدوران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تصوير القطعة على ثلاثة ارتفاعات دائرية مختلفة (زاوية منخفضة 30 درجة، زاوية وسطى 45 درجة، وزاوية رأسية 70 درجة).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0" y="2095500"/>
              <a:ext cx="2476500" cy="9048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1"/>
            <p:cNvSpPr txBox="1"/>
            <p:nvPr/>
          </p:nvSpPr>
          <p:spPr>
            <a:xfrm>
              <a:off x="0" y="2198624"/>
              <a:ext cx="2476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8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3d_rotation</a:t>
              </a:r>
              <a:endParaRPr kumimoji="0" sz="38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32" name="Google Shape;332;p21"/>
          <p:cNvGrpSpPr/>
          <p:nvPr/>
        </p:nvGrpSpPr>
        <p:grpSpPr>
          <a:xfrm>
            <a:off x="3333750" y="1571625"/>
            <a:ext cx="2476500" cy="3008324"/>
            <a:chOff x="0" y="0"/>
            <a:chExt cx="2476500" cy="3008324"/>
          </a:xfrm>
        </p:grpSpPr>
        <p:sp>
          <p:nvSpPr>
            <p:cNvPr id="333" name="Google Shape;333;p21"/>
            <p:cNvSpPr/>
            <p:nvPr/>
          </p:nvSpPr>
          <p:spPr>
            <a:xfrm>
              <a:off x="0" y="0"/>
              <a:ext cx="2476500" cy="30003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1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1" i="0" u="none" strike="noStrike" kern="0" cap="none" spc="0" normalizeH="0" baseline="0" noProof="0">
                  <a:ln>
                    <a:noFill/>
                  </a:ln>
                  <a:solidFill>
                    <a:srgbClr val="D4AF37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الخطوة 02</a:t>
              </a: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srgbClr val="D4AF37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قاعدة التداخل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من الضروري الحفاظ على نسبة تداخل بين الصور المتعاقبة لا تقل عن 70% لضمان نجاح المعالجة وتحقيق أقصى دقة.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0" y="2095500"/>
              <a:ext cx="2476500" cy="9048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1"/>
            <p:cNvSpPr txBox="1"/>
            <p:nvPr/>
          </p:nvSpPr>
          <p:spPr>
            <a:xfrm>
              <a:off x="0" y="2198624"/>
              <a:ext cx="2476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8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kumimoji="0" sz="38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38" name="Google Shape;338;p21"/>
          <p:cNvGrpSpPr/>
          <p:nvPr/>
        </p:nvGrpSpPr>
        <p:grpSpPr>
          <a:xfrm>
            <a:off x="381000" y="1571625"/>
            <a:ext cx="2476500" cy="3008324"/>
            <a:chOff x="0" y="0"/>
            <a:chExt cx="2476500" cy="3008324"/>
          </a:xfrm>
        </p:grpSpPr>
        <p:sp>
          <p:nvSpPr>
            <p:cNvPr id="339" name="Google Shape;339;p21"/>
            <p:cNvSpPr/>
            <p:nvPr/>
          </p:nvSpPr>
          <p:spPr>
            <a:xfrm>
              <a:off x="0" y="0"/>
              <a:ext cx="2476500" cy="30003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1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1" i="0" u="none" strike="noStrike" kern="0" cap="none" spc="0" normalizeH="0" baseline="0" noProof="0">
                  <a:ln>
                    <a:noFill/>
                  </a:ln>
                  <a:solidFill>
                    <a:srgbClr val="D4AF37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الخطوة 03</a:t>
              </a: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srgbClr val="D4AF37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فحص المخرجات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تدوير النموذج، تفعيل شبكة المضلعات (Wireframe) للتحقق من الكثافة، واستخدام أداة القياس لمطابقة الأبعاد الافتراضية مع الحقيقية.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0" y="2095500"/>
              <a:ext cx="2476500" cy="9048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1"/>
            <p:cNvSpPr txBox="1"/>
            <p:nvPr/>
          </p:nvSpPr>
          <p:spPr>
            <a:xfrm>
              <a:off x="0" y="2198624"/>
              <a:ext cx="2476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8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straighten</a:t>
              </a:r>
              <a:endParaRPr kumimoji="0" sz="38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344" name="Google Shape;344;p21"/>
          <p:cNvSpPr/>
          <p:nvPr/>
        </p:nvSpPr>
        <p:spPr>
          <a:xfrm>
            <a:off x="381000" y="483870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2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350" name="Google Shape;350;p22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53" name="Google Shape;353;p22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354" name="Google Shape;354;p22"/>
          <p:cNvGrpSpPr/>
          <p:nvPr/>
        </p:nvGrpSpPr>
        <p:grpSpPr>
          <a:xfrm>
            <a:off x="381000" y="571500"/>
            <a:ext cx="8382000" cy="714300"/>
            <a:chOff x="0" y="0"/>
            <a:chExt cx="8382000" cy="714300"/>
          </a:xfrm>
        </p:grpSpPr>
        <p:sp>
          <p:nvSpPr>
            <p:cNvPr id="355" name="Google Shape;355;p22"/>
            <p:cNvSpPr txBox="1"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1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العوائد الاستراتيجية والعلمية للتحول الرقمي الميداني</a:t>
              </a:r>
              <a:endParaRPr kumimoji="0" sz="21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مؤشرات الأداء الإحصائية التي تبرز نجاح المنظومة الرقمية في تحسين كفاءة العمل الأثري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7620000" y="3619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57" name="Google Shape;357;p22"/>
          <p:cNvGrpSpPr/>
          <p:nvPr/>
        </p:nvGrpSpPr>
        <p:grpSpPr>
          <a:xfrm>
            <a:off x="4762500" y="1524000"/>
            <a:ext cx="4000500" cy="1428900"/>
            <a:chOff x="0" y="0"/>
            <a:chExt cx="4000500" cy="1428900"/>
          </a:xfrm>
        </p:grpSpPr>
        <p:sp>
          <p:nvSpPr>
            <p:cNvPr id="358" name="Google Shape;358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name="adj" fmla="val 8000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2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60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8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FPS / إطار</a:t>
              </a:r>
              <a:endParaRPr kumimoji="0" sz="8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62" name="Google Shape;362;p22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تصفح تفاعلي فوري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توفير تصفح تفاعلي فوري عالي السلاسة للمواقع الأثرية بسرعة تصل إلى 60 إطاراً في الثانية.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63" name="Google Shape;363;p22"/>
          <p:cNvGrpSpPr/>
          <p:nvPr/>
        </p:nvGrpSpPr>
        <p:grpSpPr>
          <a:xfrm>
            <a:off x="381000" y="1524000"/>
            <a:ext cx="4000500" cy="1428900"/>
            <a:chOff x="0" y="0"/>
            <a:chExt cx="4000500" cy="1428900"/>
          </a:xfrm>
        </p:grpSpPr>
        <p:sp>
          <p:nvSpPr>
            <p:cNvPr id="364" name="Google Shape;364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name="adj" fmla="val 8000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2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1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8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ملم دقة</a:t>
              </a:r>
              <a:endParaRPr kumimoji="0" sz="8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68" name="Google Shape;368;p22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دقة مسح هندسية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تضمن تقنيات الليدار المتقدمة تحقيق دقة مسح هندسية فائقة تصل إلى 1 ملم للقطعة الأثرية.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69" name="Google Shape;369;p22"/>
          <p:cNvGrpSpPr/>
          <p:nvPr/>
        </p:nvGrpSpPr>
        <p:grpSpPr>
          <a:xfrm>
            <a:off x="4762500" y="3095625"/>
            <a:ext cx="4000500" cy="1428900"/>
            <a:chOff x="0" y="0"/>
            <a:chExt cx="4000500" cy="1428900"/>
          </a:xfrm>
        </p:grpSpPr>
        <p:sp>
          <p:nvSpPr>
            <p:cNvPr id="370" name="Google Shape;370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430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name="adj" fmla="val 8000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2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75%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8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اختصار الوقت</a:t>
              </a:r>
              <a:endParaRPr kumimoji="0" sz="8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74" name="Google Shape;374;p22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رسم وتحليل الفخار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تساهم أدوات الذكاء الاصطناعي في تحقيق اختصار بنسبة 75% من الوقت المستغرق في رسم وتحليل الفخار.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75" name="Google Shape;375;p22"/>
          <p:cNvGrpSpPr/>
          <p:nvPr/>
        </p:nvGrpSpPr>
        <p:grpSpPr>
          <a:xfrm>
            <a:off x="381000" y="3095625"/>
            <a:ext cx="4000500" cy="1428900"/>
            <a:chOff x="0" y="0"/>
            <a:chExt cx="4000500" cy="1428900"/>
          </a:xfrm>
        </p:grpSpPr>
        <p:sp>
          <p:nvSpPr>
            <p:cNvPr id="376" name="Google Shape;376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name="adj" fmla="val 8000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2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100%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8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حفظ مستدام</a:t>
              </a:r>
              <a:endParaRPr kumimoji="0" sz="8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380" name="Google Shape;380;p22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الحفظ الرقمي المستدام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تتوج الجهود بتحقيق نسبة 100% في الحفظ الرقمي الدائم والمستدام للسجل الأثري بأكمله.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381" name="Google Shape;381;p22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5475" y="190500"/>
            <a:ext cx="2675400" cy="95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8401050" y="352425"/>
            <a:ext cx="342900" cy="342900"/>
            <a:chOff x="19050" y="19050"/>
            <a:chExt cx="342900" cy="342900"/>
          </a:xfrm>
        </p:grpSpPr>
        <p:sp>
          <p:nvSpPr>
            <p:cNvPr id="57" name="Google Shape;57;p14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w="19050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619250"/>
            <a:ext cx="3810000" cy="214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14"/>
          <p:cNvGrpSpPr/>
          <p:nvPr/>
        </p:nvGrpSpPr>
        <p:grpSpPr>
          <a:xfrm>
            <a:off x="4476750" y="1619250"/>
            <a:ext cx="4191000" cy="2038350"/>
            <a:chOff x="4476750" y="1619250"/>
            <a:chExt cx="4191000" cy="2038350"/>
          </a:xfrm>
        </p:grpSpPr>
        <p:sp>
          <p:nvSpPr>
            <p:cNvPr id="62" name="Google Shape;62;p14"/>
            <p:cNvSpPr txBox="1"/>
            <p:nvPr/>
          </p:nvSpPr>
          <p:spPr>
            <a:xfrm>
              <a:off x="4476750" y="1619250"/>
              <a:ext cx="4191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استكشاف ما تحت الرمال: الاستشعار عن بعد والذكاء الاصطناعي الجغرافي (GeoAI)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 SemiBold"/>
                  <a:ea typeface="Cairo SemiBold"/>
                  <a:cs typeface="Cairo SemiBold"/>
                  <a:sym typeface="Cairo SemiBold"/>
                </a:rPr>
                <a:t>الكشف التنبؤي عن الآثار الصحراوية المدفونة </a:t>
              </a: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 SemiBold"/>
                <a:ea typeface="Cairo SemiBold"/>
                <a:cs typeface="Cairo SemiBold"/>
                <a:sym typeface="Cairo SemiBold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7905750" y="36195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476250" y="42862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هيئة الشارقة للآثار — حكومة الشارقة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5C403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5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70" name="Google Shape;70;p15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" name="Google Shape;74;p15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381000" y="666750"/>
            <a:ext cx="8382000" cy="514350"/>
            <a:chOff x="0" y="0"/>
            <a:chExt cx="8382000" cy="514350"/>
          </a:xfrm>
        </p:grpSpPr>
        <p:sp>
          <p:nvSpPr>
            <p:cNvPr id="76" name="Google Shape;76;p15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22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تحديات البيئة الجافة واتساع المساحات الاستكشافية في الشارقة</a:t>
              </a:r>
              <a:endParaRPr kumimoji="0" sz="222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7620000" y="4762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15"/>
          <p:cNvSpPr txBox="1"/>
          <p:nvPr/>
        </p:nvSpPr>
        <p:spPr>
          <a:xfrm>
            <a:off x="381000" y="12382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3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صعوبة المسح التقليدي في سهول الشارقة تتطلب الانتقال إلى التقنيات الفضائية والحلول الذكية.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381000" y="1857375"/>
            <a:ext cx="8382000" cy="2667000"/>
            <a:chOff x="0" y="0"/>
            <a:chExt cx="8382000" cy="2667000"/>
          </a:xfrm>
        </p:grpSpPr>
        <p:grpSp>
          <p:nvGrpSpPr>
            <p:cNvPr id="80" name="Google Shape;80;p15"/>
            <p:cNvGrpSpPr/>
            <p:nvPr/>
          </p:nvGrpSpPr>
          <p:grpSpPr>
            <a:xfrm>
              <a:off x="4381500" y="0"/>
              <a:ext cx="4000500" cy="2667000"/>
              <a:chOff x="0" y="0"/>
              <a:chExt cx="4000500" cy="2667000"/>
            </a:xfrm>
          </p:grpSpPr>
          <p:sp>
            <p:nvSpPr>
              <p:cNvPr id="81" name="Google Shape;81;p15"/>
              <p:cNvSpPr/>
              <p:nvPr/>
            </p:nvSpPr>
            <p:spPr>
              <a:xfrm>
                <a:off x="0" y="0"/>
                <a:ext cx="4000500" cy="2667000"/>
              </a:xfrm>
              <a:prstGeom prst="roundRect">
                <a:avLst>
                  <a:gd name="adj" fmla="val 4285"/>
                </a:avLst>
              </a:prstGeom>
              <a:solidFill>
                <a:srgbClr val="FFFFFF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0" y="0"/>
                <a:ext cx="4000500" cy="428700"/>
              </a:xfrm>
              <a:prstGeom prst="roundRect">
                <a:avLst>
                  <a:gd name="adj" fmla="val 26666"/>
                </a:avLst>
              </a:pr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0" y="238125"/>
                <a:ext cx="4000500" cy="1905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5"/>
              <p:cNvSpPr txBox="1"/>
              <p:nvPr/>
            </p:nvSpPr>
            <p:spPr>
              <a:xfrm>
                <a:off x="142875" y="76200"/>
                <a:ext cx="3714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التحديات الميدانية والمسح التقليدي</a:t>
                </a:r>
                <a:endParaRPr kumimoji="0" sz="14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85" name="Google Shape;85;p15"/>
              <p:cNvSpPr txBox="1"/>
              <p:nvPr/>
            </p:nvSpPr>
            <p:spPr>
              <a:xfrm>
                <a:off x="190500" y="571500"/>
                <a:ext cx="36195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142875" bIns="0" anchor="t" anchorCtr="0">
                <a:noAutofit/>
              </a:bodyPr>
              <a:lstStyle/>
              <a:p>
                <a:pPr marL="457200" marR="0" lvl="0" indent="-31750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Char char="●"/>
                  <a:tabLst/>
                  <a:defRPr/>
                </a:pPr>
                <a:r>
                  <a:rPr kumimoji="0" lang="en" sz="1125" b="0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تخفي الكثبان الرملية الزاحفة في سهول الشارقة (كالمدام والذيد ومليحة) الشواهد الأثرية السطحية بالكامل.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457200" marR="0" lvl="0" indent="-317500" algn="r" defTabSz="914400" rtl="1" eaLnBrk="1" fontAlgn="auto" latinLnBrk="0" hangingPunct="1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Char char="●"/>
                  <a:tabLst/>
                  <a:defRPr/>
                </a:pPr>
                <a:r>
                  <a:rPr kumimoji="0" lang="en" sz="1125" b="0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صعوبة بالغة في اكتشاف المعالم الأثرية بالعين المجردة نظراً للطبيعة الصحراوية.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457200" marR="0" lvl="0" indent="-317500" algn="r" defTabSz="914400" rtl="1" eaLnBrk="1" fontAlgn="auto" latinLnBrk="0" hangingPunct="1">
                  <a:lnSpc>
                    <a:spcPct val="100000"/>
                  </a:lnSpc>
                  <a:spcBef>
                    <a:spcPts val="800"/>
                  </a:spcBef>
                  <a:spcAft>
                    <a:spcPts val="800"/>
                  </a:spcAft>
                  <a:buClr>
                    <a:srgbClr val="000000"/>
                  </a:buClr>
                  <a:buSzPts val="1400"/>
                  <a:buFont typeface="Arial"/>
                  <a:buChar char="●"/>
                  <a:tabLst/>
                  <a:defRPr/>
                </a:pPr>
                <a:r>
                  <a:rPr kumimoji="0" lang="en" sz="1125" b="0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المسح الميداني التقليدي (سيراً أو بالمركبات) مكلف جداً بشرياً ومالياً ويستنزف وقتاً طويلاً.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" name="Google Shape;86;p15"/>
            <p:cNvSpPr/>
            <p:nvPr/>
          </p:nvSpPr>
          <p:spPr>
            <a:xfrm>
              <a:off x="3810000" y="1143000"/>
              <a:ext cx="571500" cy="28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40000"/>
                  </a:moveTo>
                  <a:lnTo>
                    <a:pt x="40000" y="40000"/>
                  </a:lnTo>
                  <a:lnTo>
                    <a:pt x="40000" y="0"/>
                  </a:lnTo>
                  <a:lnTo>
                    <a:pt x="0" y="60000"/>
                  </a:lnTo>
                  <a:lnTo>
                    <a:pt x="40000" y="120000"/>
                  </a:lnTo>
                  <a:lnTo>
                    <a:pt x="40000" y="80000"/>
                  </a:lnTo>
                  <a:lnTo>
                    <a:pt x="120000" y="80000"/>
                  </a:lnTo>
                  <a:close/>
                </a:path>
              </a:pathLst>
            </a:cu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87" name="Google Shape;87;p15"/>
            <p:cNvGrpSpPr/>
            <p:nvPr/>
          </p:nvGrpSpPr>
          <p:grpSpPr>
            <a:xfrm>
              <a:off x="0" y="0"/>
              <a:ext cx="3810000" cy="2667000"/>
              <a:chOff x="0" y="0"/>
              <a:chExt cx="3810000" cy="26670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810000" cy="2667000"/>
              </a:xfrm>
              <a:prstGeom prst="roundRect">
                <a:avLst>
                  <a:gd name="adj" fmla="val 4285"/>
                </a:avLst>
              </a:prstGeom>
              <a:solidFill>
                <a:srgbClr val="FFFFFF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0" y="0"/>
                <a:ext cx="3810000" cy="428700"/>
              </a:xfrm>
              <a:prstGeom prst="roundRect">
                <a:avLst>
                  <a:gd name="adj" fmla="val 26666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0" y="238125"/>
                <a:ext cx="3810000" cy="1905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5"/>
              <p:cNvSpPr txBox="1"/>
              <p:nvPr/>
            </p:nvSpPr>
            <p:spPr>
              <a:xfrm>
                <a:off x="142875" y="76200"/>
                <a:ext cx="3524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295" b="1" i="0" u="none" strike="noStrike" kern="0" cap="none" spc="0" normalizeH="0" baseline="0" noProof="0">
                    <a:ln>
                      <a:noFill/>
                    </a:ln>
                    <a:solidFill>
                      <a:srgbClr val="FDFCF0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الحل المستهدف (الاستكشاف الفضائي الذكي)</a:t>
                </a:r>
                <a:endParaRPr kumimoji="0" sz="1295" b="1" i="0" u="none" strike="noStrike" kern="0" cap="none" spc="0" normalizeH="0" baseline="0" noProof="0">
                  <a:ln>
                    <a:noFill/>
                  </a:ln>
                  <a:solidFill>
                    <a:srgbClr val="FDFCF0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190500" y="571500"/>
                <a:ext cx="34290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142875" bIns="0" anchor="t" anchorCtr="0">
                <a:noAutofit/>
              </a:bodyPr>
              <a:lstStyle/>
              <a:p>
                <a:pPr marL="457200" marR="0" lvl="0" indent="-31750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Char char="●"/>
                  <a:tabLst/>
                  <a:defRPr/>
                </a:pPr>
                <a:r>
                  <a:rPr kumimoji="0" lang="en" sz="1125" b="0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حاجة ملحة إلى </a:t>
                </a:r>
                <a:r>
                  <a:rPr kumimoji="0" lang="en" sz="1125" b="1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"عيون فضائية نافذة"</a:t>
                </a:r>
                <a:r>
                  <a:rPr kumimoji="0" lang="en" sz="1125" b="0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 قادرة على اختراق التحديات الجغرافية.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457200" marR="0" lvl="0" indent="-317500" algn="r" defTabSz="914400" rtl="1" eaLnBrk="1" fontAlgn="auto" latinLnBrk="0" hangingPunct="1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Char char="●"/>
                  <a:tabLst/>
                  <a:defRPr/>
                </a:pPr>
                <a:r>
                  <a:rPr kumimoji="0" lang="en" sz="1125" b="0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مسح آلاف الكيلومترات المربعة بكفاءة فائقة ودقة عالية وبأقل جهد زمني.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457200" marR="0" lvl="0" indent="-317500" algn="r" defTabSz="914400" rtl="1" eaLnBrk="1" fontAlgn="auto" latinLnBrk="0" hangingPunct="1">
                  <a:lnSpc>
                    <a:spcPct val="100000"/>
                  </a:lnSpc>
                  <a:spcBef>
                    <a:spcPts val="800"/>
                  </a:spcBef>
                  <a:spcAft>
                    <a:spcPts val="800"/>
                  </a:spcAft>
                  <a:buClr>
                    <a:srgbClr val="000000"/>
                  </a:buClr>
                  <a:buSzPts val="1400"/>
                  <a:buFont typeface="Arial"/>
                  <a:buChar char="●"/>
                  <a:tabLst/>
                  <a:defRPr/>
                </a:pPr>
                <a:r>
                  <a:rPr kumimoji="0" lang="en" sz="1125" b="0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حماية التراث دون المساس بسلامة المواقع الأثرية أو الإضرار بالبيئة المحيطة.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" name="Google Shape;93;p15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381000" y="190500"/>
            <a:ext cx="8534400" cy="342900"/>
            <a:chOff x="381000" y="190500"/>
            <a:chExt cx="8534400" cy="342900"/>
          </a:xfrm>
        </p:grpSpPr>
        <p:grpSp>
          <p:nvGrpSpPr>
            <p:cNvPr id="99" name="Google Shape;99;p16"/>
            <p:cNvGrpSpPr/>
            <p:nvPr/>
          </p:nvGrpSpPr>
          <p:grpSpPr>
            <a:xfrm>
              <a:off x="8572500" y="190500"/>
              <a:ext cx="342900" cy="342900"/>
              <a:chOff x="0" y="0"/>
              <a:chExt cx="342900" cy="342900"/>
            </a:xfrm>
          </p:grpSpPr>
          <p:sp>
            <p:nvSpPr>
              <p:cNvPr id="100" name="Google Shape;100;p16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6"/>
              <p:cNvSpPr/>
              <p:nvPr/>
            </p:nvSpPr>
            <p:spPr>
              <a:xfrm>
                <a:off x="76200" y="7620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152400" y="21907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" name="Google Shape;103;p16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381000" y="571500"/>
            <a:ext cx="8382000" cy="495300"/>
            <a:chOff x="0" y="0"/>
            <a:chExt cx="8382000" cy="495300"/>
          </a:xfrm>
        </p:grpSpPr>
        <p:sp>
          <p:nvSpPr>
            <p:cNvPr id="105" name="Google Shape;105;p16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2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كيف تخترق موجات الرادار الفضائي (SAR) باطن الأرض؟</a:t>
              </a:r>
              <a:endParaRPr kumimoji="0" sz="22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381125"/>
            <a:ext cx="4000500" cy="3000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6"/>
          <p:cNvGrpSpPr/>
          <p:nvPr/>
        </p:nvGrpSpPr>
        <p:grpSpPr>
          <a:xfrm>
            <a:off x="4572000" y="1381125"/>
            <a:ext cx="4191000" cy="3000300"/>
            <a:chOff x="0" y="0"/>
            <a:chExt cx="4191000" cy="3000300"/>
          </a:xfrm>
        </p:grpSpPr>
        <p:grpSp>
          <p:nvGrpSpPr>
            <p:cNvPr id="109" name="Google Shape;109;p16"/>
            <p:cNvGrpSpPr/>
            <p:nvPr/>
          </p:nvGrpSpPr>
          <p:grpSpPr>
            <a:xfrm>
              <a:off x="0" y="0"/>
              <a:ext cx="4191000" cy="904800"/>
              <a:chOff x="0" y="0"/>
              <a:chExt cx="4191000" cy="904800"/>
            </a:xfrm>
          </p:grpSpPr>
          <p:sp>
            <p:nvSpPr>
              <p:cNvPr id="110" name="Google Shape;110;p16"/>
              <p:cNvSpPr/>
              <p:nvPr/>
            </p:nvSpPr>
            <p:spPr>
              <a:xfrm>
                <a:off x="0" y="0"/>
                <a:ext cx="4191000" cy="904800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6"/>
              <p:cNvSpPr/>
              <p:nvPr/>
            </p:nvSpPr>
            <p:spPr>
              <a:xfrm>
                <a:off x="0" y="0"/>
                <a:ext cx="4191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6"/>
              <p:cNvSpPr txBox="1"/>
              <p:nvPr/>
            </p:nvSpPr>
            <p:spPr>
              <a:xfrm>
                <a:off x="190500" y="142875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300" b="1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الأقمار والموجات الميكروية</a:t>
                </a:r>
                <a:endParaRPr kumimoji="0" sz="13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تعتمد التقنية على أقمار متقدمة مثل Sentinel-1 وALOS-PALSAR التي تستخدم الموجات الميكروية الدقيقة (L-band و C-band).</a:t>
                </a:r>
                <a:endParaRPr kumimoji="0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13" name="Google Shape;113;p16"/>
            <p:cNvGrpSpPr/>
            <p:nvPr/>
          </p:nvGrpSpPr>
          <p:grpSpPr>
            <a:xfrm>
              <a:off x="0" y="1047750"/>
              <a:ext cx="4191000" cy="904800"/>
              <a:chOff x="0" y="0"/>
              <a:chExt cx="4191000" cy="904800"/>
            </a:xfrm>
          </p:grpSpPr>
          <p:sp>
            <p:nvSpPr>
              <p:cNvPr id="114" name="Google Shape;114;p16"/>
              <p:cNvSpPr/>
              <p:nvPr/>
            </p:nvSpPr>
            <p:spPr>
              <a:xfrm>
                <a:off x="0" y="0"/>
                <a:ext cx="4191000" cy="904800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6"/>
              <p:cNvSpPr/>
              <p:nvPr/>
            </p:nvSpPr>
            <p:spPr>
              <a:xfrm>
                <a:off x="0" y="0"/>
                <a:ext cx="4191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6"/>
              <p:cNvSpPr txBox="1"/>
              <p:nvPr/>
            </p:nvSpPr>
            <p:spPr>
              <a:xfrm>
                <a:off x="190500" y="142875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300" b="1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اختراق الرمال الجافة</a:t>
                </a:r>
                <a:endParaRPr kumimoji="0" sz="13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تتميز الموجات الطويلة (L-band) بقدرتها الفائقة على النفاذ عبر الرمال الجافة غير المشبعة بالماء لعمق يتراوح بين 1 إلى 3 أمتار.</a:t>
                </a:r>
                <a:endParaRPr kumimoji="0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17" name="Google Shape;117;p16"/>
            <p:cNvGrpSpPr/>
            <p:nvPr/>
          </p:nvGrpSpPr>
          <p:grpSpPr>
            <a:xfrm>
              <a:off x="0" y="2095500"/>
              <a:ext cx="4191000" cy="904800"/>
              <a:chOff x="0" y="0"/>
              <a:chExt cx="4191000" cy="904800"/>
            </a:xfrm>
          </p:grpSpPr>
          <p:sp>
            <p:nvSpPr>
              <p:cNvPr id="118" name="Google Shape;118;p16"/>
              <p:cNvSpPr/>
              <p:nvPr/>
            </p:nvSpPr>
            <p:spPr>
              <a:xfrm>
                <a:off x="0" y="0"/>
                <a:ext cx="4191000" cy="904800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6"/>
              <p:cNvSpPr/>
              <p:nvPr/>
            </p:nvSpPr>
            <p:spPr>
              <a:xfrm>
                <a:off x="0" y="0"/>
                <a:ext cx="4191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6"/>
              <p:cNvSpPr txBox="1"/>
              <p:nvPr/>
            </p:nvSpPr>
            <p:spPr>
              <a:xfrm>
                <a:off x="190500" y="142875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300" b="1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الارتداد التفاضلي (Backscatter)</a:t>
                </a:r>
                <a:endParaRPr kumimoji="0" sz="13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ترتد الموجات بقوة عند اصطدامها بالأساسات الحجرية والجدران اللبنة الدفينة، مما يولد تبايناً رادارياً يكشف الموقع.</a:t>
                </a:r>
                <a:endParaRPr kumimoji="0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121" name="Google Shape;121;p16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C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27" name="Google Shape;127;p17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28" name="Google Shape;128;p17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29" name="Google Shape;129;p17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7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" name="Google Shape;132;p17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133" name="Google Shape;133;p17"/>
          <p:cNvSpPr txBox="1"/>
          <p:nvPr/>
        </p:nvSpPr>
        <p:spPr>
          <a:xfrm>
            <a:off x="381000" y="523875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0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تجريد الأرض من غطائها: تقنية Airborne LiDAR وتصنيف DTM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5C403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استخدام المسح الليزري الجوي والخوارزميات الرقمية لكشف المعالم الأثرية المدفونة بدقة عالية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8001000" y="109537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35" name="Google Shape;135;p17"/>
          <p:cNvGrpSpPr/>
          <p:nvPr/>
        </p:nvGrpSpPr>
        <p:grpSpPr>
          <a:xfrm>
            <a:off x="4762500" y="1333500"/>
            <a:ext cx="4000500" cy="1476300"/>
            <a:chOff x="0" y="0"/>
            <a:chExt cx="4000500" cy="1476300"/>
          </a:xfrm>
        </p:grpSpPr>
        <p:sp>
          <p:nvSpPr>
            <p:cNvPr id="136" name="Google Shape;136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name="adj" fmla="val 1666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3581400" y="247650"/>
              <a:ext cx="133500" cy="1335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FFFFFF"/>
            </a:solidFill>
            <a:ln w="19050" cap="rnd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3619500" y="285750"/>
              <a:ext cx="57300" cy="57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إطلاق النبضات الليزرية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تعتمد تقنية الليدار الجوي (Airborne LiDAR) على إطلاق ملايين النبضات الليزرية في الثانية من طائرات مسيرة أو مأهولة لمسح التضاريس بدقة فائقة.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42" name="Google Shape;142;p17"/>
          <p:cNvGrpSpPr/>
          <p:nvPr/>
        </p:nvGrpSpPr>
        <p:grpSpPr>
          <a:xfrm>
            <a:off x="381000" y="1333500"/>
            <a:ext cx="4000500" cy="1476300"/>
            <a:chOff x="0" y="0"/>
            <a:chExt cx="4000500" cy="1476300"/>
          </a:xfrm>
        </p:grpSpPr>
        <p:sp>
          <p:nvSpPr>
            <p:cNvPr id="143" name="Google Shape;143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name="adj" fmla="val 1666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3552825" y="266700"/>
              <a:ext cx="190500" cy="133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78000" y="60000"/>
                  </a:lnTo>
                  <a:lnTo>
                    <a:pt x="78000" y="120000"/>
                  </a:lnTo>
                  <a:lnTo>
                    <a:pt x="42000" y="120000"/>
                  </a:lnTo>
                  <a:lnTo>
                    <a:pt x="42000" y="6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تصفية النقاط الأرضية (Ground Filtering)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تُطبق خوارزميات متقدمة لمعالجة البيانات وتصنيف النقاط بهدف إزالة الرمال الزاحفة والنباتات رقمياً وبشكل كامل من النماذج الممسوحة.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4762500" y="3000375"/>
            <a:ext cx="4000500" cy="1476300"/>
            <a:chOff x="0" y="0"/>
            <a:chExt cx="4000500" cy="1476300"/>
          </a:xfrm>
        </p:grpSpPr>
        <p:sp>
          <p:nvSpPr>
            <p:cNvPr id="149" name="Google Shape;149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name="adj" fmla="val 1666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3552825" y="247650"/>
              <a:ext cx="190500" cy="133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42000" y="34286"/>
                  </a:lnTo>
                  <a:lnTo>
                    <a:pt x="78000" y="77143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53" name="Google Shape;153;p17"/>
            <p:cNvCxnSpPr/>
            <p:nvPr/>
          </p:nvCxnSpPr>
          <p:spPr>
            <a:xfrm>
              <a:off x="3552825" y="400050"/>
              <a:ext cx="1905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4" name="Google Shape;154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توليد نماذج الارتفاع الرقمية (DTM)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تُستخدم البيانات النقية الناتجة لتوليد نماذج الارتفاع الرقمية العارية (Digital Terrain Models) التي تعكس سطح الأرض الحقيقي بدقة متناهية.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381000" y="3000375"/>
            <a:ext cx="4000500" cy="1476300"/>
            <a:chOff x="0" y="0"/>
            <a:chExt cx="4000500" cy="1476300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name="adj" fmla="val 16666"/>
              </a:avLst>
            </a:prstGeom>
            <a:solidFill>
              <a:srgbClr val="FDFCF0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3571875" y="238125"/>
              <a:ext cx="114300" cy="1143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60" name="Google Shape;160;p17"/>
            <p:cNvCxnSpPr/>
            <p:nvPr/>
          </p:nvCxnSpPr>
          <p:spPr>
            <a:xfrm>
              <a:off x="3667125" y="333375"/>
              <a:ext cx="66600" cy="57300"/>
            </a:xfrm>
            <a:prstGeom prst="straightConnector1">
              <a:avLst/>
            </a:prstGeom>
            <a:solidFill>
              <a:srgbClr val="FFFFFF"/>
            </a:solidFill>
            <a:ln w="19050" cap="rnd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1" name="Google Shape;161;p1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كشف المكتشفات الأثرية المدفونة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تساعد هذه النماذج مباشرة في كشف التلال الأثرية ومدافن العصر البرونزي الركامية المخفية التي تصعب ملاحظتها وتوثيقها بالطرق التقليدية.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62" name="Google Shape;162;p17"/>
          <p:cNvSpPr/>
          <p:nvPr/>
        </p:nvSpPr>
        <p:spPr>
          <a:xfrm>
            <a:off x="381000" y="471487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18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68" name="Google Shape;168;p18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69" name="Google Shape;169;p18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8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2" name="Google Shape;172;p18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173" name="Google Shape;173;p18"/>
          <p:cNvSpPr txBox="1"/>
          <p:nvPr/>
        </p:nvSpPr>
        <p:spPr>
          <a:xfrm>
            <a:off x="381000" y="5524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1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تدريب نماذج الرؤية الحاسوبية على كشف الأنماط الأثرية (YOLO &amp; SAM)</a:t>
            </a:r>
            <a:endParaRPr kumimoji="0" sz="2100" b="1" i="0" u="none" strike="noStrike" kern="0" cap="none" spc="0" normalizeH="0" baseline="0" noProof="0">
              <a:ln>
                <a:noFill/>
              </a:ln>
              <a:solidFill>
                <a:srgbClr val="5C403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001000" y="10096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381000" y="11239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مسح وتحليل الصور الفضائية آلياً للتعرف على التشكيلات المعمارية والخطوط الممتدة: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cxnSp>
        <p:nvCxnSpPr>
          <p:cNvPr id="176" name="Google Shape;176;p18"/>
          <p:cNvCxnSpPr/>
          <p:nvPr/>
        </p:nvCxnSpPr>
        <p:spPr>
          <a:xfrm>
            <a:off x="1809750" y="1600200"/>
            <a:ext cx="5524500" cy="0"/>
          </a:xfrm>
          <a:prstGeom prst="straightConnector1">
            <a:avLst/>
          </a:prstGeom>
          <a:solidFill>
            <a:srgbClr val="FFFFFF"/>
          </a:solidFill>
          <a:ln w="28575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7" name="Google Shape;177;p18"/>
          <p:cNvGrpSpPr/>
          <p:nvPr/>
        </p:nvGrpSpPr>
        <p:grpSpPr>
          <a:xfrm>
            <a:off x="7200900" y="1466850"/>
            <a:ext cx="266700" cy="266700"/>
            <a:chOff x="0" y="0"/>
            <a:chExt cx="266700" cy="266700"/>
          </a:xfrm>
        </p:grpSpPr>
        <p:sp>
          <p:nvSpPr>
            <p:cNvPr id="178" name="Google Shape;178;p18"/>
            <p:cNvSpPr/>
            <p:nvPr/>
          </p:nvSpPr>
          <p:spPr>
            <a:xfrm>
              <a:off x="0" y="0"/>
              <a:ext cx="266700" cy="2667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76200" y="76200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18"/>
          <p:cNvGrpSpPr/>
          <p:nvPr/>
        </p:nvGrpSpPr>
        <p:grpSpPr>
          <a:xfrm>
            <a:off x="4438650" y="1466850"/>
            <a:ext cx="266700" cy="266700"/>
            <a:chOff x="0" y="0"/>
            <a:chExt cx="266700" cy="266700"/>
          </a:xfrm>
        </p:grpSpPr>
        <p:sp>
          <p:nvSpPr>
            <p:cNvPr id="181" name="Google Shape;181;p18"/>
            <p:cNvSpPr/>
            <p:nvPr/>
          </p:nvSpPr>
          <p:spPr>
            <a:xfrm>
              <a:off x="0" y="0"/>
              <a:ext cx="266700" cy="2667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76200" y="76200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18"/>
          <p:cNvGrpSpPr/>
          <p:nvPr/>
        </p:nvGrpSpPr>
        <p:grpSpPr>
          <a:xfrm>
            <a:off x="1676400" y="1466850"/>
            <a:ext cx="266700" cy="266700"/>
            <a:chOff x="0" y="0"/>
            <a:chExt cx="266700" cy="266700"/>
          </a:xfrm>
        </p:grpSpPr>
        <p:sp>
          <p:nvSpPr>
            <p:cNvPr id="184" name="Google Shape;184;p18"/>
            <p:cNvSpPr/>
            <p:nvPr/>
          </p:nvSpPr>
          <p:spPr>
            <a:xfrm>
              <a:off x="0" y="0"/>
              <a:ext cx="266700" cy="2667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76200" y="76200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6096000" y="1857375"/>
            <a:ext cx="2476500" cy="1809600"/>
            <a:chOff x="0" y="0"/>
            <a:chExt cx="2476500" cy="1809600"/>
          </a:xfrm>
        </p:grpSpPr>
        <p:sp>
          <p:nvSpPr>
            <p:cNvPr id="187" name="Google Shape;187;p18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name="adj" fmla="val 421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142875" y="171450"/>
              <a:ext cx="21909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التشكيلات الدائرية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تدريب النماذج الذكية على المسح الفضائي للتعرف الدقيق على الهياكل والمعالم الدائرية للـمـدافـن الأثـريـة القديمة.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90" name="Google Shape;190;p18"/>
          <p:cNvGrpSpPr/>
          <p:nvPr/>
        </p:nvGrpSpPr>
        <p:grpSpPr>
          <a:xfrm>
            <a:off x="3333750" y="1857375"/>
            <a:ext cx="2476500" cy="1809600"/>
            <a:chOff x="0" y="0"/>
            <a:chExt cx="2476500" cy="1809600"/>
          </a:xfrm>
        </p:grpSpPr>
        <p:sp>
          <p:nvSpPr>
            <p:cNvPr id="191" name="Google Shape;191;p18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name="adj" fmla="val 421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142875" y="171450"/>
              <a:ext cx="21909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التشكيلات المستطيلة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كشف وبناء أنماط معمارية للمساحات المستطيلة المعقدة الخاصة بالـحـصـون والأسـوار الأثرية.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94" name="Google Shape;194;p18"/>
          <p:cNvGrpSpPr/>
          <p:nvPr/>
        </p:nvGrpSpPr>
        <p:grpSpPr>
          <a:xfrm>
            <a:off x="571500" y="1857375"/>
            <a:ext cx="2476500" cy="1809600"/>
            <a:chOff x="0" y="0"/>
            <a:chExt cx="2476500" cy="1809600"/>
          </a:xfrm>
        </p:grpSpPr>
        <p:sp>
          <p:nvSpPr>
            <p:cNvPr id="195" name="Google Shape;195;p18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name="adj" fmla="val 421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142875" y="171450"/>
              <a:ext cx="21909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الخطوط الممتدة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تتبع الملامح الخطية المستمرة على السطح لتحليل وتحديد مسارات قـنـوات الأفـلاج المائية الممتدة.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98" name="Google Shape;198;p18"/>
          <p:cNvGrpSpPr/>
          <p:nvPr/>
        </p:nvGrpSpPr>
        <p:grpSpPr>
          <a:xfrm>
            <a:off x="381000" y="3886200"/>
            <a:ext cx="8382150" cy="647700"/>
            <a:chOff x="0" y="0"/>
            <a:chExt cx="8382150" cy="647700"/>
          </a:xfrm>
        </p:grpSpPr>
        <p:sp>
          <p:nvSpPr>
            <p:cNvPr id="199" name="Google Shape;199;p18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name="adj" fmla="val 882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8324850" y="0"/>
              <a:ext cx="57300" cy="6477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01" name="Google Shape;201;p18"/>
            <p:cNvGrpSpPr/>
            <p:nvPr/>
          </p:nvGrpSpPr>
          <p:grpSpPr>
            <a:xfrm>
              <a:off x="190500" y="95250"/>
              <a:ext cx="1047900" cy="457200"/>
              <a:chOff x="0" y="0"/>
              <a:chExt cx="1047900" cy="457200"/>
            </a:xfrm>
          </p:grpSpPr>
          <p:sp>
            <p:nvSpPr>
              <p:cNvPr id="202" name="Google Shape;202;p18"/>
              <p:cNvSpPr/>
              <p:nvPr/>
            </p:nvSpPr>
            <p:spPr>
              <a:xfrm>
                <a:off x="0" y="0"/>
                <a:ext cx="10479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8"/>
              <p:cNvSpPr txBox="1"/>
              <p:nvPr/>
            </p:nvSpPr>
            <p:spPr>
              <a:xfrm>
                <a:off x="0" y="0"/>
                <a:ext cx="1047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700" b="1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90%</a:t>
                </a:r>
                <a:endParaRPr kumimoji="0" sz="17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850" b="1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تقليص مساحة البحث</a:t>
                </a:r>
                <a:endParaRPr kumimoji="0" sz="8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204" name="Google Shape;204;p18"/>
            <p:cNvSpPr txBox="1"/>
            <p:nvPr/>
          </p:nvSpPr>
          <p:spPr>
            <a:xfrm>
              <a:off x="1381125" y="0"/>
              <a:ext cx="68103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الأثر والنتيجة الميدانية: </a:t>
              </a: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تساهم هذه التقنيات المتقدمة في خفض مساحة البحث الميداني بنسبة 90% من خلال تحديد "دوائر اشتباه أثري مؤكدة"، مما يوجه جهود الفرق الميدانية بفعالية.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p18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9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11" name="Google Shape;211;p19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12" name="Google Shape;212;p19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9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9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5" name="Google Shape;215;p19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16" name="Google Shape;216;p19"/>
          <p:cNvGrpSpPr/>
          <p:nvPr/>
        </p:nvGrpSpPr>
        <p:grpSpPr>
          <a:xfrm>
            <a:off x="381000" y="571500"/>
            <a:ext cx="8382000" cy="561975"/>
            <a:chOff x="0" y="0"/>
            <a:chExt cx="8382000" cy="561975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مؤشر الشذوذ الطيفي الأثري المخصص (ANDI)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7620000" y="52387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19" name="Google Shape;219;p19"/>
          <p:cNvSpPr txBox="1"/>
          <p:nvPr/>
        </p:nvSpPr>
        <p:spPr>
          <a:xfrm>
            <a:off x="381000" y="1238250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يقارن المؤشر بين النطاقات الطيفية لكشف الآثار المدفونة عبر التغيرات غير المرئية في التربة والنباتات: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5C4033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220" name="Google Shape;220;p19"/>
          <p:cNvGrpSpPr/>
          <p:nvPr/>
        </p:nvGrpSpPr>
        <p:grpSpPr>
          <a:xfrm>
            <a:off x="6286500" y="1714500"/>
            <a:ext cx="2476500" cy="2918841"/>
            <a:chOff x="0" y="0"/>
            <a:chExt cx="2476500" cy="2918841"/>
          </a:xfrm>
        </p:grpSpPr>
        <p:sp>
          <p:nvSpPr>
            <p:cNvPr id="221" name="Google Shape;221;p19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9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المفهوم والمعادلة الطيفية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يعتمد المؤشر على معادلة طيفية دقيقة تقارن بين انعكاس النطاق الأحمر (Red Band) ونطاق الأشعة تحت الحمراء القريبة (NIR).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42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kumimoji="0" sz="42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3333750" y="1714500"/>
            <a:ext cx="2476500" cy="2918841"/>
            <a:chOff x="0" y="0"/>
            <a:chExt cx="2476500" cy="2918841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الأثر الفيزيائي على التربة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تضغط الآثار المدفونة التربة فوقها، مما يغير قدرتها الطبيعية على الاحتفاظ بالرطوبة أو دعم نمو وإنبات الأعشاب والنباتات.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42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kumimoji="0" sz="42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32" name="Google Shape;232;p19"/>
          <p:cNvGrpSpPr/>
          <p:nvPr/>
        </p:nvGrpSpPr>
        <p:grpSpPr>
          <a:xfrm>
            <a:off x="381000" y="1714500"/>
            <a:ext cx="2476500" cy="2918841"/>
            <a:chOff x="0" y="0"/>
            <a:chExt cx="2476500" cy="2918841"/>
          </a:xfrm>
        </p:grpSpPr>
        <p:sp>
          <p:nvSpPr>
            <p:cNvPr id="233" name="Google Shape;233;p19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9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الالتقاط الفضائي والوميض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ينتج عن التغير الدقيق وميض أو تباين في الأشعة تحت الحمراء القريبة تلتقطه المستشعرات الفضائية رغم خفائه عن العين البشرية.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9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42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endParaRPr kumimoji="0" sz="42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38" name="Google Shape;238;p19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20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44" name="Google Shape;244;p20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45" name="Google Shape;245;p20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0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8" name="Google Shape;248;p20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249" name="Google Shape;249;p20"/>
          <p:cNvSpPr txBox="1"/>
          <p:nvPr/>
        </p:nvSpPr>
        <p:spPr>
          <a:xfrm>
            <a:off x="381000" y="6191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035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مختبر الورشة: الكشف الآلي بالشذوذ الطيفي عبر بايثون (Google Colab)</a:t>
            </a:r>
            <a:endParaRPr kumimoji="0" sz="2035" b="1" i="0" u="none" strike="noStrike" kern="0" cap="none" spc="0" normalizeH="0" baseline="0" noProof="0">
              <a:ln>
                <a:noFill/>
              </a:ln>
              <a:solidFill>
                <a:srgbClr val="5C403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80010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51" name="Google Shape;251;p20"/>
          <p:cNvPicPr preferRelativeResize="0"/>
          <p:nvPr/>
        </p:nvPicPr>
        <p:blipFill rotWithShape="1">
          <a:blip r:embed="rId3">
            <a:alphaModFix/>
          </a:blip>
          <a:srcRect t="25755" b="25760"/>
          <a:stretch/>
        </p:blipFill>
        <p:spPr>
          <a:xfrm>
            <a:off x="381000" y="1162050"/>
            <a:ext cx="8382000" cy="2286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20"/>
          <p:cNvGrpSpPr/>
          <p:nvPr/>
        </p:nvGrpSpPr>
        <p:grpSpPr>
          <a:xfrm>
            <a:off x="6029325" y="3571875"/>
            <a:ext cx="2733600" cy="1190700"/>
            <a:chOff x="0" y="0"/>
            <a:chExt cx="2733600" cy="1190700"/>
          </a:xfrm>
        </p:grpSpPr>
        <p:sp>
          <p:nvSpPr>
            <p:cNvPr id="253" name="Google Shape;253;p20"/>
            <p:cNvSpPr/>
            <p:nvPr/>
          </p:nvSpPr>
          <p:spPr>
            <a:xfrm>
              <a:off x="0" y="0"/>
              <a:ext cx="2733600" cy="11907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0" y="0"/>
              <a:ext cx="27336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114300" y="114300"/>
              <a:ext cx="25050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1.</a:t>
              </a:r>
              <a:r>
                <a:rPr kumimoji="0" lang="en" sz="1200" b="1" i="0" u="sng" strike="noStrike" kern="0" cap="none" spc="0" normalizeH="0" baseline="0" noProof="0">
                  <a:ln>
                    <a:noFill/>
                  </a:ln>
                  <a:solidFill>
                    <a:srgbClr val="0097A7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  <a:hlinkClick r:id="rId4"/>
                </a:rPr>
                <a:t> المشهد الصحراوي</a:t>
              </a: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 (RGB)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9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تعرض اللوحة الأولى المشهد الصحراوي الطبيعي، حيث تبرز صعوبة تمييز الآثار والمكونات المدفونة بالعين المجردة.</a:t>
              </a:r>
              <a:endParaRPr kumimoji="0" sz="9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56" name="Google Shape;256;p20"/>
          <p:cNvGrpSpPr/>
          <p:nvPr/>
        </p:nvGrpSpPr>
        <p:grpSpPr>
          <a:xfrm>
            <a:off x="3200400" y="3571875"/>
            <a:ext cx="2733600" cy="1190700"/>
            <a:chOff x="0" y="0"/>
            <a:chExt cx="2733600" cy="1190700"/>
          </a:xfrm>
        </p:grpSpPr>
        <p:sp>
          <p:nvSpPr>
            <p:cNvPr id="257" name="Google Shape;257;p20"/>
            <p:cNvSpPr/>
            <p:nvPr/>
          </p:nvSpPr>
          <p:spPr>
            <a:xfrm>
              <a:off x="0" y="0"/>
              <a:ext cx="2733600" cy="11907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0" y="0"/>
              <a:ext cx="27336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114300" y="114300"/>
              <a:ext cx="25050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2. خريطة الشذوذ الطيفي (ANDI)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9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توضح خريطة الشذوذ استخدام ألوان التباين الحراري (Inferno Colormap) لإبراز الفروقات والتشوهات الطيفية الدقيقة.</a:t>
              </a:r>
              <a:endParaRPr kumimoji="0" sz="9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60" name="Google Shape;260;p20"/>
          <p:cNvGrpSpPr/>
          <p:nvPr/>
        </p:nvGrpSpPr>
        <p:grpSpPr>
          <a:xfrm>
            <a:off x="381000" y="3571875"/>
            <a:ext cx="2733600" cy="1190700"/>
            <a:chOff x="0" y="0"/>
            <a:chExt cx="2733600" cy="1190700"/>
          </a:xfrm>
        </p:grpSpPr>
        <p:sp>
          <p:nvSpPr>
            <p:cNvPr id="261" name="Google Shape;261;p20"/>
            <p:cNvSpPr/>
            <p:nvPr/>
          </p:nvSpPr>
          <p:spPr>
            <a:xfrm>
              <a:off x="0" y="0"/>
              <a:ext cx="2733600" cy="11907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30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0" y="0"/>
              <a:ext cx="27336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114300" y="114300"/>
              <a:ext cx="25050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3. الكشف الآلي والمواقع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95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تُظهر النتائج النهائية المتمثلة في مربعات الاكتشاف الخضراء، مع تسمية المواقع المكتشفة آلياً والقنوات القديمة (Paleochannel).</a:t>
              </a:r>
              <a:endParaRPr kumimoji="0" sz="95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264" name="Google Shape;264;p20"/>
          <p:cNvSpPr/>
          <p:nvPr/>
        </p:nvSpPr>
        <p:spPr>
          <a:xfrm>
            <a:off x="381000" y="487680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1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70" name="Google Shape;270;p21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71" name="Google Shape;271;p21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21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21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4" name="Google Shape;274;p21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75" name="Google Shape;275;p21"/>
          <p:cNvGrpSpPr/>
          <p:nvPr/>
        </p:nvGrpSpPr>
        <p:grpSpPr>
          <a:xfrm>
            <a:off x="381000" y="552450"/>
            <a:ext cx="8382000" cy="895500"/>
            <a:chOff x="381000" y="552450"/>
            <a:chExt cx="8382000" cy="895500"/>
          </a:xfrm>
        </p:grpSpPr>
        <p:sp>
          <p:nvSpPr>
            <p:cNvPr id="276" name="Google Shape;276;p21"/>
            <p:cNvSpPr txBox="1"/>
            <p:nvPr/>
          </p:nvSpPr>
          <p:spPr>
            <a:xfrm>
              <a:off x="381000" y="55245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1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تطبيقات ميدانية: تتبع قنوات فلج المدام القديم</a:t>
              </a:r>
              <a:endParaRPr kumimoji="0" sz="21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8001000" y="10287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381000" y="116205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خطوات دراسة الحالة الميدانية لشبكة فلج المدام من الاكتشاف الفضائي إلى الحفر الميداني:</a:t>
              </a: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79" name="Google Shape;279;p21"/>
          <p:cNvGrpSpPr/>
          <p:nvPr/>
        </p:nvGrpSpPr>
        <p:grpSpPr>
          <a:xfrm>
            <a:off x="1676400" y="1533525"/>
            <a:ext cx="5791200" cy="266700"/>
            <a:chOff x="1676400" y="1533525"/>
            <a:chExt cx="5791200" cy="266700"/>
          </a:xfrm>
        </p:grpSpPr>
        <p:cxnSp>
          <p:nvCxnSpPr>
            <p:cNvPr id="280" name="Google Shape;280;p21"/>
            <p:cNvCxnSpPr/>
            <p:nvPr/>
          </p:nvCxnSpPr>
          <p:spPr>
            <a:xfrm>
              <a:off x="1809750" y="1666875"/>
              <a:ext cx="55245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1" name="Google Shape;281;p21"/>
            <p:cNvSpPr/>
            <p:nvPr/>
          </p:nvSpPr>
          <p:spPr>
            <a:xfrm>
              <a:off x="7200900" y="1533525"/>
              <a:ext cx="266700" cy="2667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7277100" y="1609725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1"/>
            <p:cNvSpPr/>
            <p:nvPr/>
          </p:nvSpPr>
          <p:spPr>
            <a:xfrm>
              <a:off x="4438650" y="1533525"/>
              <a:ext cx="266700" cy="2667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4514850" y="1609725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1676400" y="1533525"/>
              <a:ext cx="266700" cy="2667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1752600" y="1609725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21"/>
          <p:cNvGrpSpPr/>
          <p:nvPr/>
        </p:nvGrpSpPr>
        <p:grpSpPr>
          <a:xfrm>
            <a:off x="571500" y="2000250"/>
            <a:ext cx="8001000" cy="1762200"/>
            <a:chOff x="571500" y="2000250"/>
            <a:chExt cx="8001000" cy="1762200"/>
          </a:xfrm>
        </p:grpSpPr>
        <p:grpSp>
          <p:nvGrpSpPr>
            <p:cNvPr id="288" name="Google Shape;288;p21"/>
            <p:cNvGrpSpPr/>
            <p:nvPr/>
          </p:nvGrpSpPr>
          <p:grpSpPr>
            <a:xfrm>
              <a:off x="6096000" y="2000250"/>
              <a:ext cx="2476500" cy="1762200"/>
              <a:chOff x="0" y="0"/>
              <a:chExt cx="2476500" cy="1762200"/>
            </a:xfrm>
          </p:grpSpPr>
          <p:sp>
            <p:nvSpPr>
              <p:cNvPr id="289" name="Google Shape;289;p21"/>
              <p:cNvSpPr/>
              <p:nvPr/>
            </p:nvSpPr>
            <p:spPr>
              <a:xfrm>
                <a:off x="0" y="0"/>
                <a:ext cx="2476500" cy="17622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2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21"/>
              <p:cNvSpPr txBox="1"/>
              <p:nvPr/>
            </p:nvSpPr>
            <p:spPr>
              <a:xfrm>
                <a:off x="142875" y="190500"/>
                <a:ext cx="2190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250" b="1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المرحلة الأولى: المسح الفضائي</a:t>
                </a:r>
                <a:endParaRPr kumimoji="0" sz="12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75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استخدام التقنيات الفضائية بنجاح لرسم مسار القنوات المائية الجافة (</a:t>
                </a:r>
                <a:r>
                  <a:rPr kumimoji="0" lang="en" sz="1050" b="0" i="0" u="sng" strike="noStrike" kern="0" cap="none" spc="0" normalizeH="0" baseline="0" noProof="0">
                    <a:ln>
                      <a:noFill/>
                    </a:ln>
                    <a:solidFill>
                      <a:srgbClr val="0097A7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  <a:hlinkClick r:id="rId3"/>
                  </a:rPr>
                  <a:t>Paleochannels</a:t>
                </a: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) المطمورة تحت رمال منطقة المدام.</a:t>
                </a:r>
                <a:endParaRPr kumimoji="0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292" name="Google Shape;292;p21"/>
            <p:cNvGrpSpPr/>
            <p:nvPr/>
          </p:nvGrpSpPr>
          <p:grpSpPr>
            <a:xfrm>
              <a:off x="3333750" y="2000250"/>
              <a:ext cx="2476500" cy="1762200"/>
              <a:chOff x="0" y="0"/>
              <a:chExt cx="2476500" cy="1762200"/>
            </a:xfrm>
          </p:grpSpPr>
          <p:sp>
            <p:nvSpPr>
              <p:cNvPr id="293" name="Google Shape;293;p21"/>
              <p:cNvSpPr/>
              <p:nvPr/>
            </p:nvSpPr>
            <p:spPr>
              <a:xfrm>
                <a:off x="0" y="0"/>
                <a:ext cx="2476500" cy="17622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2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21"/>
              <p:cNvSpPr txBox="1"/>
              <p:nvPr/>
            </p:nvSpPr>
            <p:spPr>
              <a:xfrm>
                <a:off x="142875" y="190500"/>
                <a:ext cx="2190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250" b="1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المرحلة الثانية: التحليل الجغرافي</a:t>
                </a:r>
                <a:endParaRPr kumimoji="0" sz="12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75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تحديد نقاط التقاء شبكات الري القديمة بمستوطنات العصر الحديدي المجاورة بدقة عالية بناءً على البيانات الفضائية.</a:t>
                </a:r>
                <a:endParaRPr kumimoji="0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296" name="Google Shape;296;p21"/>
            <p:cNvGrpSpPr/>
            <p:nvPr/>
          </p:nvGrpSpPr>
          <p:grpSpPr>
            <a:xfrm>
              <a:off x="571500" y="2000250"/>
              <a:ext cx="2476500" cy="1762200"/>
              <a:chOff x="0" y="0"/>
              <a:chExt cx="2476500" cy="1762200"/>
            </a:xfrm>
          </p:grpSpPr>
          <p:sp>
            <p:nvSpPr>
              <p:cNvPr id="297" name="Google Shape;297;p21"/>
              <p:cNvSpPr/>
              <p:nvPr/>
            </p:nvSpPr>
            <p:spPr>
              <a:xfrm>
                <a:off x="0" y="0"/>
                <a:ext cx="2476500" cy="17622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2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21"/>
              <p:cNvSpPr txBox="1"/>
              <p:nvPr/>
            </p:nvSpPr>
            <p:spPr>
              <a:xfrm>
                <a:off x="142875" y="190500"/>
                <a:ext cx="2190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250" b="1" i="0" u="none" strike="noStrike" kern="0" cap="none" spc="0" normalizeH="0" baseline="0" noProof="0">
                    <a:ln>
                      <a:noFill/>
                    </a:ln>
                    <a:solidFill>
                      <a:srgbClr val="5C4033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المرحلة الثالثة: التنقيب الميداني</a:t>
                </a:r>
                <a:endParaRPr kumimoji="0" sz="12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750"/>
                  </a:spcBef>
                  <a:spcAft>
                    <a:spcPts val="75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توجيه فرق الحفر والتنقيب مباشرة إلى المواقع الدقيقة لفتحات التهوية وأحواض التوزيع المفقودة.</a:t>
                </a:r>
                <a:endParaRPr kumimoji="0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grpSp>
        <p:nvGrpSpPr>
          <p:cNvPr id="300" name="Google Shape;300;p21"/>
          <p:cNvGrpSpPr/>
          <p:nvPr/>
        </p:nvGrpSpPr>
        <p:grpSpPr>
          <a:xfrm>
            <a:off x="381000" y="3981450"/>
            <a:ext cx="8382150" cy="495300"/>
            <a:chOff x="0" y="0"/>
            <a:chExt cx="8382150" cy="495300"/>
          </a:xfrm>
        </p:grpSpPr>
        <p:sp>
          <p:nvSpPr>
            <p:cNvPr id="301" name="Google Shape;301;p21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8324850" y="0"/>
              <a:ext cx="57300" cy="4953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1"/>
            <p:cNvSpPr txBox="1"/>
            <p:nvPr/>
          </p:nvSpPr>
          <p:spPr>
            <a:xfrm>
              <a:off x="190500" y="0"/>
              <a:ext cx="8001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الأثر والتأثير الميداني: </a:t>
              </a:r>
              <a:r>
                <a:rPr kumimoji="0" lang="en" sz="120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توجيه مباشر لفرق التنقيب نحو الأهداف الأثرية المفقودة بدقة عالية، مما وفر الكثير من الجهد والوقت.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304" name="Google Shape;304;p21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22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310" name="Google Shape;310;p22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311" name="Google Shape;311;p2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22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 cmpd="sng">
                <a:solidFill>
                  <a:srgbClr val="8B5A2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22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4" name="Google Shape;314;p22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315" name="Google Shape;315;p22"/>
          <p:cNvSpPr txBox="1"/>
          <p:nvPr/>
        </p:nvSpPr>
        <p:spPr>
          <a:xfrm>
            <a:off x="381000" y="571500"/>
            <a:ext cx="83820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10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ثمار الاستشعار الفضائي التنبؤي ومؤشرات الأثر الاستكشافي</a:t>
            </a:r>
            <a:endParaRPr kumimoji="0" sz="2100" b="1" i="0" u="none" strike="noStrike" kern="0" cap="none" spc="0" normalizeH="0" baseline="0" noProof="0">
              <a:ln>
                <a:noFill/>
              </a:ln>
              <a:solidFill>
                <a:srgbClr val="5C403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تحقق تقنيات الاستشعار الفضائي التنبؤي نتائج قياسية تشمل أداءً عالي الدقة وكفاءة ميدانية غير مسبوقة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8B5A2B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8001000" y="9334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17" name="Google Shape;317;p22"/>
          <p:cNvGrpSpPr/>
          <p:nvPr/>
        </p:nvGrpSpPr>
        <p:grpSpPr>
          <a:xfrm>
            <a:off x="4762500" y="1524000"/>
            <a:ext cx="4000500" cy="1428900"/>
            <a:chOff x="0" y="0"/>
            <a:chExt cx="4000500" cy="1428900"/>
          </a:xfrm>
        </p:grpSpPr>
        <p:sp>
          <p:nvSpPr>
            <p:cNvPr id="318" name="Google Shape;318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20" name="Google Shape;320;p22"/>
            <p:cNvGrpSpPr/>
            <p:nvPr/>
          </p:nvGrpSpPr>
          <p:grpSpPr>
            <a:xfrm>
              <a:off x="190500" y="238125"/>
              <a:ext cx="952500" cy="952500"/>
              <a:chOff x="0" y="0"/>
              <a:chExt cx="952500" cy="952500"/>
            </a:xfrm>
          </p:grpSpPr>
          <p:sp>
            <p:nvSpPr>
              <p:cNvPr id="321" name="Google Shape;321;p22"/>
              <p:cNvSpPr/>
              <p:nvPr/>
            </p:nvSpPr>
            <p:spPr>
              <a:xfrm>
                <a:off x="0" y="0"/>
                <a:ext cx="952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22"/>
              <p:cNvSpPr txBox="1"/>
              <p:nvPr/>
            </p:nvSpPr>
            <p:spPr>
              <a:xfrm>
                <a:off x="0" y="0"/>
                <a:ext cx="952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2600" b="1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1-3م</a:t>
                </a:r>
                <a:endParaRPr kumimoji="0" sz="26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850" b="1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عمق الاختراق</a:t>
                </a:r>
                <a:endParaRPr kumimoji="0" sz="8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323" name="Google Shape;323;p22"/>
            <p:cNvSpPr txBox="1"/>
            <p:nvPr/>
          </p:nvSpPr>
          <p:spPr>
            <a:xfrm>
              <a:off x="1285875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عمق الاختراق الراداري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الوصول إلى 1 - 3 أمتار تحت السطح الرملي للكشف عن الهياكل والمعالم الأثرية المدفونة بكفاءة فائقة.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24" name="Google Shape;324;p22"/>
          <p:cNvGrpSpPr/>
          <p:nvPr/>
        </p:nvGrpSpPr>
        <p:grpSpPr>
          <a:xfrm>
            <a:off x="381000" y="1524000"/>
            <a:ext cx="4000500" cy="1428900"/>
            <a:chOff x="0" y="0"/>
            <a:chExt cx="4000500" cy="1428900"/>
          </a:xfrm>
        </p:grpSpPr>
        <p:sp>
          <p:nvSpPr>
            <p:cNvPr id="325" name="Google Shape;325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27" name="Google Shape;327;p22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328" name="Google Shape;328;p22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22"/>
              <p:cNvSpPr/>
              <p:nvPr/>
            </p:nvSpPr>
            <p:spPr>
              <a:xfrm>
                <a:off x="95250" y="952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60000" y="0"/>
                    </a:lnTo>
                    <a:lnTo>
                      <a:pt x="120000" y="60000"/>
                    </a:lnTo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" name="Google Shape;330;p22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سرعة المسح الفضائي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إمكانية مسح آلاف الكيلومترات المربعة في دقائق معدودة، مما يختصر سنوات من العمل الميداني التقليدي.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31" name="Google Shape;331;p22"/>
          <p:cNvGrpSpPr/>
          <p:nvPr/>
        </p:nvGrpSpPr>
        <p:grpSpPr>
          <a:xfrm>
            <a:off x="4762500" y="3095625"/>
            <a:ext cx="4000500" cy="1428900"/>
            <a:chOff x="0" y="0"/>
            <a:chExt cx="4000500" cy="1428900"/>
          </a:xfrm>
        </p:grpSpPr>
        <p:sp>
          <p:nvSpPr>
            <p:cNvPr id="332" name="Google Shape;332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4300" cap="flat" cmpd="sng">
              <a:solidFill>
                <a:srgbClr val="8B5A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8B5A2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34" name="Google Shape;334;p22"/>
            <p:cNvGrpSpPr/>
            <p:nvPr/>
          </p:nvGrpSpPr>
          <p:grpSpPr>
            <a:xfrm>
              <a:off x="190500" y="238125"/>
              <a:ext cx="952500" cy="952500"/>
              <a:chOff x="0" y="0"/>
              <a:chExt cx="952500" cy="952500"/>
            </a:xfrm>
          </p:grpSpPr>
          <p:sp>
            <p:nvSpPr>
              <p:cNvPr id="335" name="Google Shape;335;p22"/>
              <p:cNvSpPr/>
              <p:nvPr/>
            </p:nvSpPr>
            <p:spPr>
              <a:xfrm>
                <a:off x="0" y="0"/>
                <a:ext cx="952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2"/>
              <p:cNvSpPr txBox="1"/>
              <p:nvPr/>
            </p:nvSpPr>
            <p:spPr>
              <a:xfrm>
                <a:off x="0" y="0"/>
                <a:ext cx="952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92%</a:t>
                </a:r>
                <a:endParaRPr kumimoji="0" sz="28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850" b="1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دقة التنبؤ</a:t>
                </a:r>
                <a:endParaRPr kumimoji="0" sz="8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337" name="Google Shape;337;p22"/>
            <p:cNvSpPr txBox="1"/>
            <p:nvPr/>
          </p:nvSpPr>
          <p:spPr>
            <a:xfrm>
              <a:off x="1285875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دقة التنبؤ بالمواقع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8B5A2B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تحقيق نسبة 92% في دقة التنبؤ بمواقع المدافن والمستوطنات الأثرية غير المكتشفة سابقاً.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38" name="Google Shape;338;p22"/>
          <p:cNvGrpSpPr/>
          <p:nvPr/>
        </p:nvGrpSpPr>
        <p:grpSpPr>
          <a:xfrm>
            <a:off x="381000" y="3095625"/>
            <a:ext cx="4000500" cy="1428900"/>
            <a:chOff x="0" y="0"/>
            <a:chExt cx="4000500" cy="1428900"/>
          </a:xfrm>
        </p:grpSpPr>
        <p:sp>
          <p:nvSpPr>
            <p:cNvPr id="339" name="Google Shape;339;p2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0D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41" name="Google Shape;341;p22"/>
            <p:cNvGrpSpPr/>
            <p:nvPr/>
          </p:nvGrpSpPr>
          <p:grpSpPr>
            <a:xfrm>
              <a:off x="2857500" y="238125"/>
              <a:ext cx="952500" cy="952500"/>
              <a:chOff x="0" y="0"/>
              <a:chExt cx="952500" cy="952500"/>
            </a:xfrm>
          </p:grpSpPr>
          <p:sp>
            <p:nvSpPr>
              <p:cNvPr id="342" name="Google Shape;342;p22"/>
              <p:cNvSpPr/>
              <p:nvPr/>
            </p:nvSpPr>
            <p:spPr>
              <a:xfrm>
                <a:off x="0" y="0"/>
                <a:ext cx="952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DFCF0"/>
              </a:solidFill>
              <a:ln w="9525" cap="flat" cmpd="sng">
                <a:solidFill>
                  <a:srgbClr val="E0DDB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22"/>
              <p:cNvSpPr txBox="1"/>
              <p:nvPr/>
            </p:nvSpPr>
            <p:spPr>
              <a:xfrm>
                <a:off x="0" y="0"/>
                <a:ext cx="952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Cairo"/>
                    <a:ea typeface="Cairo"/>
                    <a:cs typeface="Cairo"/>
                    <a:sym typeface="Cairo"/>
                  </a:rPr>
                  <a:t>صفر</a:t>
                </a:r>
                <a:endParaRPr kumimoji="0" sz="280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endParaRPr>
              </a:p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850" b="1" i="0" u="none" strike="noStrike" kern="0" cap="none" spc="0" normalizeH="0" baseline="0" noProof="0">
                    <a:ln>
                      <a:noFill/>
                    </a:ln>
                    <a:solidFill>
                      <a:srgbClr val="8B5A2B"/>
                    </a:solidFill>
                    <a:effectLst/>
                    <a:uLnTx/>
                    <a:uFillTx/>
                    <a:latin typeface="Tajawal"/>
                    <a:ea typeface="Tajawal"/>
                    <a:cs typeface="Tajawal"/>
                    <a:sym typeface="Tajawal"/>
                  </a:rPr>
                  <a:t>حفريات عشوائية</a:t>
                </a:r>
                <a:endParaRPr kumimoji="0" sz="850" b="1" i="0" u="none" strike="noStrike" kern="0" cap="none" spc="0" normalizeH="0" baseline="0" noProof="0">
                  <a:ln>
                    <a:noFill/>
                  </a:ln>
                  <a:solidFill>
                    <a:srgbClr val="8B5A2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344" name="Google Shape;344;p22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50" b="1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الكفاءة الميدانية العالية</a:t>
              </a:r>
              <a:endParaRPr kumimoji="0" sz="1350" b="1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0" i="0" u="none" strike="noStrike" kern="0" cap="none" spc="0" normalizeH="0" baseline="0" noProof="0">
                  <a:ln>
                    <a:noFill/>
                  </a:ln>
                  <a:solidFill>
                    <a:srgbClr val="5C403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الوصول إلى صفر حفريات عشوائية هدامة بفضل التوجيه الدقيق والمسبق لفرق التنقيب الأثري.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5C403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345" name="Google Shape;345;p22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8389150" y="542763"/>
            <a:ext cx="342900" cy="342900"/>
            <a:chOff x="19050" y="19050"/>
            <a:chExt cx="342900" cy="342900"/>
          </a:xfrm>
        </p:grpSpPr>
        <p:sp>
          <p:nvSpPr>
            <p:cNvPr id="56" name="Google Shape;56;p14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950" y="1499875"/>
            <a:ext cx="4572000" cy="2571900"/>
          </a:xfrm>
          <a:prstGeom prst="roundRect">
            <a:avLst>
              <a:gd name="adj" fmla="val 4444"/>
            </a:avLst>
          </a:prstGeom>
          <a:noFill/>
          <a:ln>
            <a:noFill/>
          </a:ln>
        </p:spPr>
      </p:pic>
      <p:grpSp>
        <p:nvGrpSpPr>
          <p:cNvPr id="60" name="Google Shape;60;p14"/>
          <p:cNvGrpSpPr/>
          <p:nvPr/>
        </p:nvGrpSpPr>
        <p:grpSpPr>
          <a:xfrm>
            <a:off x="5143500" y="1446378"/>
            <a:ext cx="3619500" cy="3239631"/>
            <a:chOff x="5143500" y="1446375"/>
            <a:chExt cx="3619500" cy="3030525"/>
          </a:xfrm>
        </p:grpSpPr>
        <p:sp>
          <p:nvSpPr>
            <p:cNvPr id="61" name="Google Shape;61;p14"/>
            <p:cNvSpPr txBox="1"/>
            <p:nvPr/>
          </p:nvSpPr>
          <p:spPr>
            <a:xfrm>
              <a:off x="5143500" y="1446375"/>
              <a:ext cx="3619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6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الصيانة التنبؤية وحماية التراث الأثري</a:t>
              </a:r>
              <a:endParaRPr kumimoji="0" sz="26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000" b="1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من مخاطر المناخ والزمن</a:t>
              </a:r>
              <a:endParaRPr kumimoji="0" sz="20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8001000" y="27622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5143500" y="3019425"/>
              <a:ext cx="361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0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 SemiBold"/>
                  <a:ea typeface="Cairo SemiBold"/>
                  <a:cs typeface="Cairo SemiBold"/>
                  <a:sym typeface="Cairo SemiBold"/>
                </a:rPr>
                <a:t>الرصد رباعي الأبعاد (4D Monitoring)</a:t>
              </a:r>
              <a:endParaRPr kumimoji="0" sz="1500" b="0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00" b="0" i="0" u="none" strike="noStrike" kern="0" cap="none" spc="0" normalizeH="0" baseline="0" noProof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Cairo Medium"/>
                  <a:ea typeface="Cairo Medium"/>
                  <a:cs typeface="Cairo Medium"/>
                  <a:sym typeface="Cairo Medium"/>
                </a:rPr>
                <a:t>وإدارة المخاطر </a:t>
              </a:r>
              <a:endParaRPr kumimoji="0" sz="13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iro Medium"/>
                <a:ea typeface="Cairo Medium"/>
                <a:cs typeface="Cairo Medium"/>
                <a:sym typeface="Cairo Medium"/>
              </a:endParaRPr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5143500" y="40005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pic>
        <p:nvPicPr>
          <p:cNvPr id="65" name="Google Shape;65;p14" title="SAA Logo V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439" y="230019"/>
            <a:ext cx="2705623" cy="96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5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71" name="Google Shape;71;p15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15"/>
          <p:cNvSpPr txBox="1"/>
          <p:nvPr/>
        </p:nvSpPr>
        <p:spPr>
          <a:xfrm>
            <a:off x="381000" y="209550"/>
            <a:ext cx="8001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05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81000" y="523875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2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نحو التحول إلى الصيانة التنبؤية (Predictive Conservation)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8001000" y="100012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302825" y="1190625"/>
            <a:ext cx="4000500" cy="2714700"/>
            <a:chOff x="0" y="0"/>
            <a:chExt cx="4000500" cy="27147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0"/>
              <a:ext cx="4000500" cy="2714700"/>
            </a:xfrm>
            <a:prstGeom prst="roundRect">
              <a:avLst>
                <a:gd name="adj" fmla="val 4210"/>
              </a:avLst>
            </a:prstGeom>
            <a:solidFill>
              <a:srgbClr val="FFFFFF"/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0" y="0"/>
              <a:ext cx="4000500" cy="457200"/>
            </a:xfrm>
            <a:prstGeom prst="roundRect">
              <a:avLst>
                <a:gd name="adj" fmla="val 25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0" y="314325"/>
              <a:ext cx="4000500" cy="1428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142875" y="76200"/>
              <a:ext cx="3714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المراقبة الذكية المعاصرة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190500" y="571500"/>
              <a:ext cx="3619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الرصد المبكر الدقيق:</a:t>
              </a:r>
              <a:endParaRPr kumimoji="0" sz="115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تعتمد على رصد الإزاحات المليمترية الدقيقة في مهدها الأول، مما يتيح توقع مسار الانهيار قبل حدوثه بعامين كاملين.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90500" y="1571625"/>
              <a:ext cx="3619500" cy="952500"/>
            </a:xfrm>
            <a:prstGeom prst="roundRect">
              <a:avLst>
                <a:gd name="adj" fmla="val 8000"/>
              </a:avLst>
            </a:prstGeom>
            <a:solidFill>
              <a:srgbClr val="F0FDF4"/>
            </a:solidFill>
            <a:ln w="9525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285750" y="1647825"/>
              <a:ext cx="3429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الكفاءة المالية والأثر الاستراتيجي: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يساهم هذا التحول نحو المعالجة الوقائية في خفض تكاليف ميزانيات الترميم والصيانة بنسبة تفوق </a:t>
              </a:r>
              <a:r>
                <a:rPr kumimoji="0" lang="en" sz="12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65%</a:t>
              </a: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، مع ضمان حماية استدامة المعالم التاريخية.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4400550" y="2305050"/>
            <a:ext cx="342900" cy="342900"/>
            <a:chOff x="19050" y="-171450"/>
            <a:chExt cx="342900" cy="342900"/>
          </a:xfrm>
        </p:grpSpPr>
        <p:sp>
          <p:nvSpPr>
            <p:cNvPr id="86" name="Google Shape;86;p15"/>
            <p:cNvSpPr/>
            <p:nvPr/>
          </p:nvSpPr>
          <p:spPr>
            <a:xfrm>
              <a:off x="19050" y="-1714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14300" y="-57150"/>
              <a:ext cx="1428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8000" y="60000"/>
                  </a:lnTo>
                  <a:moveTo>
                    <a:pt x="48000" y="0"/>
                  </a:moveTo>
                  <a:lnTo>
                    <a:pt x="0" y="60000"/>
                  </a:lnTo>
                  <a:lnTo>
                    <a:pt x="4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4840675" y="1190625"/>
            <a:ext cx="3810000" cy="2714700"/>
            <a:chOff x="0" y="0"/>
            <a:chExt cx="3810000" cy="2714700"/>
          </a:xfrm>
        </p:grpSpPr>
        <p:sp>
          <p:nvSpPr>
            <p:cNvPr id="89" name="Google Shape;89;p15"/>
            <p:cNvSpPr/>
            <p:nvPr/>
          </p:nvSpPr>
          <p:spPr>
            <a:xfrm>
              <a:off x="0" y="0"/>
              <a:ext cx="3810000" cy="2714700"/>
            </a:xfrm>
            <a:prstGeom prst="roundRect">
              <a:avLst>
                <a:gd name="adj" fmla="val 4210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0" y="0"/>
              <a:ext cx="3810000" cy="457200"/>
            </a:xfrm>
            <a:prstGeom prst="roundRect">
              <a:avLst>
                <a:gd name="adj" fmla="val 25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0" y="314325"/>
              <a:ext cx="3810000" cy="1428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142875" y="76200"/>
              <a:ext cx="352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الترميم العلاجي الكلاسيكي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190500" y="571500"/>
              <a:ext cx="34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1" i="0" u="none" strike="noStrike" kern="0" cap="none" spc="0" normalizeH="0" baseline="0" noProof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النهج التقليدي التفاعلي:</a:t>
              </a:r>
              <a:endParaRPr kumimoji="0" sz="1150" b="1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يمثل تدخلاً متأخراً ومكلفاً مالياً، حيث يتم عادة بعد حدوث التصدع الكبير أو انهيار الحجارة في المواقع الأثرية.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00" b="0" i="0" u="none" strike="noStrike" kern="0" cap="none" spc="0" normalizeH="0" baseline="0" noProof="0">
                  <a:ln>
                    <a:noFill/>
                  </a:ln>
                  <a:solidFill>
                    <a:srgbClr val="991B1B"/>
                  </a:solidFill>
                  <a:effectLst/>
                  <a:highlight>
                    <a:srgbClr val="FEF2F2"/>
                  </a:highlight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مخاطر التكلفة العالية والاستجابة المتأخرة للأضرار الهيكلية.</a:t>
              </a: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991B1B"/>
                </a:solidFill>
                <a:effectLst/>
                <a:highlight>
                  <a:srgbClr val="FEF2F2"/>
                </a:highlight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381000" y="4143375"/>
            <a:ext cx="8382000" cy="571500"/>
            <a:chOff x="0" y="0"/>
            <a:chExt cx="8382000" cy="5715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name="adj" fmla="val 13333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190500" y="76200"/>
              <a:ext cx="8001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 SemiBold"/>
                  <a:ea typeface="Cairo SemiBold"/>
                  <a:cs typeface="Cairo SemiBold"/>
                  <a:sym typeface="Cairo SemiBold"/>
                </a:rPr>
                <a:t>التحول الاستراتيجي نحو الصيانة التنبؤية يعزز الكفاءة التشغيلية ويصون التراث الحضاري للشارقة</a:t>
              </a: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 SemiBold"/>
                <a:ea typeface="Cairo SemiBold"/>
                <a:cs typeface="Cairo SemiBold"/>
                <a:sym typeface="Cairo SemiBold"/>
              </a:endParaRPr>
            </a:p>
          </p:txBody>
        </p:sp>
      </p:grpSp>
      <p:sp>
        <p:nvSpPr>
          <p:cNvPr id="97" name="Google Shape;97;p15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6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03" name="Google Shape;103;p16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16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05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81000" y="571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035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الرصد الزمني الدقيق: مقارنة السحب النقطية (Point Cloud Comparison)</a:t>
            </a:r>
            <a:endParaRPr kumimoji="0" sz="2035" b="1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8001000" y="109537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09" name="Google Shape;109;p16"/>
          <p:cNvGrpSpPr/>
          <p:nvPr/>
        </p:nvGrpSpPr>
        <p:grpSpPr>
          <a:xfrm>
            <a:off x="381000" y="1476375"/>
            <a:ext cx="8382150" cy="3048000"/>
            <a:chOff x="381000" y="142875"/>
            <a:chExt cx="8382150" cy="3048000"/>
          </a:xfrm>
        </p:grpSpPr>
        <p:pic>
          <p:nvPicPr>
            <p:cNvPr id="110" name="Google Shape;110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142875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6"/>
            <p:cNvSpPr txBox="1"/>
            <p:nvPr/>
          </p:nvSpPr>
          <p:spPr>
            <a:xfrm>
              <a:off x="4476750" y="142875"/>
              <a:ext cx="42864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آلية العمل: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إجراء مسحين ثلاثيي الأبعاد للموقع التاريخي بفارق زمني محدد، مثل توثيق الحالة قبل موسم الأمطار وبعده لتقييم التأثيرات المناخية.</a:t>
              </a:r>
              <a:endParaRPr kumimoji="0" sz="115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التحليل الخوارزمي: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تطبيق خوارزمية M3C2 المتقدمة في برنامج CloudCompare لحساب الفروق الحجمية المتعامدة على الأسطح الأثرية بدقة متناهية.</a:t>
              </a:r>
              <a:endParaRPr kumimoji="0" sz="115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الاكتشاف المبكر: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الكشف التلقائي عن فقدان الملاط، تآكل الحجارة اللبنة، زحف الرمال، أو ميول الجدران بدقة تصل إلى 0.5 ملم.</a:t>
              </a:r>
              <a:endParaRPr kumimoji="0" sz="115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112" name="Google Shape;112;p16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7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18" name="Google Shape;118;p17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17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05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81000" y="571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2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الفحص الآلي للتشققات (Automated Crack Segmentation)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8001000" y="109537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24" name="Google Shape;124;p17"/>
          <p:cNvGrpSpPr/>
          <p:nvPr/>
        </p:nvGrpSpPr>
        <p:grpSpPr>
          <a:xfrm>
            <a:off x="6286500" y="1428750"/>
            <a:ext cx="2476500" cy="3143400"/>
            <a:chOff x="0" y="0"/>
            <a:chExt cx="2476500" cy="3143400"/>
          </a:xfrm>
        </p:grpSpPr>
        <p:sp>
          <p:nvSpPr>
            <p:cNvPr id="125" name="Google Shape;125;p17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0" y="284861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200" b="0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model_training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190500" y="762000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تدريب النماذج</a:t>
              </a: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85750" y="1143000"/>
              <a:ext cx="1905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90500" y="1285875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الاعتماد على تدريب نماذج التجزئة الدلالية (Semantic Segmentation) للتعرف الدقيق على الشروخ الإنشائية في صور القلاع والأسوار التاريخية.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3333750" y="1428750"/>
            <a:ext cx="2476500" cy="3143400"/>
            <a:chOff x="0" y="0"/>
            <a:chExt cx="2476500" cy="3143400"/>
          </a:xfrm>
        </p:grpSpPr>
        <p:sp>
          <p:nvSpPr>
            <p:cNvPr id="132" name="Google Shape;132;p17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0" y="284861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200" b="0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straighten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190500" y="762000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القياس اللحظي</a:t>
              </a: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285750" y="1143000"/>
              <a:ext cx="1905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190500" y="1285875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توفير قياس آلي ولحظي لطول الشروخ، وأقصى اتساع لها، وحساب نسبتها المئوية من مساحة الواجهة الكلية للمبنى.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38" name="Google Shape;138;p17"/>
          <p:cNvGrpSpPr/>
          <p:nvPr/>
        </p:nvGrpSpPr>
        <p:grpSpPr>
          <a:xfrm>
            <a:off x="381000" y="1428750"/>
            <a:ext cx="2476500" cy="3143400"/>
            <a:chOff x="0" y="0"/>
            <a:chExt cx="2476500" cy="3143400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0" y="284861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200" b="0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category</a:t>
              </a: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190500" y="762000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التصنيف الذكي</a:t>
              </a: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285750" y="1143000"/>
              <a:ext cx="1905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190500" y="1285875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تصنيف أصل التصدع لفهم المسببات، سواء كانت شروخاً حرارية سطحية، أو شروخ إجهاد ناتجة عن هبوط الأساسات، أو تصدعات ناجمة عن الرطوبة وتراكم الأملاح.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45" name="Google Shape;145;p17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8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51" name="Google Shape;151;p18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18"/>
          <p:cNvSpPr txBox="1"/>
          <p:nvPr/>
        </p:nvSpPr>
        <p:spPr>
          <a:xfrm>
            <a:off x="381000" y="2095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05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381000" y="5524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2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المراقبة الذكية للقى الأثرية داخل المخازن وصالات العرض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80010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57" name="Google Shape;157;p18"/>
          <p:cNvGrpSpPr/>
          <p:nvPr/>
        </p:nvGrpSpPr>
        <p:grpSpPr>
          <a:xfrm>
            <a:off x="381000" y="1238250"/>
            <a:ext cx="8382150" cy="1000200"/>
            <a:chOff x="0" y="0"/>
            <a:chExt cx="8382150" cy="1000200"/>
          </a:xfrm>
        </p:grpSpPr>
        <p:sp>
          <p:nvSpPr>
            <p:cNvPr id="158" name="Google Shape;158;p18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8324850" y="0"/>
              <a:ext cx="57300" cy="10002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7753350" y="285750"/>
              <a:ext cx="419100" cy="419100"/>
            </a:xfrm>
            <a:prstGeom prst="roundRect">
              <a:avLst>
                <a:gd name="adj" fmla="val 18181"/>
              </a:avLst>
            </a:prstGeom>
            <a:solidFill>
              <a:srgbClr val="B23A22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7753350" y="320802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0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6191250" y="20955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رصد المعادن</a:t>
              </a: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00" b="0" i="0" u="none" strike="noStrike" kern="0" cap="none" spc="0" normalizeH="0" baseline="0" noProof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Bronze Disease</a:t>
              </a: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cxnSp>
          <p:nvCxnSpPr>
            <p:cNvPr id="163" name="Google Shape;163;p18"/>
            <p:cNvCxnSpPr/>
            <p:nvPr/>
          </p:nvCxnSpPr>
          <p:spPr>
            <a:xfrm>
              <a:off x="6048375" y="190500"/>
              <a:ext cx="0" cy="6192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" name="Google Shape;164;p18"/>
            <p:cNvSpPr txBox="1"/>
            <p:nvPr/>
          </p:nvSpPr>
          <p:spPr>
            <a:xfrm>
              <a:off x="285750" y="142875"/>
              <a:ext cx="5524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التتبع التلقائي لتغير لون المعادن والاكتشاف المبكر لظهور </a:t>
              </a:r>
              <a:r>
                <a:rPr kumimoji="0" lang="en" sz="115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"مرض البرونز" (Bronze Disease)</a:t>
              </a: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 المدمر على المسكوكات والتحف النحاسية.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65" name="Google Shape;165;p18"/>
          <p:cNvGrpSpPr/>
          <p:nvPr/>
        </p:nvGrpSpPr>
        <p:grpSpPr>
          <a:xfrm>
            <a:off x="381000" y="2381250"/>
            <a:ext cx="8382150" cy="1000200"/>
            <a:chOff x="0" y="0"/>
            <a:chExt cx="8382150" cy="1000200"/>
          </a:xfrm>
        </p:grpSpPr>
        <p:sp>
          <p:nvSpPr>
            <p:cNvPr id="166" name="Google Shape;166;p18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8324850" y="0"/>
              <a:ext cx="57300" cy="10002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7753350" y="285750"/>
              <a:ext cx="419100" cy="419100"/>
            </a:xfrm>
            <a:prstGeom prst="roundRect">
              <a:avLst>
                <a:gd name="adj" fmla="val 18181"/>
              </a:avLst>
            </a:prstGeom>
            <a:solidFill>
              <a:srgbClr val="D97706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7753350" y="320802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0" i="0" u="none" strike="noStrike" kern="0" cap="none" spc="0" normalizeH="0" baseline="0" noProof="0">
                  <a:ln>
                    <a:noFill/>
                  </a:ln>
                  <a:solidFill>
                    <a:srgbClr val="D97706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center_focus_strong</a:t>
              </a: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6191250" y="20955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1" i="0" u="none" strike="noStrike" kern="0" cap="none" spc="0" normalizeH="0" baseline="0" noProof="0">
                  <a:ln>
                    <a:noFill/>
                  </a:ln>
                  <a:solidFill>
                    <a:srgbClr val="D97706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فحص الفخاريات</a:t>
              </a: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00" b="0" i="0" u="none" strike="noStrike" kern="0" cap="none" spc="0" normalizeH="0" baseline="0" noProof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Computer Vision</a:t>
              </a: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cxnSp>
          <p:nvCxnSpPr>
            <p:cNvPr id="171" name="Google Shape;171;p18"/>
            <p:cNvCxnSpPr/>
            <p:nvPr/>
          </p:nvCxnSpPr>
          <p:spPr>
            <a:xfrm>
              <a:off x="6048375" y="190500"/>
              <a:ext cx="0" cy="6192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2" name="Google Shape;172;p18"/>
            <p:cNvSpPr txBox="1"/>
            <p:nvPr/>
          </p:nvSpPr>
          <p:spPr>
            <a:xfrm>
              <a:off x="285750" y="142875"/>
              <a:ext cx="5524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تتبع تقشر طبقات التزجيج على الأواني الفخارية وتكون الأملاح السطحية باستخدام </a:t>
              </a:r>
              <a:r>
                <a:rPr kumimoji="0" lang="en" sz="1150" b="1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أنظمة الرؤية الحاسوبية الدورية</a:t>
              </a: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381000" y="3524250"/>
            <a:ext cx="8382150" cy="1000200"/>
            <a:chOff x="0" y="0"/>
            <a:chExt cx="8382150" cy="1000200"/>
          </a:xfrm>
        </p:grpSpPr>
        <p:sp>
          <p:nvSpPr>
            <p:cNvPr id="174" name="Google Shape;174;p18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8324850" y="0"/>
              <a:ext cx="57300" cy="1000200"/>
            </a:xfrm>
            <a:prstGeom prst="roundRect">
              <a:avLst>
                <a:gd name="adj" fmla="val 5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7753350" y="285750"/>
              <a:ext cx="419100" cy="419100"/>
            </a:xfrm>
            <a:prstGeom prst="roundRect">
              <a:avLst>
                <a:gd name="adj" fmla="val 18181"/>
              </a:avLst>
            </a:prstGeom>
            <a:solidFill>
              <a:srgbClr val="2C5E43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7753350" y="320802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0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notifications_active</a:t>
              </a: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6191250" y="20955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388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الاستجابة الفورية</a:t>
              </a:r>
              <a:endParaRPr kumimoji="0" sz="1388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925" b="0" i="0" u="none" strike="noStrike" kern="0" cap="none" spc="0" normalizeH="0" baseline="0" noProof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Automated Intervention</a:t>
              </a:r>
              <a:endParaRPr kumimoji="0" sz="925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cxnSp>
          <p:nvCxnSpPr>
            <p:cNvPr id="179" name="Google Shape;179;p18"/>
            <p:cNvCxnSpPr/>
            <p:nvPr/>
          </p:nvCxnSpPr>
          <p:spPr>
            <a:xfrm>
              <a:off x="6048375" y="190500"/>
              <a:ext cx="0" cy="6192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0" name="Google Shape;180;p18"/>
            <p:cNvSpPr txBox="1"/>
            <p:nvPr/>
          </p:nvSpPr>
          <p:spPr>
            <a:xfrm>
              <a:off x="285750" y="142875"/>
              <a:ext cx="5524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إرسال تنبيهات فورية لأمناء المتاحف بضرورة </a:t>
              </a:r>
              <a:r>
                <a:rPr kumimoji="0" lang="en" sz="115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التدخل الكيميائي السريع</a:t>
              </a: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 أو عزل القطعة الأثرية المتضررة في بيئة محكومة النيتروجين لمنع تفاقم التلف.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81" name="Google Shape;181;p18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87" name="Google Shape;187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88" name="Google Shape;188;p19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89" name="Google Shape;189;p19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2C5E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9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2C5E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9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2C5E4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" name="Google Shape;192;p19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Tajawal Medium"/>
                  <a:ea typeface="Tajawal Medium"/>
                  <a:cs typeface="Tajawal Medium"/>
                  <a:sym typeface="Tajawal Medium"/>
                </a:rPr>
                <a:t>الصيانة التنبؤية وحماية التراث | هيئة الشارقة للآثار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8001000" y="109537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381000" y="4886325"/>
              <a:ext cx="8382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19"/>
          <p:cNvSpPr txBox="1"/>
          <p:nvPr/>
        </p:nvSpPr>
        <p:spPr>
          <a:xfrm>
            <a:off x="381000" y="5715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مجابهة التهديدات البيئية وفق معايير مشروع </a:t>
            </a:r>
            <a:r>
              <a:rPr kumimoji="0" lang="en" sz="2400" b="1" i="0" u="sng" strike="noStrike" kern="0" cap="none" spc="0" normalizeH="0" baseline="0" noProof="0">
                <a:ln>
                  <a:noFill/>
                </a:ln>
                <a:solidFill>
                  <a:srgbClr val="0097A7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  <a:hlinkClick r:id="rId3"/>
              </a:rPr>
              <a:t>EAMENA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196" name="Google Shape;196;p19"/>
          <p:cNvGrpSpPr/>
          <p:nvPr/>
        </p:nvGrpSpPr>
        <p:grpSpPr>
          <a:xfrm>
            <a:off x="6286500" y="1524000"/>
            <a:ext cx="2476500" cy="3048000"/>
            <a:chOff x="0" y="0"/>
            <a:chExt cx="2476500" cy="3048000"/>
          </a:xfrm>
        </p:grpSpPr>
        <p:sp>
          <p:nvSpPr>
            <p:cNvPr id="197" name="Google Shape;197;p19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0" y="0"/>
              <a:ext cx="2476500" cy="666900"/>
            </a:xfrm>
            <a:prstGeom prst="roundRect">
              <a:avLst>
                <a:gd name="adj" fmla="val 11428"/>
              </a:avLst>
            </a:prstGeom>
            <a:solidFill>
              <a:srgbClr val="2C5E43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0" y="147828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600" b="0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water</a:t>
              </a: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142875" y="80962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المخاطر الهيدرولوجية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نمذجة مخاطر السيول ومجاري الوديان الجارفة وتقييم تأثيرها المباشر على المواقع الأثرية المفتوحة في إمارة الشارقة.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02" name="Google Shape;202;p19"/>
          <p:cNvGrpSpPr/>
          <p:nvPr/>
        </p:nvGrpSpPr>
        <p:grpSpPr>
          <a:xfrm>
            <a:off x="3333750" y="1524000"/>
            <a:ext cx="2476500" cy="3048000"/>
            <a:chOff x="0" y="0"/>
            <a:chExt cx="2476500" cy="3048000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0" y="0"/>
              <a:ext cx="2476500" cy="666900"/>
            </a:xfrm>
            <a:prstGeom prst="roundRect">
              <a:avLst>
                <a:gd name="adj" fmla="val 11428"/>
              </a:avLst>
            </a:prstGeom>
            <a:solidFill>
              <a:srgbClr val="2C5E43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0" y="147828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600" b="0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air</a:t>
              </a: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142875" y="80962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التعرية الريحية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تتبع زحف الكثبان الرملية وتأثير الرياح السافي (Sand Abrasion) على تسريع وتيرة تآكل النقوش الصخرية التاريخية.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381000" y="1524000"/>
            <a:ext cx="2476500" cy="3048000"/>
            <a:chOff x="0" y="0"/>
            <a:chExt cx="2476500" cy="3048000"/>
          </a:xfrm>
        </p:grpSpPr>
        <p:sp>
          <p:nvSpPr>
            <p:cNvPr id="209" name="Google Shape;209;p19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0" y="0"/>
              <a:ext cx="2476500" cy="666900"/>
            </a:xfrm>
            <a:prstGeom prst="roundRect">
              <a:avLst>
                <a:gd name="adj" fmla="val 11428"/>
              </a:avLst>
            </a:prstGeom>
            <a:solidFill>
              <a:srgbClr val="2C5E43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0" y="147828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3600" b="0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kumimoji="0" sz="360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142875" y="80962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التقارير المؤتمتة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أتمتة إصدار تقارير تقييم التهديدات البيئية لتحديد المواقع ذات الأولوية القصوى التي تتطلب خطط حماية عاجلة وتدخلات وقائية صارمة.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20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219" name="Google Shape;219;p20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20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05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381000" y="52387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مصفوفة الاستجابة والتدخل السريع لفرق الترميم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8001000" y="10668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25" name="Google Shape;225;p20"/>
          <p:cNvGrpSpPr/>
          <p:nvPr/>
        </p:nvGrpSpPr>
        <p:grpSpPr>
          <a:xfrm>
            <a:off x="5715000" y="1428750"/>
            <a:ext cx="3048000" cy="714300"/>
            <a:chOff x="0" y="0"/>
            <a:chExt cx="3048000" cy="714300"/>
          </a:xfrm>
        </p:grpSpPr>
        <p:sp>
          <p:nvSpPr>
            <p:cNvPr id="226" name="Google Shape;226;p20"/>
            <p:cNvSpPr/>
            <p:nvPr/>
          </p:nvSpPr>
          <p:spPr>
            <a:xfrm>
              <a:off x="0" y="0"/>
              <a:ext cx="3048000" cy="714300"/>
            </a:xfrm>
            <a:prstGeom prst="roundRect">
              <a:avLst>
                <a:gd name="adj" fmla="val 10666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0"/>
            <p:cNvSpPr txBox="1"/>
            <p:nvPr/>
          </p:nvSpPr>
          <p:spPr>
            <a:xfrm>
              <a:off x="95250" y="95250"/>
              <a:ext cx="285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المستوى الأحمر (تدخل عاجل)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28" name="Google Shape;228;p20"/>
          <p:cNvSpPr txBox="1"/>
          <p:nvPr/>
        </p:nvSpPr>
        <p:spPr>
          <a:xfrm>
            <a:off x="381000" y="1428750"/>
            <a:ext cx="50484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المؤشر:</a:t>
            </a: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 ينذر بوجود ميول هيكلي خطير أو شروخ نافذة متسارعة.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الإجراء الفوري:</a:t>
            </a: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 إيقاف الزيارات وتدخل فريق الترميم بشكل عاجل.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229" name="Google Shape;229;p20"/>
          <p:cNvGrpSpPr/>
          <p:nvPr/>
        </p:nvGrpSpPr>
        <p:grpSpPr>
          <a:xfrm>
            <a:off x="5715000" y="2381250"/>
            <a:ext cx="3048000" cy="714300"/>
            <a:chOff x="0" y="0"/>
            <a:chExt cx="3048000" cy="714300"/>
          </a:xfrm>
        </p:grpSpPr>
        <p:sp>
          <p:nvSpPr>
            <p:cNvPr id="230" name="Google Shape;230;p20"/>
            <p:cNvSpPr/>
            <p:nvPr/>
          </p:nvSpPr>
          <p:spPr>
            <a:xfrm>
              <a:off x="0" y="0"/>
              <a:ext cx="3048000" cy="714300"/>
            </a:xfrm>
            <a:prstGeom prst="roundRect">
              <a:avLst>
                <a:gd name="adj" fmla="val 10666"/>
              </a:avLst>
            </a:prstGeom>
            <a:solidFill>
              <a:srgbClr val="D9770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95250" y="95250"/>
              <a:ext cx="285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المستوى الأصفر (مراقبة مشددة)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32" name="Google Shape;232;p20"/>
          <p:cNvSpPr txBox="1"/>
          <p:nvPr/>
        </p:nvSpPr>
        <p:spPr>
          <a:xfrm>
            <a:off x="381000" y="2381250"/>
            <a:ext cx="50484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1" i="0" u="none" strike="noStrike" kern="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المؤشر:</a:t>
            </a: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 يدل على اتساع طفيف في الشروخ أو رصد رطوبة متزايدة.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1" i="0" u="none" strike="noStrike" kern="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الإجراء المطلوب:</a:t>
            </a: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 تكثيف الفحص الميداني ليصبح كل 3 أشهر.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233" name="Google Shape;233;p20"/>
          <p:cNvGrpSpPr/>
          <p:nvPr/>
        </p:nvGrpSpPr>
        <p:grpSpPr>
          <a:xfrm>
            <a:off x="5715000" y="3333750"/>
            <a:ext cx="3048000" cy="714300"/>
            <a:chOff x="0" y="0"/>
            <a:chExt cx="3048000" cy="714300"/>
          </a:xfrm>
        </p:grpSpPr>
        <p:sp>
          <p:nvSpPr>
            <p:cNvPr id="234" name="Google Shape;234;p20"/>
            <p:cNvSpPr/>
            <p:nvPr/>
          </p:nvSpPr>
          <p:spPr>
            <a:xfrm>
              <a:off x="0" y="0"/>
              <a:ext cx="3048000" cy="714300"/>
            </a:xfrm>
            <a:prstGeom prst="roundRect">
              <a:avLst>
                <a:gd name="adj" fmla="val 10666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95250" y="95250"/>
              <a:ext cx="285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المستوى الأخضر (طبيعي ومستقر)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36" name="Google Shape;236;p20"/>
          <p:cNvSpPr txBox="1"/>
          <p:nvPr/>
        </p:nvSpPr>
        <p:spPr>
          <a:xfrm>
            <a:off x="381000" y="3333750"/>
            <a:ext cx="50484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المؤشر:</a:t>
            </a: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 يشير إلى تآكل سطحي يقل عن 0.5 ملم.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2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الإجراء المطلوب:</a:t>
            </a: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rPr>
              <a:t> الاستمرار في المسح الدوري المجدول سنوياً.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1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243" name="Google Shape;243;p21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21"/>
          <p:cNvSpPr txBox="1"/>
          <p:nvPr/>
        </p:nvSpPr>
        <p:spPr>
          <a:xfrm>
            <a:off x="381000" y="2095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05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381000" y="5524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2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من الفحص الميداني إلى التقرير التنفيذي المعتمد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8001000" y="10477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49" name="Google Shape;249;p21"/>
          <p:cNvGrpSpPr/>
          <p:nvPr/>
        </p:nvGrpSpPr>
        <p:grpSpPr>
          <a:xfrm>
            <a:off x="4762500" y="1352550"/>
            <a:ext cx="4000500" cy="3286200"/>
            <a:chOff x="0" y="0"/>
            <a:chExt cx="4000500" cy="3286200"/>
          </a:xfrm>
        </p:grpSpPr>
        <p:sp>
          <p:nvSpPr>
            <p:cNvPr id="250" name="Google Shape;250;p21"/>
            <p:cNvSpPr/>
            <p:nvPr/>
          </p:nvSpPr>
          <p:spPr>
            <a:xfrm>
              <a:off x="0" y="0"/>
              <a:ext cx="4000500" cy="3286200"/>
            </a:xfrm>
            <a:prstGeom prst="roundRect">
              <a:avLst>
                <a:gd name="adj" fmla="val 2898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0" y="0"/>
              <a:ext cx="4000500" cy="47700"/>
            </a:xfrm>
            <a:prstGeom prst="roundRect">
              <a:avLst>
                <a:gd name="adj" fmla="val 4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1"/>
            <p:cNvSpPr txBox="1"/>
            <p:nvPr/>
          </p:nvSpPr>
          <p:spPr>
            <a:xfrm>
              <a:off x="3381375" y="231394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800" b="0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picture_as_pdf</a:t>
              </a:r>
              <a:endParaRPr kumimoji="0" sz="280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190500" y="190500"/>
              <a:ext cx="3095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التوليد التلقائي للتقارير الفنية</a:t>
              </a: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cxnSp>
          <p:nvCxnSpPr>
            <p:cNvPr id="254" name="Google Shape;254;p21"/>
            <p:cNvCxnSpPr/>
            <p:nvPr/>
          </p:nvCxnSpPr>
          <p:spPr>
            <a:xfrm>
              <a:off x="190500" y="714375"/>
              <a:ext cx="3619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F1F5F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5" name="Google Shape;255;p21"/>
            <p:cNvSpPr txBox="1"/>
            <p:nvPr/>
          </p:nvSpPr>
          <p:spPr>
            <a:xfrm>
              <a:off x="190500" y="838200"/>
              <a:ext cx="3619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إمكانية توليد تقرير فني شامل للحالة الإنشائية </a:t>
              </a:r>
              <a:r>
                <a:rPr kumimoji="0" lang="en" sz="115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(Condition Reports)</a:t>
              </a: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 بصيغة PDF بضغطة زر واحدة.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يتضمن التقرير البيانات التشخيصية التالية: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marR="0" lvl="0" indent="-301625" algn="r" defTabSz="914400" rtl="1" eaLnBrk="1" fontAlgn="auto" latinLnBrk="0" hangingPunct="1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الصور الحرارية وتحليلات الإجهاد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marR="0" lvl="0" indent="-301625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قياس أطوال الشروخ ومعدلات الاتساع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marR="0" lvl="0" indent="-301625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التغيرات الهندسية والرصد الهيكلي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marR="0" lvl="0" indent="-301625" algn="r" defTabSz="914400" rtl="1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450"/>
                </a:spcAft>
                <a:buClr>
                  <a:srgbClr val="334155"/>
                </a:buClr>
                <a:buSzPts val="1150"/>
                <a:buFont typeface="Tajawal"/>
                <a:buChar char="●"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التوصيات الفنية والحلول المباشرة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56" name="Google Shape;256;p21"/>
          <p:cNvGrpSpPr/>
          <p:nvPr/>
        </p:nvGrpSpPr>
        <p:grpSpPr>
          <a:xfrm>
            <a:off x="381000" y="1352550"/>
            <a:ext cx="4000500" cy="3286200"/>
            <a:chOff x="0" y="0"/>
            <a:chExt cx="4000500" cy="3286200"/>
          </a:xfrm>
        </p:grpSpPr>
        <p:sp>
          <p:nvSpPr>
            <p:cNvPr id="257" name="Google Shape;257;p21"/>
            <p:cNvSpPr/>
            <p:nvPr/>
          </p:nvSpPr>
          <p:spPr>
            <a:xfrm>
              <a:off x="0" y="0"/>
              <a:ext cx="4000500" cy="3286200"/>
            </a:xfrm>
            <a:prstGeom prst="roundRect">
              <a:avLst>
                <a:gd name="adj" fmla="val 2898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0" y="0"/>
              <a:ext cx="4000500" cy="47700"/>
            </a:xfrm>
            <a:prstGeom prst="roundRect">
              <a:avLst>
                <a:gd name="adj" fmla="val 40000"/>
              </a:avLst>
            </a:prstGeom>
            <a:solidFill>
              <a:srgbClr val="B23A2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1"/>
            <p:cNvSpPr txBox="1"/>
            <p:nvPr/>
          </p:nvSpPr>
          <p:spPr>
            <a:xfrm>
              <a:off x="3381375" y="231394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800" b="0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kumimoji="0" sz="2800" b="0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190500" y="190500"/>
              <a:ext cx="3095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المتابعة القيادية اللحظية</a:t>
              </a: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cxnSp>
          <p:nvCxnSpPr>
            <p:cNvPr id="261" name="Google Shape;261;p21"/>
            <p:cNvCxnSpPr/>
            <p:nvPr/>
          </p:nvCxnSpPr>
          <p:spPr>
            <a:xfrm>
              <a:off x="190500" y="714375"/>
              <a:ext cx="3619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F1F5F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2" name="Google Shape;262;p21"/>
            <p:cNvSpPr txBox="1"/>
            <p:nvPr/>
          </p:nvSpPr>
          <p:spPr>
            <a:xfrm>
              <a:off x="190500" y="838200"/>
              <a:ext cx="3619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يتم رفع التقارير بشكل تلقائي ومباشر إلى لوحة التحكم </a:t>
              </a:r>
              <a:r>
                <a:rPr kumimoji="0" lang="en" sz="115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(Dashboard)</a:t>
              </a: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 التنفيذية الخاصة بسعادة مدير الهيئة.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50" b="1" i="0" u="none" strike="noStrike" kern="0" cap="none" spc="0" normalizeH="0" baseline="0" noProof="0">
                  <a:ln>
                    <a:noFill/>
                  </a:ln>
                  <a:solidFill>
                    <a:srgbClr val="B23A22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أبرز المزايا التشغيلية للوحة القيادة:</a:t>
              </a:r>
              <a:endParaRPr kumimoji="0" sz="1150" b="1" i="0" u="none" strike="noStrike" kern="0" cap="none" spc="0" normalizeH="0" baseline="0" noProof="0">
                <a:ln>
                  <a:noFill/>
                </a:ln>
                <a:solidFill>
                  <a:srgbClr val="B23A22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marR="0" lvl="0" indent="-301625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متابعة سلامة كافة المواقع الأثرية لحظياً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marR="0" lvl="0" indent="-301625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شفافية تامة في تقديم البيانات والمؤشرات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  <a:p>
              <a:pPr marL="457200" marR="0" lvl="0" indent="-301625" algn="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150"/>
                <a:buFont typeface="Tajawal"/>
                <a:buChar char="●"/>
                <a:tabLst/>
                <a:defRPr/>
              </a:pPr>
              <a:r>
                <a:rPr kumimoji="0" lang="en" sz="11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دعم التجاوب الفوري واتخاذ القرارات الوقائية</a:t>
              </a:r>
              <a:endParaRPr kumimoji="0" sz="11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263" name="Google Shape;263;p21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2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269" name="Google Shape;269;p22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95250" y="95250"/>
              <a:ext cx="190500" cy="142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72" name="Google Shape;272;p22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050" b="0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Tajawal Medium"/>
                <a:ea typeface="Tajawal Medium"/>
                <a:cs typeface="Tajawal Medium"/>
                <a:sym typeface="Tajawal Medium"/>
              </a:rPr>
              <a:t>خطة تحديث الأنظمة والمنصات الرقمية | هيئة الشارقة للآثار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381000" y="571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2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rPr>
              <a:t>خارطة طريق التحول الرقمي لهيئة الشارقة للآثار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2C5E43"/>
              </a:solidFill>
              <a:effectLst/>
              <a:uLnTx/>
              <a:uFillTx/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8001000" y="11239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75" name="Google Shape;275;p22"/>
          <p:cNvCxnSpPr/>
          <p:nvPr/>
        </p:nvCxnSpPr>
        <p:spPr>
          <a:xfrm>
            <a:off x="952500" y="2000250"/>
            <a:ext cx="7239000" cy="0"/>
          </a:xfrm>
          <a:prstGeom prst="straightConnector1">
            <a:avLst/>
          </a:prstGeom>
          <a:solidFill>
            <a:srgbClr val="FFFFFF"/>
          </a:solidFill>
          <a:ln w="28575" cap="rnd" cmpd="sng">
            <a:solidFill>
              <a:srgbClr val="2C5E4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76" name="Google Shape;276;p22"/>
          <p:cNvGrpSpPr/>
          <p:nvPr/>
        </p:nvGrpSpPr>
        <p:grpSpPr>
          <a:xfrm>
            <a:off x="6238875" y="1857375"/>
            <a:ext cx="1905000" cy="2571825"/>
            <a:chOff x="-809625" y="0"/>
            <a:chExt cx="1905000" cy="2571825"/>
          </a:xfrm>
        </p:grpSpPr>
        <p:sp>
          <p:nvSpPr>
            <p:cNvPr id="277" name="Google Shape;277;p22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١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2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البنية التحتية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تأسيس "مستودع التوائم الرقمية المركزي" لحفظ كافة المسوحات ثلاثية الأبعاد لمواقع الشارقة بشكل آمن.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83" name="Google Shape;283;p22"/>
          <p:cNvGrpSpPr/>
          <p:nvPr/>
        </p:nvGrpSpPr>
        <p:grpSpPr>
          <a:xfrm>
            <a:off x="4333875" y="1857375"/>
            <a:ext cx="1905000" cy="2571825"/>
            <a:chOff x="-809625" y="0"/>
            <a:chExt cx="1905000" cy="2571825"/>
          </a:xfrm>
        </p:grpSpPr>
        <p:sp>
          <p:nvSpPr>
            <p:cNvPr id="284" name="Google Shape;284;p22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٢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بروتوكولات العمل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اعتماد بروتوكول المسح بالاستشعار عن بعد والرادار كخطوة إلزامية سابقة لأي موسم تنقيب ميداني.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90" name="Google Shape;290;p22"/>
          <p:cNvGrpSpPr/>
          <p:nvPr/>
        </p:nvGrpSpPr>
        <p:grpSpPr>
          <a:xfrm>
            <a:off x="2428875" y="1857375"/>
            <a:ext cx="1905000" cy="2571825"/>
            <a:chOff x="-809625" y="0"/>
            <a:chExt cx="1905000" cy="2571825"/>
          </a:xfrm>
        </p:grpSpPr>
        <p:sp>
          <p:nvSpPr>
            <p:cNvPr id="291" name="Google Shape;291;p22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2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٣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2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التغطية الجغرافية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تدشين نظام الرصد السنوي رباعي الأبعاد لحصون وقلاع الشارقة التاريخية في الساحل الشرقي والمناطق الوسطى.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97" name="Google Shape;297;p22"/>
          <p:cNvGrpSpPr/>
          <p:nvPr/>
        </p:nvGrpSpPr>
        <p:grpSpPr>
          <a:xfrm>
            <a:off x="523875" y="1857375"/>
            <a:ext cx="1905000" cy="2571825"/>
            <a:chOff x="-809625" y="0"/>
            <a:chExt cx="1905000" cy="2571825"/>
          </a:xfrm>
        </p:grpSpPr>
        <p:sp>
          <p:nvSpPr>
            <p:cNvPr id="298" name="Google Shape;298;p22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2C5E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2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10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٤</a:t>
              </a:r>
              <a:endParaRPr kumimoji="0" sz="110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2C5E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250" b="1" i="0" u="none" strike="noStrike" kern="0" cap="none" spc="0" normalizeH="0" baseline="0" noProof="0">
                  <a:ln>
                    <a:noFill/>
                  </a:ln>
                  <a:solidFill>
                    <a:srgbClr val="2C5E43"/>
                  </a:solidFill>
                  <a:effectLst/>
                  <a:uLnTx/>
                  <a:uFillTx/>
                  <a:latin typeface="Cairo"/>
                  <a:ea typeface="Cairo"/>
                  <a:cs typeface="Cairo"/>
                  <a:sym typeface="Cairo"/>
                </a:rPr>
                <a:t>بناء القدرات</a:t>
              </a:r>
              <a:endParaRPr kumimoji="0" sz="1250" b="1" i="0" u="none" strike="noStrike" kern="0" cap="none" spc="0" normalizeH="0" baseline="0" noProof="0">
                <a:ln>
                  <a:noFill/>
                </a:ln>
                <a:solidFill>
                  <a:srgbClr val="2C5E43"/>
                </a:solidFill>
                <a:effectLst/>
                <a:uLnTx/>
                <a:uFillTx/>
                <a:latin typeface="Cairo"/>
                <a:ea typeface="Cairo"/>
                <a:cs typeface="Cairo"/>
                <a:sym typeface="Cairo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050" b="0" i="0" u="none" strike="noStrike" kern="0" cap="none" spc="0" normalizeH="0" baseline="0" noProof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Tajawal"/>
                  <a:ea typeface="Tajawal"/>
                  <a:cs typeface="Tajawal"/>
                  <a:sym typeface="Tajawal"/>
                </a:rPr>
                <a:t>تدريب وتأهيل الكوادر الوطنية الشابة بالهيئة على أحدث أدوات المسح، وتحليل البيانات المكانية باستخدام الذكاء الاصطناعي.</a:t>
              </a:r>
              <a:endParaRPr kumimoji="0" sz="105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304" name="Google Shape;304;p22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4222</Words>
  <Application>Microsoft Office PowerPoint</Application>
  <PresentationFormat>On-screen Show (16:9)</PresentationFormat>
  <Paragraphs>512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44</vt:i4>
      </vt:variant>
    </vt:vector>
  </HeadingPairs>
  <TitlesOfParts>
    <vt:vector size="56" baseType="lpstr">
      <vt:lpstr>Arial</vt:lpstr>
      <vt:lpstr>Cairo</vt:lpstr>
      <vt:lpstr>Cairo Medium</vt:lpstr>
      <vt:lpstr>Tajawal</vt:lpstr>
      <vt:lpstr>Cairo SemiBold</vt:lpstr>
      <vt:lpstr>Tajawal Medium</vt:lpstr>
      <vt:lpstr>Material Icons</vt:lpstr>
      <vt:lpstr>Simple Light</vt:lpstr>
      <vt:lpstr>1_Simple Light</vt:lpstr>
      <vt:lpstr>2_Simple Light</vt:lpstr>
      <vt:lpstr>3_Simple Light</vt:lpstr>
      <vt:lpstr>4_Simple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محمد الهمشري</cp:lastModifiedBy>
  <cp:revision>1</cp:revision>
  <dcterms:modified xsi:type="dcterms:W3CDTF">2026-09-24T05:39:29Z</dcterms:modified>
</cp:coreProperties>
</file>