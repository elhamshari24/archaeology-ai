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Cairo SemiBold"/>
      <p:regular r:id="rId15"/>
      <p:bold r:id="rId16"/>
    </p:embeddedFont>
    <p:embeddedFont>
      <p:font typeface="Cairo Medium"/>
      <p:regular r:id="rId17"/>
      <p:bold r:id="rId18"/>
    </p:embeddedFont>
    <p:embeddedFont>
      <p:font typeface="Cairo"/>
      <p:bold r:id="rId19"/>
    </p:embeddedFont>
    <p:embeddedFont>
      <p:font typeface="Tajawal Medium"/>
      <p:regular r:id="rId20"/>
      <p:bold r:id="rId21"/>
    </p:embeddedFont>
    <p:embeddedFont>
      <p:font typeface="Tajawal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ajawalMedium-regular.fntdata"/><Relationship Id="rId11" Type="http://schemas.openxmlformats.org/officeDocument/2006/relationships/slide" Target="slides/slide6.xml"/><Relationship Id="rId22" Type="http://schemas.openxmlformats.org/officeDocument/2006/relationships/font" Target="fonts/Tajawal-bold.fntdata"/><Relationship Id="rId10" Type="http://schemas.openxmlformats.org/officeDocument/2006/relationships/slide" Target="slides/slide5.xml"/><Relationship Id="rId21" Type="http://schemas.openxmlformats.org/officeDocument/2006/relationships/font" Target="fonts/TajawalMedium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airo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CairoMedium-regular.fntdata"/><Relationship Id="rId16" Type="http://schemas.openxmlformats.org/officeDocument/2006/relationships/font" Target="fonts/CairoSemiBold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airo-bold.fntdata"/><Relationship Id="rId6" Type="http://schemas.openxmlformats.org/officeDocument/2006/relationships/slide" Target="slides/slide1.xml"/><Relationship Id="rId18" Type="http://schemas.openxmlformats.org/officeDocument/2006/relationships/font" Target="fonts/Cairo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aca369b10570bbd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aca369b10570bbd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aca369b10570bbd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haca369b10570bbd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aca369b10570bbd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aca369b10570bbd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aca369b10570bbd_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haca369b10570bbd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aca369b10570bbd_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haca369b10570bbd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aca369b10570bbd_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haca369b10570bbd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aca369b10570bbd_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haca369b10570bbd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haca369b10570bbd_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haca369b10570bbd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haca369b10570bbd_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haca369b10570bbd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aca369b10570bbd_2_0)">
  <p:cSld name="Generated (haca369b10570bbd_2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eamena.org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8389150" y="542763"/>
            <a:ext cx="342900" cy="342900"/>
            <a:chOff x="19050" y="19050"/>
            <a:chExt cx="342900" cy="342900"/>
          </a:xfrm>
        </p:grpSpPr>
        <p:sp>
          <p:nvSpPr>
            <p:cNvPr id="56" name="Google Shape;56;p14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950" y="1499875"/>
            <a:ext cx="4572000" cy="2571900"/>
          </a:xfrm>
          <a:prstGeom prst="roundRect">
            <a:avLst>
              <a:gd fmla="val 4444" name="adj"/>
            </a:avLst>
          </a:prstGeom>
          <a:noFill/>
          <a:ln>
            <a:noFill/>
          </a:ln>
        </p:spPr>
      </p:pic>
      <p:grpSp>
        <p:nvGrpSpPr>
          <p:cNvPr id="60" name="Google Shape;60;p14"/>
          <p:cNvGrpSpPr/>
          <p:nvPr/>
        </p:nvGrpSpPr>
        <p:grpSpPr>
          <a:xfrm>
            <a:off x="5143500" y="1446378"/>
            <a:ext cx="3619500" cy="3239631"/>
            <a:chOff x="5143500" y="1446375"/>
            <a:chExt cx="3619500" cy="3030525"/>
          </a:xfrm>
        </p:grpSpPr>
        <p:sp>
          <p:nvSpPr>
            <p:cNvPr id="61" name="Google Shape;61;p14"/>
            <p:cNvSpPr txBox="1"/>
            <p:nvPr/>
          </p:nvSpPr>
          <p:spPr>
            <a:xfrm>
              <a:off x="5143500" y="1446375"/>
              <a:ext cx="3619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الصيانة التنبؤية وحماية التراث الأثري</a:t>
              </a:r>
              <a:endParaRPr b="1" sz="26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334155"/>
                  </a:solidFill>
                  <a:latin typeface="Cairo"/>
                  <a:ea typeface="Cairo"/>
                  <a:cs typeface="Cairo"/>
                  <a:sym typeface="Cairo"/>
                </a:rPr>
                <a:t>من مخاطر المناخ والزمن</a:t>
              </a:r>
              <a:endParaRPr b="1" sz="2000">
                <a:solidFill>
                  <a:srgbClr val="334155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8001000" y="276225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5143500" y="3019425"/>
              <a:ext cx="3619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B23A22"/>
                  </a:solidFill>
                  <a:latin typeface="Cairo SemiBold"/>
                  <a:ea typeface="Cairo SemiBold"/>
                  <a:cs typeface="Cairo SemiBold"/>
                  <a:sym typeface="Cairo SemiBold"/>
                </a:rPr>
                <a:t>الرصد رباعي الأبعاد (4D Monitoring)</a:t>
              </a:r>
              <a:endParaRPr b="0" sz="1500">
                <a:solidFill>
                  <a:srgbClr val="B23A22"/>
                </a:solidFill>
                <a:latin typeface="Cairo SemiBold"/>
                <a:ea typeface="Cairo SemiBold"/>
                <a:cs typeface="Cairo SemiBold"/>
                <a:sym typeface="Cairo SemiBold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64748B"/>
                  </a:solidFill>
                  <a:latin typeface="Cairo Medium"/>
                  <a:ea typeface="Cairo Medium"/>
                  <a:cs typeface="Cairo Medium"/>
                  <a:sym typeface="Cairo Medium"/>
                </a:rPr>
                <a:t>وإدارة المخاطر </a:t>
              </a:r>
              <a:endParaRPr b="0" sz="1300">
                <a:solidFill>
                  <a:srgbClr val="64748B"/>
                </a:solidFill>
                <a:latin typeface="Cairo Medium"/>
                <a:ea typeface="Cairo Medium"/>
                <a:cs typeface="Cairo Medium"/>
                <a:sym typeface="Cairo Medium"/>
              </a:endParaRPr>
            </a:p>
          </p:txBody>
        </p:sp>
        <p:sp>
          <p:nvSpPr>
            <p:cNvPr id="64" name="Google Shape;64;p14"/>
            <p:cNvSpPr txBox="1"/>
            <p:nvPr/>
          </p:nvSpPr>
          <p:spPr>
            <a:xfrm>
              <a:off x="5143500" y="4000500"/>
              <a:ext cx="3619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050">
                <a:solidFill>
                  <a:srgbClr val="94A3B8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pic>
        <p:nvPicPr>
          <p:cNvPr id="65" name="Google Shape;65;p14" title="SAA Logo V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0439" y="230019"/>
            <a:ext cx="2705623" cy="96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5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71" name="Google Shape;71;p15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" name="Google Shape;74;p15"/>
          <p:cNvSpPr txBox="1"/>
          <p:nvPr/>
        </p:nvSpPr>
        <p:spPr>
          <a:xfrm>
            <a:off x="381000" y="209550"/>
            <a:ext cx="800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2C5E43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الصيانة التنبؤية وحماية التراث | هيئة الشارقة للآثار</a:t>
            </a:r>
            <a:endParaRPr b="0" sz="1050">
              <a:solidFill>
                <a:srgbClr val="2C5E43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381000" y="523875"/>
            <a:ext cx="8382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rPr>
              <a:t>نحو التحول إلى الصيانة التنبؤية (Predictive Conservation)</a:t>
            </a:r>
            <a:endParaRPr b="1" sz="2200">
              <a:solidFill>
                <a:srgbClr val="2C5E4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8001000" y="1000125"/>
            <a:ext cx="762000" cy="38100"/>
          </a:xfrm>
          <a:prstGeom prst="roundRect">
            <a:avLst>
              <a:gd fmla="val 50000" name="adj"/>
            </a:avLst>
          </a:prstGeom>
          <a:solidFill>
            <a:srgbClr val="B23A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" name="Google Shape;77;p15"/>
          <p:cNvGrpSpPr/>
          <p:nvPr/>
        </p:nvGrpSpPr>
        <p:grpSpPr>
          <a:xfrm>
            <a:off x="302825" y="1190625"/>
            <a:ext cx="4000500" cy="2714700"/>
            <a:chOff x="0" y="0"/>
            <a:chExt cx="4000500" cy="2714700"/>
          </a:xfrm>
        </p:grpSpPr>
        <p:sp>
          <p:nvSpPr>
            <p:cNvPr id="78" name="Google Shape;78;p15"/>
            <p:cNvSpPr/>
            <p:nvPr/>
          </p:nvSpPr>
          <p:spPr>
            <a:xfrm>
              <a:off x="0" y="0"/>
              <a:ext cx="4000500" cy="27147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0" y="0"/>
              <a:ext cx="4000500" cy="457200"/>
            </a:xfrm>
            <a:prstGeom prst="roundRect">
              <a:avLst>
                <a:gd fmla="val 25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0" y="314325"/>
              <a:ext cx="4000500" cy="1428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 txBox="1"/>
            <p:nvPr/>
          </p:nvSpPr>
          <p:spPr>
            <a:xfrm>
              <a:off x="142875" y="76200"/>
              <a:ext cx="3714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المراقبة الذكية المعاصرة</a:t>
              </a:r>
              <a:endParaRPr b="1" sz="140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190500" y="571500"/>
              <a:ext cx="36195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2C5E43"/>
                  </a:solidFill>
                  <a:latin typeface="Tajawal"/>
                  <a:ea typeface="Tajawal"/>
                  <a:cs typeface="Tajawal"/>
                  <a:sym typeface="Tajawal"/>
                </a:rPr>
                <a:t>الرصد المبكر الدقيق:</a:t>
              </a:r>
              <a:endParaRPr b="1" sz="1150">
                <a:solidFill>
                  <a:srgbClr val="2C5E43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تعتمد على رصد الإزاحات المليمترية الدقيقة في مهدها الأول، مما يتيح توقع مسار الانهيار قبل حدوثه بعامين كاملين.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190500" y="1571625"/>
              <a:ext cx="3619500" cy="952500"/>
            </a:xfrm>
            <a:prstGeom prst="roundRect">
              <a:avLst>
                <a:gd fmla="val 8000" name="adj"/>
              </a:avLst>
            </a:prstGeom>
            <a:solidFill>
              <a:srgbClr val="F0FDF4"/>
            </a:solidFill>
            <a:ln cap="flat" cmpd="sng" w="9525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285750" y="1647825"/>
              <a:ext cx="34290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C5E43"/>
                  </a:solidFill>
                  <a:latin typeface="Tajawal"/>
                  <a:ea typeface="Tajawal"/>
                  <a:cs typeface="Tajawal"/>
                  <a:sym typeface="Tajawal"/>
                </a:rPr>
                <a:t>الكفاءة المالية والأثر الاستراتيجي:</a:t>
              </a:r>
              <a:endParaRPr b="1" sz="1100">
                <a:solidFill>
                  <a:srgbClr val="2C5E43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يساهم هذا التحول نحو المعالجة الوقائية في خفض تكاليف ميزانيات الترميم والصيانة بنسبة تفوق </a:t>
              </a:r>
              <a:r>
                <a:rPr b="1" lang="en" sz="1200">
                  <a:solidFill>
                    <a:srgbClr val="2C5E43"/>
                  </a:solidFill>
                  <a:latin typeface="Tajawal"/>
                  <a:ea typeface="Tajawal"/>
                  <a:cs typeface="Tajawal"/>
                  <a:sym typeface="Tajawal"/>
                </a:rPr>
                <a:t>65%</a:t>
              </a:r>
              <a:r>
                <a:rPr b="0" lang="en" sz="10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، مع ضمان حماية استدامة المعالم التاريخية.</a:t>
              </a:r>
              <a:endParaRPr b="0" sz="10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85" name="Google Shape;85;p15"/>
          <p:cNvGrpSpPr/>
          <p:nvPr/>
        </p:nvGrpSpPr>
        <p:grpSpPr>
          <a:xfrm>
            <a:off x="4400550" y="2305050"/>
            <a:ext cx="342900" cy="342900"/>
            <a:chOff x="19050" y="-171450"/>
            <a:chExt cx="342900" cy="342900"/>
          </a:xfrm>
        </p:grpSpPr>
        <p:sp>
          <p:nvSpPr>
            <p:cNvPr id="86" name="Google Shape;86;p15"/>
            <p:cNvSpPr/>
            <p:nvPr/>
          </p:nvSpPr>
          <p:spPr>
            <a:xfrm>
              <a:off x="19050" y="-171450"/>
              <a:ext cx="342900" cy="342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114300" y="-57150"/>
              <a:ext cx="142800" cy="1143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8000" y="60000"/>
                  </a:lnTo>
                  <a:moveTo>
                    <a:pt x="48000" y="0"/>
                  </a:moveTo>
                  <a:lnTo>
                    <a:pt x="0" y="60000"/>
                  </a:lnTo>
                  <a:lnTo>
                    <a:pt x="48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15"/>
          <p:cNvGrpSpPr/>
          <p:nvPr/>
        </p:nvGrpSpPr>
        <p:grpSpPr>
          <a:xfrm>
            <a:off x="4840675" y="1190625"/>
            <a:ext cx="3810000" cy="2714700"/>
            <a:chOff x="0" y="0"/>
            <a:chExt cx="3810000" cy="2714700"/>
          </a:xfrm>
        </p:grpSpPr>
        <p:sp>
          <p:nvSpPr>
            <p:cNvPr id="89" name="Google Shape;89;p15"/>
            <p:cNvSpPr/>
            <p:nvPr/>
          </p:nvSpPr>
          <p:spPr>
            <a:xfrm>
              <a:off x="0" y="0"/>
              <a:ext cx="3810000" cy="27147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0" y="0"/>
              <a:ext cx="3810000" cy="457200"/>
            </a:xfrm>
            <a:prstGeom prst="roundRect">
              <a:avLst>
                <a:gd fmla="val 25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0" y="314325"/>
              <a:ext cx="3810000" cy="1428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142875" y="76200"/>
              <a:ext cx="352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475569"/>
                  </a:solidFill>
                  <a:latin typeface="Cairo"/>
                  <a:ea typeface="Cairo"/>
                  <a:cs typeface="Cairo"/>
                  <a:sym typeface="Cairo"/>
                </a:rPr>
                <a:t>الترميم العلاجي الكلاسيكي</a:t>
              </a:r>
              <a:endParaRPr b="1" sz="14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190500" y="571500"/>
              <a:ext cx="3429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64748B"/>
                  </a:solidFill>
                  <a:latin typeface="Tajawal"/>
                  <a:ea typeface="Tajawal"/>
                  <a:cs typeface="Tajawal"/>
                  <a:sym typeface="Tajawal"/>
                </a:rPr>
                <a:t>النهج التقليدي التفاعلي:</a:t>
              </a:r>
              <a:endParaRPr b="1" sz="1150">
                <a:solidFill>
                  <a:srgbClr val="64748B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يمثل تدخلاً متأخراً ومكلفاً مالياً، حيث يتم عادة بعد حدوث التصدع الكبير أو انهيار الحجارة في المواقع الأثرية.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91B1B"/>
                  </a:solidFill>
                  <a:highlight>
                    <a:srgbClr val="FEF2F2"/>
                  </a:highlight>
                  <a:latin typeface="Tajawal Medium"/>
                  <a:ea typeface="Tajawal Medium"/>
                  <a:cs typeface="Tajawal Medium"/>
                  <a:sym typeface="Tajawal Medium"/>
                </a:rPr>
                <a:t>مخاطر التكلفة العالية والاستجابة المتأخرة للأضرار الهيكلية.</a:t>
              </a:r>
              <a:endParaRPr b="0" sz="1000">
                <a:solidFill>
                  <a:srgbClr val="991B1B"/>
                </a:solidFill>
                <a:highlight>
                  <a:srgbClr val="FEF2F2"/>
                </a:highlight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</p:grpSp>
      <p:grpSp>
        <p:nvGrpSpPr>
          <p:cNvPr id="94" name="Google Shape;94;p15"/>
          <p:cNvGrpSpPr/>
          <p:nvPr/>
        </p:nvGrpSpPr>
        <p:grpSpPr>
          <a:xfrm>
            <a:off x="381000" y="4143375"/>
            <a:ext cx="8382000" cy="571500"/>
            <a:chOff x="0" y="0"/>
            <a:chExt cx="8382000" cy="571500"/>
          </a:xfrm>
        </p:grpSpPr>
        <p:sp>
          <p:nvSpPr>
            <p:cNvPr id="95" name="Google Shape;95;p15"/>
            <p:cNvSpPr/>
            <p:nvPr/>
          </p:nvSpPr>
          <p:spPr>
            <a:xfrm>
              <a:off x="0" y="0"/>
              <a:ext cx="8382000" cy="571500"/>
            </a:xfrm>
            <a:prstGeom prst="roundRect">
              <a:avLst>
                <a:gd fmla="val 13333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5"/>
            <p:cNvSpPr txBox="1"/>
            <p:nvPr/>
          </p:nvSpPr>
          <p:spPr>
            <a:xfrm>
              <a:off x="190500" y="76200"/>
              <a:ext cx="80010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FFFFFF"/>
                  </a:solidFill>
                  <a:latin typeface="Cairo SemiBold"/>
                  <a:ea typeface="Cairo SemiBold"/>
                  <a:cs typeface="Cairo SemiBold"/>
                  <a:sym typeface="Cairo SemiBold"/>
                </a:rPr>
                <a:t>التحول الاستراتيجي نحو الصيانة التنبؤية يعزز الكفاءة التشغيلية ويصون التراث الحضاري للشارقة</a:t>
              </a:r>
              <a:endParaRPr b="0" sz="1200">
                <a:solidFill>
                  <a:srgbClr val="FFFFFF"/>
                </a:solidFill>
                <a:latin typeface="Cairo SemiBold"/>
                <a:ea typeface="Cairo SemiBold"/>
                <a:cs typeface="Cairo SemiBold"/>
                <a:sym typeface="Cairo SemiBold"/>
              </a:endParaRPr>
            </a:p>
          </p:txBody>
        </p:sp>
      </p:grpSp>
      <p:sp>
        <p:nvSpPr>
          <p:cNvPr id="97" name="Google Shape;97;p15"/>
          <p:cNvSpPr/>
          <p:nvPr/>
        </p:nvSpPr>
        <p:spPr>
          <a:xfrm>
            <a:off x="381000" y="4886325"/>
            <a:ext cx="8382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6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103" name="Google Shape;103;p16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16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2C5E43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الصيانة التنبؤية وحماية التراث | هيئة الشارقة للآثار</a:t>
            </a:r>
            <a:endParaRPr b="0" sz="1050">
              <a:solidFill>
                <a:srgbClr val="2C5E43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81000" y="5715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35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rPr>
              <a:t>الرصد الزمني الدقيق: مقارنة السحب النقطية (Point Cloud Comparison)</a:t>
            </a:r>
            <a:endParaRPr b="1" sz="2035">
              <a:solidFill>
                <a:srgbClr val="2C5E4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8001000" y="1095375"/>
            <a:ext cx="762000" cy="38100"/>
          </a:xfrm>
          <a:prstGeom prst="roundRect">
            <a:avLst>
              <a:gd fmla="val 50000" name="adj"/>
            </a:avLst>
          </a:prstGeom>
          <a:solidFill>
            <a:srgbClr val="B23A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9" name="Google Shape;109;p16"/>
          <p:cNvGrpSpPr/>
          <p:nvPr/>
        </p:nvGrpSpPr>
        <p:grpSpPr>
          <a:xfrm>
            <a:off x="381000" y="1476375"/>
            <a:ext cx="8382150" cy="3048000"/>
            <a:chOff x="381000" y="142875"/>
            <a:chExt cx="8382150" cy="3048000"/>
          </a:xfrm>
        </p:grpSpPr>
        <p:pic>
          <p:nvPicPr>
            <p:cNvPr id="110" name="Google Shape;110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1000" y="142875"/>
              <a:ext cx="3810000" cy="2857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16"/>
            <p:cNvSpPr txBox="1"/>
            <p:nvPr/>
          </p:nvSpPr>
          <p:spPr>
            <a:xfrm>
              <a:off x="4476750" y="142875"/>
              <a:ext cx="4286400" cy="3048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300" u="none" strike="noStrike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آلية العمل:</a:t>
              </a:r>
              <a:endParaRPr b="1" i="0" sz="1300" u="none" strike="noStrike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1150" u="none" strike="noStrike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إجراء مسحين ثلاثيي الأبعاد للموقع التاريخي بفارق زمني محدد، مثل توثيق الحالة قبل موسم الأمطار وبعده لتقييم التأثيرات المناخية.</a:t>
              </a:r>
              <a:endParaRPr b="1" i="0" sz="1150" u="none" strike="noStrike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i="0" lang="en" sz="1300" u="none" strike="noStrike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التحليل الخوارزمي:</a:t>
              </a:r>
              <a:endParaRPr b="1" i="0" sz="1300" u="none" strike="noStrike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1150" u="none" strike="noStrike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تطبيق خوارزمية M3C2 المتقدمة في برنامج CloudCompare لحساب الفروق الحجمية المتعامدة على الأسطح الأثرية بدقة متناهية.</a:t>
              </a:r>
              <a:endParaRPr b="1" i="0" sz="1150" u="none" strike="noStrike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i="0" lang="en" sz="1300" u="none" strike="noStrike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الاكتشاف المبكر:</a:t>
              </a:r>
              <a:endParaRPr b="1" i="0" sz="1300" u="none" strike="noStrike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i="0" lang="en" sz="1150" u="none" strike="noStrike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الكشف التلقائي عن فقدان الملاط، تآكل الحجارة اللبنة، زحف الرمال، أو ميول الجدران بدقة تصل إلى 0.5 ملم.</a:t>
              </a:r>
              <a:endParaRPr b="1" i="0" sz="1150" u="none" strike="noStrike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sp>
        <p:nvSpPr>
          <p:cNvPr id="112" name="Google Shape;112;p16"/>
          <p:cNvSpPr/>
          <p:nvPr/>
        </p:nvSpPr>
        <p:spPr>
          <a:xfrm>
            <a:off x="381000" y="4886325"/>
            <a:ext cx="8382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7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118" name="Google Shape;118;p17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" name="Google Shape;121;p17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2C5E43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الصيانة التنبؤية وحماية التراث | هيئة الشارقة للآثار</a:t>
            </a:r>
            <a:endParaRPr b="0" sz="1050">
              <a:solidFill>
                <a:srgbClr val="2C5E43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381000" y="5715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rPr>
              <a:t>الفحص الآلي للتشققات (Automated Crack Segmentation)</a:t>
            </a:r>
            <a:endParaRPr b="1" sz="2200">
              <a:solidFill>
                <a:srgbClr val="2C5E4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8001000" y="1095375"/>
            <a:ext cx="762000" cy="38100"/>
          </a:xfrm>
          <a:prstGeom prst="roundRect">
            <a:avLst>
              <a:gd fmla="val 50000" name="adj"/>
            </a:avLst>
          </a:prstGeom>
          <a:solidFill>
            <a:srgbClr val="B23A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" name="Google Shape;124;p17"/>
          <p:cNvGrpSpPr/>
          <p:nvPr/>
        </p:nvGrpSpPr>
        <p:grpSpPr>
          <a:xfrm>
            <a:off x="6286500" y="1428750"/>
            <a:ext cx="2476500" cy="3143400"/>
            <a:chOff x="0" y="0"/>
            <a:chExt cx="2476500" cy="3143400"/>
          </a:xfrm>
        </p:grpSpPr>
        <p:sp>
          <p:nvSpPr>
            <p:cNvPr id="125" name="Google Shape;125;p17"/>
            <p:cNvSpPr/>
            <p:nvPr/>
          </p:nvSpPr>
          <p:spPr>
            <a:xfrm>
              <a:off x="0" y="0"/>
              <a:ext cx="2476500" cy="31434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0" y="284861"/>
              <a:ext cx="2476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2C5E4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model_training</a:t>
              </a:r>
              <a:endParaRPr sz="3200">
                <a:solidFill>
                  <a:srgbClr val="2C5E4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8" name="Google Shape;128;p17"/>
            <p:cNvSpPr txBox="1"/>
            <p:nvPr/>
          </p:nvSpPr>
          <p:spPr>
            <a:xfrm>
              <a:off x="190500" y="762000"/>
              <a:ext cx="2095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تدريب النماذج</a:t>
              </a:r>
              <a:endParaRPr b="1" sz="15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285750" y="1143000"/>
              <a:ext cx="1905000" cy="96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190500" y="1285875"/>
              <a:ext cx="20955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الاعتماد على تدريب نماذج التجزئة الدلالية (Semantic Segmentation) للتعرف الدقيق على الشروخ الإنشائية في صور القلاع والأسوار التاريخية.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31" name="Google Shape;131;p17"/>
          <p:cNvGrpSpPr/>
          <p:nvPr/>
        </p:nvGrpSpPr>
        <p:grpSpPr>
          <a:xfrm>
            <a:off x="3333750" y="1428750"/>
            <a:ext cx="2476500" cy="3143400"/>
            <a:chOff x="0" y="0"/>
            <a:chExt cx="2476500" cy="3143400"/>
          </a:xfrm>
        </p:grpSpPr>
        <p:sp>
          <p:nvSpPr>
            <p:cNvPr id="132" name="Google Shape;132;p17"/>
            <p:cNvSpPr/>
            <p:nvPr/>
          </p:nvSpPr>
          <p:spPr>
            <a:xfrm>
              <a:off x="0" y="0"/>
              <a:ext cx="2476500" cy="31434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0" y="284861"/>
              <a:ext cx="2476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2C5E4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straighten</a:t>
              </a:r>
              <a:endParaRPr sz="3200">
                <a:solidFill>
                  <a:srgbClr val="2C5E4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190500" y="762000"/>
              <a:ext cx="2095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القياس اللحظي</a:t>
              </a:r>
              <a:endParaRPr b="1" sz="15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285750" y="1143000"/>
              <a:ext cx="1905000" cy="96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190500" y="1285875"/>
              <a:ext cx="20955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توفير قياس آلي ولحظي لطول الشروخ، وأقصى اتساع لها، وحساب نسبتها المئوية من مساحة الواجهة الكلية للمبنى.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38" name="Google Shape;138;p17"/>
          <p:cNvGrpSpPr/>
          <p:nvPr/>
        </p:nvGrpSpPr>
        <p:grpSpPr>
          <a:xfrm>
            <a:off x="381000" y="1428750"/>
            <a:ext cx="2476500" cy="3143400"/>
            <a:chOff x="0" y="0"/>
            <a:chExt cx="2476500" cy="3143400"/>
          </a:xfrm>
        </p:grpSpPr>
        <p:sp>
          <p:nvSpPr>
            <p:cNvPr id="139" name="Google Shape;139;p17"/>
            <p:cNvSpPr/>
            <p:nvPr/>
          </p:nvSpPr>
          <p:spPr>
            <a:xfrm>
              <a:off x="0" y="0"/>
              <a:ext cx="2476500" cy="31434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7"/>
            <p:cNvSpPr txBox="1"/>
            <p:nvPr/>
          </p:nvSpPr>
          <p:spPr>
            <a:xfrm>
              <a:off x="0" y="284861"/>
              <a:ext cx="2476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2C5E4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category</a:t>
              </a:r>
              <a:endParaRPr sz="3200">
                <a:solidFill>
                  <a:srgbClr val="2C5E4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190500" y="762000"/>
              <a:ext cx="2095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التصنيف الذكي</a:t>
              </a:r>
              <a:endParaRPr b="1" sz="15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285750" y="1143000"/>
              <a:ext cx="1905000" cy="96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190500" y="1285875"/>
              <a:ext cx="20955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تصنيف أصل التصدع لفهم المسببات، سواء كانت شروخاً حرارية سطحية، أو شروخ إجهاد ناتجة عن هبوط الأساسات، أو تصدعات ناجمة عن الرطوبة وتراكم الأملاح.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145" name="Google Shape;145;p17"/>
          <p:cNvSpPr/>
          <p:nvPr/>
        </p:nvSpPr>
        <p:spPr>
          <a:xfrm>
            <a:off x="381000" y="4886325"/>
            <a:ext cx="8382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18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151" name="Google Shape;151;p18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8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18"/>
          <p:cNvSpPr txBox="1"/>
          <p:nvPr/>
        </p:nvSpPr>
        <p:spPr>
          <a:xfrm>
            <a:off x="381000" y="209550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2C5E43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الصيانة التنبؤية وحماية التراث | هيئة الشارقة للآثار</a:t>
            </a:r>
            <a:endParaRPr b="0" sz="1050">
              <a:solidFill>
                <a:srgbClr val="2C5E43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381000" y="552450"/>
            <a:ext cx="8382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rPr>
              <a:t>المراقبة الذكية للقى الأثرية داخل المخازن وصالات العرض</a:t>
            </a:r>
            <a:endParaRPr b="1" sz="2200">
              <a:solidFill>
                <a:srgbClr val="2C5E4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8001000" y="102870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B23A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7" name="Google Shape;157;p18"/>
          <p:cNvGrpSpPr/>
          <p:nvPr/>
        </p:nvGrpSpPr>
        <p:grpSpPr>
          <a:xfrm>
            <a:off x="381000" y="1238250"/>
            <a:ext cx="8382150" cy="1000200"/>
            <a:chOff x="0" y="0"/>
            <a:chExt cx="8382150" cy="1000200"/>
          </a:xfrm>
        </p:grpSpPr>
        <p:sp>
          <p:nvSpPr>
            <p:cNvPr id="158" name="Google Shape;158;p18"/>
            <p:cNvSpPr/>
            <p:nvPr/>
          </p:nvSpPr>
          <p:spPr>
            <a:xfrm>
              <a:off x="0" y="0"/>
              <a:ext cx="83820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8324850" y="0"/>
              <a:ext cx="57300" cy="10002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8"/>
            <p:cNvSpPr/>
            <p:nvPr/>
          </p:nvSpPr>
          <p:spPr>
            <a:xfrm>
              <a:off x="7753350" y="285750"/>
              <a:ext cx="419100" cy="419100"/>
            </a:xfrm>
            <a:prstGeom prst="roundRect">
              <a:avLst>
                <a:gd fmla="val 18181" name="adj"/>
              </a:avLst>
            </a:prstGeom>
            <a:solidFill>
              <a:srgbClr val="B23A22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8"/>
            <p:cNvSpPr txBox="1"/>
            <p:nvPr/>
          </p:nvSpPr>
          <p:spPr>
            <a:xfrm>
              <a:off x="7753350" y="320802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B23A2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biotech</a:t>
              </a:r>
              <a:endParaRPr b="0" sz="2400">
                <a:solidFill>
                  <a:srgbClr val="B23A2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2" name="Google Shape;162;p18"/>
            <p:cNvSpPr txBox="1"/>
            <p:nvPr/>
          </p:nvSpPr>
          <p:spPr>
            <a:xfrm>
              <a:off x="6191250" y="209550"/>
              <a:ext cx="1428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رصد المعادن</a:t>
              </a:r>
              <a:endParaRPr b="1" sz="1500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Bronze Disease</a:t>
              </a:r>
              <a:endParaRPr b="0" sz="1000">
                <a:solidFill>
                  <a:srgbClr val="64748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  <p:cxnSp>
          <p:nvCxnSpPr>
            <p:cNvPr id="163" name="Google Shape;163;p18"/>
            <p:cNvCxnSpPr/>
            <p:nvPr/>
          </p:nvCxnSpPr>
          <p:spPr>
            <a:xfrm>
              <a:off x="6048375" y="190500"/>
              <a:ext cx="0" cy="6192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4" name="Google Shape;164;p18"/>
            <p:cNvSpPr txBox="1"/>
            <p:nvPr/>
          </p:nvSpPr>
          <p:spPr>
            <a:xfrm>
              <a:off x="285750" y="142875"/>
              <a:ext cx="5524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التتبع التلقائي لتغير لون المعادن والاكتشاف المبكر لظهور </a:t>
              </a:r>
              <a:r>
                <a:rPr b="1" lang="en" sz="1150">
                  <a:solidFill>
                    <a:srgbClr val="B23A22"/>
                  </a:solidFill>
                  <a:latin typeface="Tajawal"/>
                  <a:ea typeface="Tajawal"/>
                  <a:cs typeface="Tajawal"/>
                  <a:sym typeface="Tajawal"/>
                </a:rPr>
                <a:t>"مرض البرونز" (Bronze Disease)</a:t>
              </a: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 المدمر على المسكوكات والتحف النحاسية.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65" name="Google Shape;165;p18"/>
          <p:cNvGrpSpPr/>
          <p:nvPr/>
        </p:nvGrpSpPr>
        <p:grpSpPr>
          <a:xfrm>
            <a:off x="381000" y="2381250"/>
            <a:ext cx="8382150" cy="1000200"/>
            <a:chOff x="0" y="0"/>
            <a:chExt cx="8382150" cy="1000200"/>
          </a:xfrm>
        </p:grpSpPr>
        <p:sp>
          <p:nvSpPr>
            <p:cNvPr id="166" name="Google Shape;166;p18"/>
            <p:cNvSpPr/>
            <p:nvPr/>
          </p:nvSpPr>
          <p:spPr>
            <a:xfrm>
              <a:off x="0" y="0"/>
              <a:ext cx="83820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8324850" y="0"/>
              <a:ext cx="57300" cy="10002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8"/>
            <p:cNvSpPr/>
            <p:nvPr/>
          </p:nvSpPr>
          <p:spPr>
            <a:xfrm>
              <a:off x="7753350" y="285750"/>
              <a:ext cx="419100" cy="419100"/>
            </a:xfrm>
            <a:prstGeom prst="roundRect">
              <a:avLst>
                <a:gd fmla="val 18181" name="adj"/>
              </a:avLst>
            </a:prstGeom>
            <a:solidFill>
              <a:srgbClr val="D97706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8"/>
            <p:cNvSpPr txBox="1"/>
            <p:nvPr/>
          </p:nvSpPr>
          <p:spPr>
            <a:xfrm>
              <a:off x="7753350" y="320802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D9770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center_focus_strong</a:t>
              </a:r>
              <a:endParaRPr b="0" sz="2400">
                <a:solidFill>
                  <a:srgbClr val="D9770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0" name="Google Shape;170;p18"/>
            <p:cNvSpPr txBox="1"/>
            <p:nvPr/>
          </p:nvSpPr>
          <p:spPr>
            <a:xfrm>
              <a:off x="6191250" y="209550"/>
              <a:ext cx="1428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D97706"/>
                  </a:solidFill>
                  <a:latin typeface="Cairo"/>
                  <a:ea typeface="Cairo"/>
                  <a:cs typeface="Cairo"/>
                  <a:sym typeface="Cairo"/>
                </a:rPr>
                <a:t>فحص الفخاريات</a:t>
              </a:r>
              <a:endParaRPr b="1" sz="1500">
                <a:solidFill>
                  <a:srgbClr val="D97706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Computer Vision</a:t>
              </a:r>
              <a:endParaRPr b="0" sz="1000">
                <a:solidFill>
                  <a:srgbClr val="64748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  <p:cxnSp>
          <p:nvCxnSpPr>
            <p:cNvPr id="171" name="Google Shape;171;p18"/>
            <p:cNvCxnSpPr/>
            <p:nvPr/>
          </p:nvCxnSpPr>
          <p:spPr>
            <a:xfrm>
              <a:off x="6048375" y="190500"/>
              <a:ext cx="0" cy="6192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2" name="Google Shape;172;p18"/>
            <p:cNvSpPr txBox="1"/>
            <p:nvPr/>
          </p:nvSpPr>
          <p:spPr>
            <a:xfrm>
              <a:off x="285750" y="142875"/>
              <a:ext cx="5524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تتبع تقشر طبقات التزجيج على الأواني الفخارية وتكون الأملاح السطحية باستخدام </a:t>
              </a:r>
              <a:r>
                <a:rPr b="1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أنظمة الرؤية الحاسوبية الدورية</a:t>
              </a: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.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173" name="Google Shape;173;p18"/>
          <p:cNvGrpSpPr/>
          <p:nvPr/>
        </p:nvGrpSpPr>
        <p:grpSpPr>
          <a:xfrm>
            <a:off x="381000" y="3524250"/>
            <a:ext cx="8382150" cy="1000200"/>
            <a:chOff x="0" y="0"/>
            <a:chExt cx="8382150" cy="1000200"/>
          </a:xfrm>
        </p:grpSpPr>
        <p:sp>
          <p:nvSpPr>
            <p:cNvPr id="174" name="Google Shape;174;p18"/>
            <p:cNvSpPr/>
            <p:nvPr/>
          </p:nvSpPr>
          <p:spPr>
            <a:xfrm>
              <a:off x="0" y="0"/>
              <a:ext cx="8382000" cy="10002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8324850" y="0"/>
              <a:ext cx="57300" cy="1000200"/>
            </a:xfrm>
            <a:prstGeom prst="roundRect">
              <a:avLst>
                <a:gd fmla="val 50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7753350" y="285750"/>
              <a:ext cx="419100" cy="419100"/>
            </a:xfrm>
            <a:prstGeom prst="roundRect">
              <a:avLst>
                <a:gd fmla="val 18181" name="adj"/>
              </a:avLst>
            </a:prstGeom>
            <a:solidFill>
              <a:srgbClr val="2C5E43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8"/>
            <p:cNvSpPr txBox="1"/>
            <p:nvPr/>
          </p:nvSpPr>
          <p:spPr>
            <a:xfrm>
              <a:off x="7753350" y="320802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2C5E4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notifications_active</a:t>
              </a:r>
              <a:endParaRPr b="0" sz="2400">
                <a:solidFill>
                  <a:srgbClr val="2C5E4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8" name="Google Shape;178;p18"/>
            <p:cNvSpPr txBox="1"/>
            <p:nvPr/>
          </p:nvSpPr>
          <p:spPr>
            <a:xfrm>
              <a:off x="6191250" y="209550"/>
              <a:ext cx="1428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88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الاستجابة الفورية</a:t>
              </a:r>
              <a:endParaRPr b="1" sz="1388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64748B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Automated Intervention</a:t>
              </a:r>
              <a:endParaRPr b="0" sz="925">
                <a:solidFill>
                  <a:srgbClr val="64748B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  <p:cxnSp>
          <p:nvCxnSpPr>
            <p:cNvPr id="179" name="Google Shape;179;p18"/>
            <p:cNvCxnSpPr/>
            <p:nvPr/>
          </p:nvCxnSpPr>
          <p:spPr>
            <a:xfrm>
              <a:off x="6048375" y="190500"/>
              <a:ext cx="0" cy="6192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0" name="Google Shape;180;p18"/>
            <p:cNvSpPr txBox="1"/>
            <p:nvPr/>
          </p:nvSpPr>
          <p:spPr>
            <a:xfrm>
              <a:off x="285750" y="142875"/>
              <a:ext cx="5524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إرسال تنبيهات فورية لأمناء المتاحف بضرورة </a:t>
              </a:r>
              <a:r>
                <a:rPr b="1" lang="en" sz="1150">
                  <a:solidFill>
                    <a:srgbClr val="2C5E43"/>
                  </a:solidFill>
                  <a:latin typeface="Tajawal"/>
                  <a:ea typeface="Tajawal"/>
                  <a:cs typeface="Tajawal"/>
                  <a:sym typeface="Tajawal"/>
                </a:rPr>
                <a:t>التدخل الكيميائي السريع</a:t>
              </a: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 أو عزل القطعة الأثرية المتضررة في بيئة محكومة النيتروجين لمنع تفاقم التلف.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181" name="Google Shape;181;p18"/>
          <p:cNvSpPr/>
          <p:nvPr/>
        </p:nvSpPr>
        <p:spPr>
          <a:xfrm>
            <a:off x="381000" y="4886325"/>
            <a:ext cx="8382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87" name="Google Shape;187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8" name="Google Shape;188;p19"/>
            <p:cNvGrpSpPr/>
            <p:nvPr/>
          </p:nvGrpSpPr>
          <p:grpSpPr>
            <a:xfrm>
              <a:off x="8591550" y="209550"/>
              <a:ext cx="342900" cy="342900"/>
              <a:chOff x="19050" y="19050"/>
              <a:chExt cx="342900" cy="342900"/>
            </a:xfrm>
          </p:grpSpPr>
          <p:sp>
            <p:nvSpPr>
              <p:cNvPr id="189" name="Google Shape;189;p19"/>
              <p:cNvSpPr/>
              <p:nvPr/>
            </p:nvSpPr>
            <p:spPr>
              <a:xfrm>
                <a:off x="19050" y="19050"/>
                <a:ext cx="342900" cy="3429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2C5E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9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2C5E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9"/>
              <p:cNvSpPr/>
              <p:nvPr/>
            </p:nvSpPr>
            <p:spPr>
              <a:xfrm>
                <a:off x="171450" y="238125"/>
                <a:ext cx="38100" cy="76200"/>
              </a:xfrm>
              <a:prstGeom prst="rect">
                <a:avLst/>
              </a:prstGeom>
              <a:solidFill>
                <a:srgbClr val="2C5E4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2" name="Google Shape;192;p19"/>
            <p:cNvSpPr txBox="1"/>
            <p:nvPr/>
          </p:nvSpPr>
          <p:spPr>
            <a:xfrm>
              <a:off x="381000" y="238125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2C5E43"/>
                  </a:solidFill>
                  <a:latin typeface="Tajawal Medium"/>
                  <a:ea typeface="Tajawal Medium"/>
                  <a:cs typeface="Tajawal Medium"/>
                  <a:sym typeface="Tajawal Medium"/>
                </a:rPr>
                <a:t>الصيانة التنبؤية وحماية التراث | هيئة الشارقة للآثار</a:t>
              </a:r>
              <a:endParaRPr b="0" sz="1050">
                <a:solidFill>
                  <a:srgbClr val="2C5E43"/>
                </a:solidFill>
                <a:latin typeface="Tajawal Medium"/>
                <a:ea typeface="Tajawal Medium"/>
                <a:cs typeface="Tajawal Medium"/>
                <a:sym typeface="Tajawal Medium"/>
              </a:endParaRPr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8001000" y="1095375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381000" y="4886325"/>
              <a:ext cx="8382000" cy="96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" name="Google Shape;195;p19"/>
          <p:cNvSpPr txBox="1"/>
          <p:nvPr/>
        </p:nvSpPr>
        <p:spPr>
          <a:xfrm>
            <a:off x="381000" y="57150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rPr>
              <a:t>مجابهة التهديدات البيئية وفق معايير مشروع </a:t>
            </a:r>
            <a:r>
              <a:rPr b="1" lang="en" sz="2400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3"/>
              </a:rPr>
              <a:t>EAMENA</a:t>
            </a:r>
            <a:endParaRPr b="1" sz="2400">
              <a:solidFill>
                <a:srgbClr val="2C5E4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grpSp>
        <p:nvGrpSpPr>
          <p:cNvPr id="196" name="Google Shape;196;p19"/>
          <p:cNvGrpSpPr/>
          <p:nvPr/>
        </p:nvGrpSpPr>
        <p:grpSpPr>
          <a:xfrm>
            <a:off x="6286500" y="1524000"/>
            <a:ext cx="2476500" cy="3048000"/>
            <a:chOff x="0" y="0"/>
            <a:chExt cx="2476500" cy="3048000"/>
          </a:xfrm>
        </p:grpSpPr>
        <p:sp>
          <p:nvSpPr>
            <p:cNvPr id="197" name="Google Shape;197;p19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0" y="0"/>
              <a:ext cx="2476500" cy="666900"/>
            </a:xfrm>
            <a:prstGeom prst="roundRect">
              <a:avLst>
                <a:gd fmla="val 11428" name="adj"/>
              </a:avLst>
            </a:prstGeom>
            <a:solidFill>
              <a:srgbClr val="2C5E43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9"/>
            <p:cNvSpPr txBox="1"/>
            <p:nvPr/>
          </p:nvSpPr>
          <p:spPr>
            <a:xfrm>
              <a:off x="0" y="147828"/>
              <a:ext cx="2476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2C5E4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water</a:t>
              </a:r>
              <a:endParaRPr sz="3600">
                <a:solidFill>
                  <a:srgbClr val="2C5E4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1" name="Google Shape;201;p19"/>
            <p:cNvSpPr txBox="1"/>
            <p:nvPr/>
          </p:nvSpPr>
          <p:spPr>
            <a:xfrm>
              <a:off x="142875" y="809625"/>
              <a:ext cx="21909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المخاطر الهيدرولوجية</a:t>
              </a:r>
              <a:endParaRPr b="1" sz="14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نمذجة مخاطر السيول ومجاري الوديان الجارفة وتقييم تأثيرها المباشر على المواقع الأثرية المفتوحة في إمارة الشارقة.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02" name="Google Shape;202;p19"/>
          <p:cNvGrpSpPr/>
          <p:nvPr/>
        </p:nvGrpSpPr>
        <p:grpSpPr>
          <a:xfrm>
            <a:off x="3333750" y="1524000"/>
            <a:ext cx="2476500" cy="3048000"/>
            <a:chOff x="0" y="0"/>
            <a:chExt cx="2476500" cy="3048000"/>
          </a:xfrm>
        </p:grpSpPr>
        <p:sp>
          <p:nvSpPr>
            <p:cNvPr id="203" name="Google Shape;203;p19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0" y="0"/>
              <a:ext cx="2476500" cy="666900"/>
            </a:xfrm>
            <a:prstGeom prst="roundRect">
              <a:avLst>
                <a:gd fmla="val 11428" name="adj"/>
              </a:avLst>
            </a:prstGeom>
            <a:solidFill>
              <a:srgbClr val="2C5E43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9"/>
            <p:cNvSpPr txBox="1"/>
            <p:nvPr/>
          </p:nvSpPr>
          <p:spPr>
            <a:xfrm>
              <a:off x="0" y="147828"/>
              <a:ext cx="2476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2C5E4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air</a:t>
              </a:r>
              <a:endParaRPr sz="3600">
                <a:solidFill>
                  <a:srgbClr val="2C5E4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7" name="Google Shape;207;p19"/>
            <p:cNvSpPr txBox="1"/>
            <p:nvPr/>
          </p:nvSpPr>
          <p:spPr>
            <a:xfrm>
              <a:off x="142875" y="809625"/>
              <a:ext cx="21909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التعرية الريحية</a:t>
              </a:r>
              <a:endParaRPr b="1" sz="14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تتبع زحف الكثبان الرملية وتأثير الرياح السافي (Sand Abrasion) على تسريع وتيرة تآكل النقوش الصخرية التاريخية.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08" name="Google Shape;208;p19"/>
          <p:cNvGrpSpPr/>
          <p:nvPr/>
        </p:nvGrpSpPr>
        <p:grpSpPr>
          <a:xfrm>
            <a:off x="381000" y="1524000"/>
            <a:ext cx="2476500" cy="3048000"/>
            <a:chOff x="0" y="0"/>
            <a:chExt cx="2476500" cy="3048000"/>
          </a:xfrm>
        </p:grpSpPr>
        <p:sp>
          <p:nvSpPr>
            <p:cNvPr id="209" name="Google Shape;209;p19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9"/>
            <p:cNvSpPr/>
            <p:nvPr/>
          </p:nvSpPr>
          <p:spPr>
            <a:xfrm>
              <a:off x="0" y="0"/>
              <a:ext cx="2476500" cy="38100"/>
            </a:xfrm>
            <a:prstGeom prst="roundRect">
              <a:avLst>
                <a:gd fmla="val 50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9"/>
            <p:cNvSpPr/>
            <p:nvPr/>
          </p:nvSpPr>
          <p:spPr>
            <a:xfrm>
              <a:off x="0" y="0"/>
              <a:ext cx="2476500" cy="666900"/>
            </a:xfrm>
            <a:prstGeom prst="roundRect">
              <a:avLst>
                <a:gd fmla="val 11428" name="adj"/>
              </a:avLst>
            </a:prstGeom>
            <a:solidFill>
              <a:srgbClr val="2C5E43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9"/>
            <p:cNvSpPr txBox="1"/>
            <p:nvPr/>
          </p:nvSpPr>
          <p:spPr>
            <a:xfrm>
              <a:off x="0" y="147828"/>
              <a:ext cx="2476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2C5E4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 sz="3600">
                <a:solidFill>
                  <a:srgbClr val="2C5E4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3" name="Google Shape;213;p19"/>
            <p:cNvSpPr txBox="1"/>
            <p:nvPr/>
          </p:nvSpPr>
          <p:spPr>
            <a:xfrm>
              <a:off x="142875" y="809625"/>
              <a:ext cx="21909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التقارير المؤتمتة</a:t>
              </a:r>
              <a:endParaRPr b="1" sz="14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أتمتة إصدار تقارير تقييم التهديدات البيئية لتحديد المواقع ذات الأولوية القصوى التي تتطلب خطط حماية عاجلة وتدخلات وقائية صارمة.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20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219" name="Google Shape;219;p20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0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0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" name="Google Shape;222;p20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2C5E43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الصيانة التنبؤية وحماية التراث | هيئة الشارقة للآثار</a:t>
            </a:r>
            <a:endParaRPr b="0" sz="1050">
              <a:solidFill>
                <a:srgbClr val="2C5E43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381000" y="523875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rPr>
              <a:t>مصفوفة الاستجابة والتدخل السريع لفرق الترميم</a:t>
            </a:r>
            <a:endParaRPr b="1" sz="2400">
              <a:solidFill>
                <a:srgbClr val="2C5E4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8001000" y="106680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B23A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5" name="Google Shape;225;p20"/>
          <p:cNvGrpSpPr/>
          <p:nvPr/>
        </p:nvGrpSpPr>
        <p:grpSpPr>
          <a:xfrm>
            <a:off x="5715000" y="1428750"/>
            <a:ext cx="3048000" cy="714300"/>
            <a:chOff x="0" y="0"/>
            <a:chExt cx="3048000" cy="714300"/>
          </a:xfrm>
        </p:grpSpPr>
        <p:sp>
          <p:nvSpPr>
            <p:cNvPr id="226" name="Google Shape;226;p20"/>
            <p:cNvSpPr/>
            <p:nvPr/>
          </p:nvSpPr>
          <p:spPr>
            <a:xfrm>
              <a:off x="0" y="0"/>
              <a:ext cx="3048000" cy="714300"/>
            </a:xfrm>
            <a:prstGeom prst="roundRect">
              <a:avLst>
                <a:gd fmla="val 10666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0"/>
            <p:cNvSpPr txBox="1"/>
            <p:nvPr/>
          </p:nvSpPr>
          <p:spPr>
            <a:xfrm>
              <a:off x="95250" y="95250"/>
              <a:ext cx="2857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المستوى الأحمر (تدخل عاجل)</a:t>
              </a:r>
              <a:endParaRPr b="1" sz="140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sp>
        <p:nvSpPr>
          <p:cNvPr id="228" name="Google Shape;228;p20"/>
          <p:cNvSpPr txBox="1"/>
          <p:nvPr/>
        </p:nvSpPr>
        <p:spPr>
          <a:xfrm>
            <a:off x="381000" y="1428750"/>
            <a:ext cx="50484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23A22"/>
                </a:solidFill>
                <a:latin typeface="Tajawal"/>
                <a:ea typeface="Tajawal"/>
                <a:cs typeface="Tajawal"/>
                <a:sym typeface="Tajawal"/>
              </a:rPr>
              <a:t>المؤشر:</a:t>
            </a:r>
            <a:r>
              <a:rPr b="0" lang="en" sz="120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 ينذر بوجود ميول هيكلي خطير أو شروخ نافذة متسارعة.</a:t>
            </a:r>
            <a:endParaRPr b="0" sz="1200">
              <a:solidFill>
                <a:srgbClr val="334155"/>
              </a:solidFill>
              <a:latin typeface="Tajawal"/>
              <a:ea typeface="Tajawal"/>
              <a:cs typeface="Tajawal"/>
              <a:sym typeface="Tajawal"/>
            </a:endParaRPr>
          </a:p>
          <a:p>
            <a:pPr indent="0" lvl="0" marL="0" rtl="1" algn="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23A22"/>
                </a:solidFill>
                <a:latin typeface="Tajawal"/>
                <a:ea typeface="Tajawal"/>
                <a:cs typeface="Tajawal"/>
                <a:sym typeface="Tajawal"/>
              </a:rPr>
              <a:t>الإجراء الفوري:</a:t>
            </a:r>
            <a:r>
              <a:rPr b="0" lang="en" sz="120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 إيقاف الزيارات وتدخل فريق الترميم بشكل عاجل.</a:t>
            </a:r>
            <a:endParaRPr b="0" sz="1200">
              <a:solidFill>
                <a:srgbClr val="334155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grpSp>
        <p:nvGrpSpPr>
          <p:cNvPr id="229" name="Google Shape;229;p20"/>
          <p:cNvGrpSpPr/>
          <p:nvPr/>
        </p:nvGrpSpPr>
        <p:grpSpPr>
          <a:xfrm>
            <a:off x="5715000" y="2381250"/>
            <a:ext cx="3048000" cy="714300"/>
            <a:chOff x="0" y="0"/>
            <a:chExt cx="3048000" cy="714300"/>
          </a:xfrm>
        </p:grpSpPr>
        <p:sp>
          <p:nvSpPr>
            <p:cNvPr id="230" name="Google Shape;230;p20"/>
            <p:cNvSpPr/>
            <p:nvPr/>
          </p:nvSpPr>
          <p:spPr>
            <a:xfrm>
              <a:off x="0" y="0"/>
              <a:ext cx="3048000" cy="714300"/>
            </a:xfrm>
            <a:prstGeom prst="roundRect">
              <a:avLst>
                <a:gd fmla="val 10666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0"/>
            <p:cNvSpPr txBox="1"/>
            <p:nvPr/>
          </p:nvSpPr>
          <p:spPr>
            <a:xfrm>
              <a:off x="95250" y="95250"/>
              <a:ext cx="2857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المستوى الأصفر (مراقبة مشددة)</a:t>
              </a:r>
              <a:endParaRPr b="1" sz="140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sp>
        <p:nvSpPr>
          <p:cNvPr id="232" name="Google Shape;232;p20"/>
          <p:cNvSpPr txBox="1"/>
          <p:nvPr/>
        </p:nvSpPr>
        <p:spPr>
          <a:xfrm>
            <a:off x="381000" y="2381250"/>
            <a:ext cx="50484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97706"/>
                </a:solidFill>
                <a:latin typeface="Tajawal"/>
                <a:ea typeface="Tajawal"/>
                <a:cs typeface="Tajawal"/>
                <a:sym typeface="Tajawal"/>
              </a:rPr>
              <a:t>المؤشر:</a:t>
            </a:r>
            <a:r>
              <a:rPr b="0" lang="en" sz="120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 يدل على اتساع طفيف في الشروخ أو رصد رطوبة متزايدة.</a:t>
            </a:r>
            <a:endParaRPr b="0" sz="1200">
              <a:solidFill>
                <a:srgbClr val="334155"/>
              </a:solidFill>
              <a:latin typeface="Tajawal"/>
              <a:ea typeface="Tajawal"/>
              <a:cs typeface="Tajawal"/>
              <a:sym typeface="Tajawal"/>
            </a:endParaRPr>
          </a:p>
          <a:p>
            <a:pPr indent="0" lvl="0" marL="0" rtl="1" algn="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97706"/>
                </a:solidFill>
                <a:latin typeface="Tajawal"/>
                <a:ea typeface="Tajawal"/>
                <a:cs typeface="Tajawal"/>
                <a:sym typeface="Tajawal"/>
              </a:rPr>
              <a:t>الإجراء المطلوب:</a:t>
            </a:r>
            <a:r>
              <a:rPr b="0" lang="en" sz="120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 تكثيف الفحص الميداني ليصبح كل 3 أشهر.</a:t>
            </a:r>
            <a:endParaRPr b="0" sz="1200">
              <a:solidFill>
                <a:srgbClr val="334155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grpSp>
        <p:nvGrpSpPr>
          <p:cNvPr id="233" name="Google Shape;233;p20"/>
          <p:cNvGrpSpPr/>
          <p:nvPr/>
        </p:nvGrpSpPr>
        <p:grpSpPr>
          <a:xfrm>
            <a:off x="5715000" y="3333750"/>
            <a:ext cx="3048000" cy="714300"/>
            <a:chOff x="0" y="0"/>
            <a:chExt cx="3048000" cy="714300"/>
          </a:xfrm>
        </p:grpSpPr>
        <p:sp>
          <p:nvSpPr>
            <p:cNvPr id="234" name="Google Shape;234;p20"/>
            <p:cNvSpPr/>
            <p:nvPr/>
          </p:nvSpPr>
          <p:spPr>
            <a:xfrm>
              <a:off x="0" y="0"/>
              <a:ext cx="3048000" cy="714300"/>
            </a:xfrm>
            <a:prstGeom prst="roundRect">
              <a:avLst>
                <a:gd fmla="val 10666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0"/>
            <p:cNvSpPr txBox="1"/>
            <p:nvPr/>
          </p:nvSpPr>
          <p:spPr>
            <a:xfrm>
              <a:off x="95250" y="95250"/>
              <a:ext cx="2857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Cairo"/>
                  <a:ea typeface="Cairo"/>
                  <a:cs typeface="Cairo"/>
                  <a:sym typeface="Cairo"/>
                </a:rPr>
                <a:t>المستوى الأخضر (طبيعي ومستقر)</a:t>
              </a:r>
              <a:endParaRPr b="1" sz="1400">
                <a:solidFill>
                  <a:srgbClr val="FFFFFF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sp>
        <p:nvSpPr>
          <p:cNvPr id="236" name="Google Shape;236;p20"/>
          <p:cNvSpPr txBox="1"/>
          <p:nvPr/>
        </p:nvSpPr>
        <p:spPr>
          <a:xfrm>
            <a:off x="381000" y="3333750"/>
            <a:ext cx="50484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C5E43"/>
                </a:solidFill>
                <a:latin typeface="Tajawal"/>
                <a:ea typeface="Tajawal"/>
                <a:cs typeface="Tajawal"/>
                <a:sym typeface="Tajawal"/>
              </a:rPr>
              <a:t>المؤشر:</a:t>
            </a:r>
            <a:r>
              <a:rPr b="0" lang="en" sz="120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 يشير إلى تآكل سطحي يقل عن 0.5 ملم.</a:t>
            </a:r>
            <a:endParaRPr b="0" sz="1200">
              <a:solidFill>
                <a:srgbClr val="334155"/>
              </a:solidFill>
              <a:latin typeface="Tajawal"/>
              <a:ea typeface="Tajawal"/>
              <a:cs typeface="Tajawal"/>
              <a:sym typeface="Tajawal"/>
            </a:endParaRPr>
          </a:p>
          <a:p>
            <a:pPr indent="0" lvl="0" marL="0" rtl="1" algn="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C5E43"/>
                </a:solidFill>
                <a:latin typeface="Tajawal"/>
                <a:ea typeface="Tajawal"/>
                <a:cs typeface="Tajawal"/>
                <a:sym typeface="Tajawal"/>
              </a:rPr>
              <a:t>الإجراء المطلوب:</a:t>
            </a:r>
            <a:r>
              <a:rPr b="0" lang="en" sz="120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rPr>
              <a:t> الاستمرار في المسح الدوري المجدول سنوياً.</a:t>
            </a:r>
            <a:endParaRPr b="0" sz="1200">
              <a:solidFill>
                <a:srgbClr val="334155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381000" y="4886325"/>
            <a:ext cx="8382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21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243" name="Google Shape;243;p21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1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1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6" name="Google Shape;246;p21"/>
          <p:cNvSpPr txBox="1"/>
          <p:nvPr/>
        </p:nvSpPr>
        <p:spPr>
          <a:xfrm>
            <a:off x="381000" y="209550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2C5E43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الصيانة التنبؤية وحماية التراث | هيئة الشارقة للآثار</a:t>
            </a:r>
            <a:endParaRPr b="0" sz="1050">
              <a:solidFill>
                <a:srgbClr val="2C5E43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381000" y="552450"/>
            <a:ext cx="8382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rPr>
              <a:t>من الفحص الميداني إلى التقرير التنفيذي المعتمد</a:t>
            </a:r>
            <a:endParaRPr b="1" sz="2200">
              <a:solidFill>
                <a:srgbClr val="2C5E4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8001000" y="10477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B23A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9" name="Google Shape;249;p21"/>
          <p:cNvGrpSpPr/>
          <p:nvPr/>
        </p:nvGrpSpPr>
        <p:grpSpPr>
          <a:xfrm>
            <a:off x="4762500" y="1352550"/>
            <a:ext cx="4000500" cy="3286200"/>
            <a:chOff x="0" y="0"/>
            <a:chExt cx="4000500" cy="3286200"/>
          </a:xfrm>
        </p:grpSpPr>
        <p:sp>
          <p:nvSpPr>
            <p:cNvPr id="250" name="Google Shape;250;p21"/>
            <p:cNvSpPr/>
            <p:nvPr/>
          </p:nvSpPr>
          <p:spPr>
            <a:xfrm>
              <a:off x="0" y="0"/>
              <a:ext cx="4000500" cy="3286200"/>
            </a:xfrm>
            <a:prstGeom prst="roundRect">
              <a:avLst>
                <a:gd fmla="val 2898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0" y="0"/>
              <a:ext cx="4000500" cy="47700"/>
            </a:xfrm>
            <a:prstGeom prst="roundRect">
              <a:avLst>
                <a:gd fmla="val 40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1"/>
            <p:cNvSpPr txBox="1"/>
            <p:nvPr/>
          </p:nvSpPr>
          <p:spPr>
            <a:xfrm>
              <a:off x="3381375" y="231394"/>
              <a:ext cx="428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2C5E4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picture_as_pdf</a:t>
              </a:r>
              <a:endParaRPr sz="2800">
                <a:solidFill>
                  <a:srgbClr val="2C5E4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3" name="Google Shape;253;p21"/>
            <p:cNvSpPr txBox="1"/>
            <p:nvPr/>
          </p:nvSpPr>
          <p:spPr>
            <a:xfrm>
              <a:off x="190500" y="190500"/>
              <a:ext cx="3095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التوليد التلقائي للتقارير الفنية</a:t>
              </a:r>
              <a:endParaRPr b="1" sz="15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cxnSp>
          <p:nvCxnSpPr>
            <p:cNvPr id="254" name="Google Shape;254;p21"/>
            <p:cNvCxnSpPr/>
            <p:nvPr/>
          </p:nvCxnSpPr>
          <p:spPr>
            <a:xfrm>
              <a:off x="190500" y="714375"/>
              <a:ext cx="36195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5" name="Google Shape;255;p21"/>
            <p:cNvSpPr txBox="1"/>
            <p:nvPr/>
          </p:nvSpPr>
          <p:spPr>
            <a:xfrm>
              <a:off x="190500" y="838200"/>
              <a:ext cx="36195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50" u="none" strike="noStrike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إمكانية توليد تقرير فني شامل للحالة الإنشائية </a:t>
              </a:r>
              <a:r>
                <a:rPr b="1" i="0" lang="en" sz="1150" u="none" strike="noStrike">
                  <a:solidFill>
                    <a:srgbClr val="B23A22"/>
                  </a:solidFill>
                  <a:latin typeface="Tajawal"/>
                  <a:ea typeface="Tajawal"/>
                  <a:cs typeface="Tajawal"/>
                  <a:sym typeface="Tajawal"/>
                </a:rPr>
                <a:t>(Condition Reports)</a:t>
              </a:r>
              <a:r>
                <a:rPr b="0" i="0" lang="en" sz="1150" u="none" strike="noStrike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 بصيغة PDF بضغطة زر واحدة.</a:t>
              </a:r>
              <a:endParaRPr b="0" i="0" sz="1150" u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i="0" lang="en" sz="1150" u="none" strike="noStrike">
                  <a:solidFill>
                    <a:srgbClr val="2C5E43"/>
                  </a:solidFill>
                  <a:latin typeface="Tajawal"/>
                  <a:ea typeface="Tajawal"/>
                  <a:cs typeface="Tajawal"/>
                  <a:sym typeface="Tajawal"/>
                </a:rPr>
                <a:t>يتضمن التقرير البيانات التشخيصية التالية:</a:t>
              </a:r>
              <a:endParaRPr b="0" i="0" sz="1150" u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-301625" lvl="0" marL="457200" rtl="1" algn="r">
                <a:spcBef>
                  <a:spcPts val="105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Tajawal"/>
                <a:buChar char="●"/>
              </a:pPr>
              <a:r>
                <a:rPr b="0" i="0" lang="en" sz="1150" u="none" strike="noStrike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الصور الحرارية وتحليلات الإجهاد</a:t>
              </a:r>
              <a:endParaRPr b="0" i="0" sz="1150" u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-301625" lvl="0" marL="457200" rtl="1" algn="r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Tajawal"/>
                <a:buChar char="●"/>
              </a:pPr>
              <a:r>
                <a:rPr b="0" i="0" lang="en" sz="1150" u="none" strike="noStrike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قياس أطوال الشروخ ومعدلات الاتساع</a:t>
              </a:r>
              <a:endParaRPr b="0" i="0" sz="1150" u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-301625" lvl="0" marL="457200" rtl="1" algn="r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Tajawal"/>
                <a:buChar char="●"/>
              </a:pPr>
              <a:r>
                <a:rPr b="0" i="0" lang="en" sz="1150" u="none" strike="noStrike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التغيرات الهندسية والرصد الهيكلي</a:t>
              </a:r>
              <a:endParaRPr b="0" i="0" sz="1150" u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-301625" lvl="0" marL="457200" rtl="1" algn="r">
                <a:spcBef>
                  <a:spcPts val="450"/>
                </a:spcBef>
                <a:spcAft>
                  <a:spcPts val="450"/>
                </a:spcAft>
                <a:buClr>
                  <a:srgbClr val="334155"/>
                </a:buClr>
                <a:buSzPts val="1150"/>
                <a:buFont typeface="Tajawal"/>
                <a:buChar char="●"/>
              </a:pPr>
              <a:r>
                <a:rPr b="0" i="0" lang="en" sz="1150" u="none" strike="noStrike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التوصيات الفنية والحلول المباشرة</a:t>
              </a:r>
              <a:endParaRPr b="0" i="0" sz="1150" u="none" strike="noStrike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56" name="Google Shape;256;p21"/>
          <p:cNvGrpSpPr/>
          <p:nvPr/>
        </p:nvGrpSpPr>
        <p:grpSpPr>
          <a:xfrm>
            <a:off x="381000" y="1352550"/>
            <a:ext cx="4000500" cy="3286200"/>
            <a:chOff x="0" y="0"/>
            <a:chExt cx="4000500" cy="3286200"/>
          </a:xfrm>
        </p:grpSpPr>
        <p:sp>
          <p:nvSpPr>
            <p:cNvPr id="257" name="Google Shape;257;p21"/>
            <p:cNvSpPr/>
            <p:nvPr/>
          </p:nvSpPr>
          <p:spPr>
            <a:xfrm>
              <a:off x="0" y="0"/>
              <a:ext cx="4000500" cy="3286200"/>
            </a:xfrm>
            <a:prstGeom prst="roundRect">
              <a:avLst>
                <a:gd fmla="val 2898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1"/>
            <p:cNvSpPr/>
            <p:nvPr/>
          </p:nvSpPr>
          <p:spPr>
            <a:xfrm>
              <a:off x="0" y="0"/>
              <a:ext cx="4000500" cy="47700"/>
            </a:xfrm>
            <a:prstGeom prst="roundRect">
              <a:avLst>
                <a:gd fmla="val 40000" name="adj"/>
              </a:avLst>
            </a:prstGeom>
            <a:solidFill>
              <a:srgbClr val="B23A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1"/>
            <p:cNvSpPr txBox="1"/>
            <p:nvPr/>
          </p:nvSpPr>
          <p:spPr>
            <a:xfrm>
              <a:off x="3381375" y="231394"/>
              <a:ext cx="428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B23A2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sz="2800">
                <a:solidFill>
                  <a:srgbClr val="B23A2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60" name="Google Shape;260;p21"/>
            <p:cNvSpPr txBox="1"/>
            <p:nvPr/>
          </p:nvSpPr>
          <p:spPr>
            <a:xfrm>
              <a:off x="190500" y="190500"/>
              <a:ext cx="3095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B23A22"/>
                  </a:solidFill>
                  <a:latin typeface="Cairo"/>
                  <a:ea typeface="Cairo"/>
                  <a:cs typeface="Cairo"/>
                  <a:sym typeface="Cairo"/>
                </a:rPr>
                <a:t>المتابعة القيادية اللحظية</a:t>
              </a:r>
              <a:endParaRPr b="1" sz="1500">
                <a:solidFill>
                  <a:srgbClr val="B23A22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cxnSp>
          <p:nvCxnSpPr>
            <p:cNvPr id="261" name="Google Shape;261;p21"/>
            <p:cNvCxnSpPr/>
            <p:nvPr/>
          </p:nvCxnSpPr>
          <p:spPr>
            <a:xfrm>
              <a:off x="190500" y="714375"/>
              <a:ext cx="36195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2" name="Google Shape;262;p21"/>
            <p:cNvSpPr txBox="1"/>
            <p:nvPr/>
          </p:nvSpPr>
          <p:spPr>
            <a:xfrm>
              <a:off x="190500" y="838200"/>
              <a:ext cx="3619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يتم رفع التقارير بشكل تلقائي ومباشر إلى لوحة التحكم </a:t>
              </a:r>
              <a:r>
                <a:rPr b="1" lang="en" sz="1150">
                  <a:solidFill>
                    <a:srgbClr val="2C5E43"/>
                  </a:solidFill>
                  <a:latin typeface="Tajawal"/>
                  <a:ea typeface="Tajawal"/>
                  <a:cs typeface="Tajawal"/>
                  <a:sym typeface="Tajawal"/>
                </a:rPr>
                <a:t>(Dashboard)</a:t>
              </a: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 التنفيذية الخاصة بسعادة مدير الهيئة.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0" lvl="0" marL="0" rtl="1" algn="r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B23A22"/>
                  </a:solidFill>
                  <a:latin typeface="Tajawal"/>
                  <a:ea typeface="Tajawal"/>
                  <a:cs typeface="Tajawal"/>
                  <a:sym typeface="Tajawal"/>
                </a:rPr>
                <a:t>أبرز المزايا التشغيلية للوحة القيادة:</a:t>
              </a:r>
              <a:endParaRPr b="1" sz="1150">
                <a:solidFill>
                  <a:srgbClr val="B23A22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-301625" lvl="0" marL="457200" rtl="1" algn="r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Tajawal"/>
                <a:buChar char="●"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متابعة سلامة كافة المواقع الأثرية لحظياً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-301625" lvl="0" marL="457200" rtl="1" algn="r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Tajawal"/>
                <a:buChar char="●"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شفافية تامة في تقديم البيانات والمؤشرات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  <a:p>
              <a:pPr indent="-301625" lvl="0" marL="457200" rtl="1" algn="r">
                <a:spcBef>
                  <a:spcPts val="600"/>
                </a:spcBef>
                <a:spcAft>
                  <a:spcPts val="600"/>
                </a:spcAft>
                <a:buClr>
                  <a:srgbClr val="334155"/>
                </a:buClr>
                <a:buSzPts val="1150"/>
                <a:buFont typeface="Tajawal"/>
                <a:buChar char="●"/>
              </a:pPr>
              <a:r>
                <a:rPr b="0" lang="en" sz="11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دعم التجاوب الفوري واتخاذ القرارات الوقائية</a:t>
              </a:r>
              <a:endParaRPr b="0" sz="11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263" name="Google Shape;263;p21"/>
          <p:cNvSpPr/>
          <p:nvPr/>
        </p:nvSpPr>
        <p:spPr>
          <a:xfrm>
            <a:off x="381000" y="4886325"/>
            <a:ext cx="8382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268;p22"/>
          <p:cNvGrpSpPr/>
          <p:nvPr/>
        </p:nvGrpSpPr>
        <p:grpSpPr>
          <a:xfrm>
            <a:off x="8591550" y="209550"/>
            <a:ext cx="342900" cy="342900"/>
            <a:chOff x="19050" y="19050"/>
            <a:chExt cx="342900" cy="342900"/>
          </a:xfrm>
        </p:grpSpPr>
        <p:sp>
          <p:nvSpPr>
            <p:cNvPr id="269" name="Google Shape;269;p22"/>
            <p:cNvSpPr/>
            <p:nvPr/>
          </p:nvSpPr>
          <p:spPr>
            <a:xfrm>
              <a:off x="19050" y="19050"/>
              <a:ext cx="342900" cy="342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2"/>
            <p:cNvSpPr/>
            <p:nvPr/>
          </p:nvSpPr>
          <p:spPr>
            <a:xfrm>
              <a:off x="95250" y="95250"/>
              <a:ext cx="1905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2"/>
            <p:cNvSpPr/>
            <p:nvPr/>
          </p:nvSpPr>
          <p:spPr>
            <a:xfrm>
              <a:off x="171450" y="238125"/>
              <a:ext cx="38100" cy="76200"/>
            </a:xfrm>
            <a:prstGeom prst="rect">
              <a:avLst/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2" name="Google Shape;272;p22"/>
          <p:cNvSpPr txBox="1"/>
          <p:nvPr/>
        </p:nvSpPr>
        <p:spPr>
          <a:xfrm>
            <a:off x="381000" y="238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2C5E43"/>
                </a:solidFill>
                <a:latin typeface="Tajawal Medium"/>
                <a:ea typeface="Tajawal Medium"/>
                <a:cs typeface="Tajawal Medium"/>
                <a:sym typeface="Tajawal Medium"/>
              </a:rPr>
              <a:t>خطة تحديث الأنظمة والمنصات الرقمية | هيئة الشارقة للآثار</a:t>
            </a:r>
            <a:endParaRPr b="0" sz="1050">
              <a:solidFill>
                <a:srgbClr val="2C5E43"/>
              </a:solidFill>
              <a:latin typeface="Tajawal Medium"/>
              <a:ea typeface="Tajawal Medium"/>
              <a:cs typeface="Tajawal Medium"/>
              <a:sym typeface="Tajawal Medium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381000" y="5715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rPr>
              <a:t>خارطة طريق التحول الرقمي لهيئة الشارقة للآثار</a:t>
            </a:r>
            <a:endParaRPr b="1" sz="2200">
              <a:solidFill>
                <a:srgbClr val="2C5E4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8001000" y="11239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B23A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22"/>
          <p:cNvCxnSpPr/>
          <p:nvPr/>
        </p:nvCxnSpPr>
        <p:spPr>
          <a:xfrm>
            <a:off x="952500" y="2000250"/>
            <a:ext cx="7239000" cy="0"/>
          </a:xfrm>
          <a:prstGeom prst="straightConnector1">
            <a:avLst/>
          </a:prstGeom>
          <a:solidFill>
            <a:srgbClr val="FFFFFF"/>
          </a:solidFill>
          <a:ln cap="rnd" cmpd="sng" w="28575">
            <a:solidFill>
              <a:srgbClr val="2C5E4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6" name="Google Shape;276;p22"/>
          <p:cNvGrpSpPr/>
          <p:nvPr/>
        </p:nvGrpSpPr>
        <p:grpSpPr>
          <a:xfrm>
            <a:off x="6238875" y="1857375"/>
            <a:ext cx="1905000" cy="2571825"/>
            <a:chOff x="-809625" y="0"/>
            <a:chExt cx="1905000" cy="2571825"/>
          </a:xfrm>
        </p:grpSpPr>
        <p:sp>
          <p:nvSpPr>
            <p:cNvPr id="277" name="Google Shape;277;p22"/>
            <p:cNvSpPr/>
            <p:nvPr/>
          </p:nvSpPr>
          <p:spPr>
            <a:xfrm>
              <a:off x="0" y="0"/>
              <a:ext cx="285900" cy="2859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2"/>
            <p:cNvSpPr txBox="1"/>
            <p:nvPr/>
          </p:nvSpPr>
          <p:spPr>
            <a:xfrm>
              <a:off x="0" y="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١</a:t>
              </a:r>
              <a:endParaRPr b="1" sz="11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133350" y="285750"/>
              <a:ext cx="19200" cy="3333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-809625" y="619125"/>
              <a:ext cx="1905000" cy="19527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-809625" y="619125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2"/>
            <p:cNvSpPr txBox="1"/>
            <p:nvPr/>
          </p:nvSpPr>
          <p:spPr>
            <a:xfrm>
              <a:off x="-714375" y="762000"/>
              <a:ext cx="1714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البنية التحتية</a:t>
              </a:r>
              <a:endParaRPr b="1" sz="125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تأسيس "مستودع التوائم الرقمية المركزي" لحفظ كافة المسوحات ثلاثية الأبعاد لمواقع الشارقة بشكل آمن.</a:t>
              </a:r>
              <a:endParaRPr b="0" sz="10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83" name="Google Shape;283;p22"/>
          <p:cNvGrpSpPr/>
          <p:nvPr/>
        </p:nvGrpSpPr>
        <p:grpSpPr>
          <a:xfrm>
            <a:off x="4333875" y="1857375"/>
            <a:ext cx="1905000" cy="2571825"/>
            <a:chOff x="-809625" y="0"/>
            <a:chExt cx="1905000" cy="2571825"/>
          </a:xfrm>
        </p:grpSpPr>
        <p:sp>
          <p:nvSpPr>
            <p:cNvPr id="284" name="Google Shape;284;p22"/>
            <p:cNvSpPr/>
            <p:nvPr/>
          </p:nvSpPr>
          <p:spPr>
            <a:xfrm>
              <a:off x="0" y="0"/>
              <a:ext cx="285900" cy="2859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2"/>
            <p:cNvSpPr txBox="1"/>
            <p:nvPr/>
          </p:nvSpPr>
          <p:spPr>
            <a:xfrm>
              <a:off x="0" y="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٢</a:t>
              </a:r>
              <a:endParaRPr b="1" sz="11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133350" y="285750"/>
              <a:ext cx="19200" cy="3333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-809625" y="619125"/>
              <a:ext cx="1905000" cy="19527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-809625" y="619125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2"/>
            <p:cNvSpPr txBox="1"/>
            <p:nvPr/>
          </p:nvSpPr>
          <p:spPr>
            <a:xfrm>
              <a:off x="-714375" y="762000"/>
              <a:ext cx="1714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بروتوكولات العمل</a:t>
              </a:r>
              <a:endParaRPr b="1" sz="125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اعتماد بروتوكول المسح بالاستشعار عن بعد والرادار كخطوة إلزامية سابقة لأي موسم تنقيب ميداني.</a:t>
              </a:r>
              <a:endParaRPr b="0" sz="10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90" name="Google Shape;290;p22"/>
          <p:cNvGrpSpPr/>
          <p:nvPr/>
        </p:nvGrpSpPr>
        <p:grpSpPr>
          <a:xfrm>
            <a:off x="2428875" y="1857375"/>
            <a:ext cx="1905000" cy="2571825"/>
            <a:chOff x="-809625" y="0"/>
            <a:chExt cx="1905000" cy="2571825"/>
          </a:xfrm>
        </p:grpSpPr>
        <p:sp>
          <p:nvSpPr>
            <p:cNvPr id="291" name="Google Shape;291;p22"/>
            <p:cNvSpPr/>
            <p:nvPr/>
          </p:nvSpPr>
          <p:spPr>
            <a:xfrm>
              <a:off x="0" y="0"/>
              <a:ext cx="285900" cy="2859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2"/>
            <p:cNvSpPr txBox="1"/>
            <p:nvPr/>
          </p:nvSpPr>
          <p:spPr>
            <a:xfrm>
              <a:off x="0" y="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٣</a:t>
              </a:r>
              <a:endParaRPr b="1" sz="11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133350" y="285750"/>
              <a:ext cx="19200" cy="3333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-809625" y="619125"/>
              <a:ext cx="1905000" cy="19527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2"/>
            <p:cNvSpPr/>
            <p:nvPr/>
          </p:nvSpPr>
          <p:spPr>
            <a:xfrm>
              <a:off x="-809625" y="619125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2"/>
            <p:cNvSpPr txBox="1"/>
            <p:nvPr/>
          </p:nvSpPr>
          <p:spPr>
            <a:xfrm>
              <a:off x="-714375" y="762000"/>
              <a:ext cx="1714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التغطية الجغرافية</a:t>
              </a:r>
              <a:endParaRPr b="1" sz="125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تدشين نظام الرصد السنوي رباعي الأبعاد لحصون وقلاع الشارقة التاريخية في الساحل الشرقي والمناطق الوسطى.</a:t>
              </a:r>
              <a:endParaRPr b="0" sz="10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grpSp>
        <p:nvGrpSpPr>
          <p:cNvPr id="297" name="Google Shape;297;p22"/>
          <p:cNvGrpSpPr/>
          <p:nvPr/>
        </p:nvGrpSpPr>
        <p:grpSpPr>
          <a:xfrm>
            <a:off x="523875" y="1857375"/>
            <a:ext cx="1905000" cy="2571825"/>
            <a:chOff x="-809625" y="0"/>
            <a:chExt cx="1905000" cy="2571825"/>
          </a:xfrm>
        </p:grpSpPr>
        <p:sp>
          <p:nvSpPr>
            <p:cNvPr id="298" name="Google Shape;298;p22"/>
            <p:cNvSpPr/>
            <p:nvPr/>
          </p:nvSpPr>
          <p:spPr>
            <a:xfrm>
              <a:off x="0" y="0"/>
              <a:ext cx="285900" cy="2859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2C5E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2"/>
            <p:cNvSpPr txBox="1"/>
            <p:nvPr/>
          </p:nvSpPr>
          <p:spPr>
            <a:xfrm>
              <a:off x="0" y="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٤</a:t>
              </a:r>
              <a:endParaRPr b="1" sz="110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00" name="Google Shape;300;p22"/>
            <p:cNvSpPr/>
            <p:nvPr/>
          </p:nvSpPr>
          <p:spPr>
            <a:xfrm>
              <a:off x="133350" y="285750"/>
              <a:ext cx="19200" cy="3333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2"/>
            <p:cNvSpPr/>
            <p:nvPr/>
          </p:nvSpPr>
          <p:spPr>
            <a:xfrm>
              <a:off x="-809625" y="619125"/>
              <a:ext cx="1905000" cy="19527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2"/>
            <p:cNvSpPr/>
            <p:nvPr/>
          </p:nvSpPr>
          <p:spPr>
            <a:xfrm>
              <a:off x="-809625" y="619125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2C5E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2"/>
            <p:cNvSpPr txBox="1"/>
            <p:nvPr/>
          </p:nvSpPr>
          <p:spPr>
            <a:xfrm>
              <a:off x="-714375" y="762000"/>
              <a:ext cx="1714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2C5E43"/>
                  </a:solidFill>
                  <a:latin typeface="Cairo"/>
                  <a:ea typeface="Cairo"/>
                  <a:cs typeface="Cairo"/>
                  <a:sym typeface="Cairo"/>
                </a:rPr>
                <a:t>بناء القدرات</a:t>
              </a:r>
              <a:endParaRPr b="1" sz="1250">
                <a:solidFill>
                  <a:srgbClr val="2C5E43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Tajawal"/>
                  <a:ea typeface="Tajawal"/>
                  <a:cs typeface="Tajawal"/>
                  <a:sym typeface="Tajawal"/>
                </a:rPr>
                <a:t>تدريب وتأهيل الكوادر الوطنية الشابة بالهيئة على أحدث أدوات المسح، وتحليل البيانات المكانية باستخدام الذكاء الاصطناعي.</a:t>
              </a:r>
              <a:endParaRPr b="0" sz="1050">
                <a:solidFill>
                  <a:srgbClr val="334155"/>
                </a:solidFill>
                <a:latin typeface="Tajawal"/>
                <a:ea typeface="Tajawal"/>
                <a:cs typeface="Tajawal"/>
                <a:sym typeface="Tajawal"/>
              </a:endParaRPr>
            </a:p>
          </p:txBody>
        </p:sp>
      </p:grpSp>
      <p:sp>
        <p:nvSpPr>
          <p:cNvPr id="304" name="Google Shape;304;p22"/>
          <p:cNvSpPr/>
          <p:nvPr/>
        </p:nvSpPr>
        <p:spPr>
          <a:xfrm>
            <a:off x="381000" y="4886325"/>
            <a:ext cx="8382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