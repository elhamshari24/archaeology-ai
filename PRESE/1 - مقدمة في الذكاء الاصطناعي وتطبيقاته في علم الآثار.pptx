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airo"/>
      <p:bold r:id="rId15"/>
    </p:embeddedFont>
    <p:embeddedFont>
      <p:font typeface="Tajawal Medium"/>
      <p:regular r:id="rId16"/>
      <p:bold r:id="rId17"/>
    </p:embeddedFont>
    <p:embeddedFont>
      <p:font typeface="Tajawal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iro-bold.fntdata"/><Relationship Id="rId14" Type="http://schemas.openxmlformats.org/officeDocument/2006/relationships/slide" Target="slides/slide9.xml"/><Relationship Id="rId17" Type="http://schemas.openxmlformats.org/officeDocument/2006/relationships/font" Target="fonts/TajawalMedium-bold.fntdata"/><Relationship Id="rId16" Type="http://schemas.openxmlformats.org/officeDocument/2006/relationships/font" Target="fonts/Tajawal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Tajawal-bold.fntdata"/><Relationship Id="rId6" Type="http://schemas.openxmlformats.org/officeDocument/2006/relationships/slide" Target="slides/slide1.xml"/><Relationship Id="rId18" Type="http://schemas.openxmlformats.org/officeDocument/2006/relationships/font" Target="fonts/Tajawa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ee13889d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ee13889d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ee13889d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ee13889d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8ee13889d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8ee13889d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ee13889d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8ee13889d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ee13889d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8ee13889d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8ee13889d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8ee13889d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ee13889d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8ee13889d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ee13889d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8ee13889d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8ee13889d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8ee13889d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ee13889d_8_0)">
  <p:cSld name="Generated (g3f8ee13889d_8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jp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redictingthepast.com/" TargetMode="External"/><Relationship Id="rId4" Type="http://schemas.openxmlformats.org/officeDocument/2006/relationships/image" Target="../media/image4.jpg"/><Relationship Id="rId5" Type="http://schemas.openxmlformats.org/officeDocument/2006/relationships/hyperlink" Target="https://colab.research.google.com/github/google-deepmind/predictingthepast/blob/master/colabs/inference.ipynb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3.jp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3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D4A373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 title="nlg-w.png"/>
          <p:cNvPicPr preferRelativeResize="0"/>
          <p:nvPr/>
        </p:nvPicPr>
        <p:blipFill rotWithShape="1">
          <a:blip r:embed="rId3">
            <a:alphaModFix/>
          </a:blip>
          <a:srcRect b="0" l="169" r="159" t="0"/>
          <a:stretch/>
        </p:blipFill>
        <p:spPr>
          <a:xfrm>
            <a:off x="6269200" y="233400"/>
            <a:ext cx="2000100" cy="7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352425" y="1002113"/>
            <a:ext cx="4057800" cy="3098475"/>
            <a:chOff x="352425" y="1002113"/>
            <a:chExt cx="4057800" cy="3098475"/>
          </a:xfrm>
        </p:grpSpPr>
        <p:pic>
          <p:nvPicPr>
            <p:cNvPr id="58" name="Google Shape;5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2425" y="1114425"/>
              <a:ext cx="4057800" cy="230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4"/>
            <p:cNvPicPr preferRelativeResize="0"/>
            <p:nvPr/>
          </p:nvPicPr>
          <p:blipFill rotWithShape="1">
            <a:blip r:embed="rId5">
              <a:alphaModFix/>
            </a:blip>
            <a:srcRect b="3582" l="0" r="0" t="9890"/>
            <a:stretch/>
          </p:blipFill>
          <p:spPr>
            <a:xfrm>
              <a:off x="381000" y="1002113"/>
              <a:ext cx="4000500" cy="2417400"/>
            </a:xfrm>
            <a:prstGeom prst="roundRect">
              <a:avLst>
                <a:gd fmla="val 3386" name="adj"/>
              </a:avLst>
            </a:prstGeom>
            <a:noFill/>
            <a:ln>
              <a:noFill/>
            </a:ln>
          </p:spPr>
        </p:pic>
        <p:grpSp>
          <p:nvGrpSpPr>
            <p:cNvPr id="60" name="Google Shape;60;p14"/>
            <p:cNvGrpSpPr/>
            <p:nvPr/>
          </p:nvGrpSpPr>
          <p:grpSpPr>
            <a:xfrm>
              <a:off x="376238" y="3519488"/>
              <a:ext cx="4010100" cy="581100"/>
              <a:chOff x="-4762" y="-4762"/>
              <a:chExt cx="4010100" cy="581100"/>
            </a:xfrm>
          </p:grpSpPr>
          <p:pic>
            <p:nvPicPr>
              <p:cNvPr id="61" name="Google Shape;61;p1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4010100" cy="581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" name="Google Shape;62;p14"/>
              <p:cNvSpPr txBox="1"/>
              <p:nvPr/>
            </p:nvSpPr>
            <p:spPr>
              <a:xfrm>
                <a:off x="142875" y="95250"/>
                <a:ext cx="3714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تقنيات المسح الليزري ثلاثي الأبعاد والتحليل الطيفي الرقمي للقطع الأثرية</a:t>
                </a:r>
                <a:endParaRPr b="0" sz="1050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grpSp>
        <p:nvGrpSpPr>
          <p:cNvPr id="63" name="Google Shape;63;p14"/>
          <p:cNvGrpSpPr/>
          <p:nvPr/>
        </p:nvGrpSpPr>
        <p:grpSpPr>
          <a:xfrm>
            <a:off x="4572000" y="1143000"/>
            <a:ext cx="3810150" cy="2952825"/>
            <a:chOff x="4572000" y="1143000"/>
            <a:chExt cx="3810150" cy="2952825"/>
          </a:xfrm>
        </p:grpSpPr>
        <p:grpSp>
          <p:nvGrpSpPr>
            <p:cNvPr id="64" name="Google Shape;64;p14"/>
            <p:cNvGrpSpPr/>
            <p:nvPr/>
          </p:nvGrpSpPr>
          <p:grpSpPr>
            <a:xfrm>
              <a:off x="6000750" y="1143000"/>
              <a:ext cx="2381400" cy="304800"/>
              <a:chOff x="0" y="0"/>
              <a:chExt cx="2381400" cy="304800"/>
            </a:xfrm>
          </p:grpSpPr>
          <p:sp>
            <p:nvSpPr>
              <p:cNvPr id="65" name="Google Shape;65;p14"/>
              <p:cNvSpPr/>
              <p:nvPr/>
            </p:nvSpPr>
            <p:spPr>
              <a:xfrm>
                <a:off x="0" y="0"/>
                <a:ext cx="23814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B23A22">
                  <a:alpha val="25000"/>
                </a:srgbClr>
              </a:solidFill>
              <a:ln cap="flat" cmpd="sng" w="9525">
                <a:solidFill>
                  <a:srgbClr val="B23A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4"/>
              <p:cNvSpPr txBox="1"/>
              <p:nvPr/>
            </p:nvSpPr>
            <p:spPr>
              <a:xfrm>
                <a:off x="95250" y="19050"/>
                <a:ext cx="2190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35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ورشة العمل التخصصية — المحور الأول</a:t>
                </a:r>
                <a:endParaRPr b="1" sz="935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sp>
          <p:nvSpPr>
            <p:cNvPr id="67" name="Google Shape;67;p14"/>
            <p:cNvSpPr txBox="1"/>
            <p:nvPr/>
          </p:nvSpPr>
          <p:spPr>
            <a:xfrm>
              <a:off x="4572000" y="160020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الذكاء الاصطناعي في علم الآثار</a:t>
              </a:r>
              <a:endParaRPr b="1" sz="2405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850">
                  <a:solidFill>
                    <a:srgbClr val="FDFCF0"/>
                  </a:solidFill>
                  <a:latin typeface="Cairo"/>
                  <a:ea typeface="Cairo"/>
                  <a:cs typeface="Cairo"/>
                  <a:sym typeface="Cairo"/>
                </a:rPr>
                <a:t>من الرقمنة إلى الاستنطاق المعرفي</a:t>
              </a:r>
              <a:endParaRPr b="1" sz="1850">
                <a:solidFill>
                  <a:srgbClr val="FDFCF0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7620000" y="3124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4572000" y="3286125"/>
              <a:ext cx="3810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DFCF0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خارطة الطريق الاستراتيجية للتحول الرقمي وتطوير البنية التحتية التقنية</a:t>
              </a:r>
              <a:endParaRPr b="0" sz="1400">
                <a:solidFill>
                  <a:srgbClr val="FDFCF0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D4A37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381000" y="4519613"/>
            <a:ext cx="8382000" cy="414488"/>
            <a:chOff x="381000" y="4519613"/>
            <a:chExt cx="8382000" cy="414488"/>
          </a:xfrm>
        </p:grpSpPr>
        <p:pic>
          <p:nvPicPr>
            <p:cNvPr id="71" name="Google Shape;71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81000" y="4519613"/>
              <a:ext cx="83820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4"/>
            <p:cNvSpPr txBox="1"/>
            <p:nvPr/>
          </p:nvSpPr>
          <p:spPr>
            <a:xfrm>
              <a:off x="4762500" y="464820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هيئة الشارقة للآثار — حكومة الشارقة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381000" y="464820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DFCF0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تاريخ الورشة: </a:t>
              </a:r>
              <a:r>
                <a:rPr b="1" lang="en" sz="1050">
                  <a:solidFill>
                    <a:srgbClr val="D4A373"/>
                  </a:solidFill>
                  <a:latin typeface="Tajawal"/>
                  <a:ea typeface="Tajawal"/>
                  <a:cs typeface="Tajawal"/>
                  <a:sym typeface="Tajawal"/>
                </a:rPr>
                <a:t>سبتمبر 2026</a:t>
              </a:r>
              <a:endParaRPr b="0" sz="1050">
                <a:solidFill>
                  <a:srgbClr val="FDFCF0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79" name="Google Shape;79;p15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80" name="Google Shape;80;p15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3" name="Google Shape;83;p15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381000" y="619125"/>
            <a:ext cx="8382000" cy="495300"/>
            <a:chOff x="0" y="0"/>
            <a:chExt cx="8382000" cy="495300"/>
          </a:xfrm>
        </p:grpSpPr>
        <p:sp>
          <p:nvSpPr>
            <p:cNvPr id="85" name="Google Shape;85;p15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التحول الإبستمولوجي: من الأرشفة الساكنة إلى التحليل التوليدي</a:t>
              </a:r>
              <a:endParaRPr b="1" sz="222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4762500" y="1333500"/>
            <a:ext cx="4000500" cy="2190900"/>
            <a:chOff x="0" y="0"/>
            <a:chExt cx="4000500" cy="21909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4000500" cy="2190900"/>
            </a:xfrm>
            <a:prstGeom prst="roundRect">
              <a:avLst>
                <a:gd fmla="val 521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0" y="0"/>
              <a:ext cx="4000500" cy="457200"/>
            </a:xfrm>
            <a:prstGeom prst="roundRect">
              <a:avLst>
                <a:gd fmla="val 25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0" y="228600"/>
              <a:ext cx="4000500" cy="228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190500" y="95250"/>
              <a:ext cx="3619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الرقمنة الكلاسيكية (الماضي)</a:t>
              </a:r>
              <a:endParaRPr b="1" i="0" sz="1400" u="none" strike="noStrike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190500" y="590550"/>
              <a:ext cx="36195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1" algn="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قواعد بيانات Excel معزولة وملفات PDF ثابتة.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298450" lvl="0" marL="457200" rtl="1" algn="r"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بحث يدوي يستنزف 70% من وقت الباحث.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298450" lvl="0" marL="457200" rtl="1" algn="r">
                <a:spcBef>
                  <a:spcPts val="600"/>
                </a:spcBef>
                <a:spcAft>
                  <a:spcPts val="60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صور تفتقر للدلالة الحاسوبية والربط المعرفي.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93" name="Google Shape;93;p15"/>
          <p:cNvSpPr/>
          <p:nvPr/>
        </p:nvSpPr>
        <p:spPr>
          <a:xfrm>
            <a:off x="4429125" y="2286000"/>
            <a:ext cx="285900" cy="190500"/>
          </a:xfrm>
          <a:custGeom>
            <a:rect b="b" l="l" r="r" t="t"/>
            <a:pathLst>
              <a:path extrusionOk="0" h="120000" w="120000">
                <a:moveTo>
                  <a:pt x="120000" y="60000"/>
                </a:moveTo>
                <a:lnTo>
                  <a:pt x="0" y="60000"/>
                </a:lnTo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</a:path>
            </a:pathLst>
          </a:custGeom>
          <a:solidFill>
            <a:srgbClr val="000000"/>
          </a:solidFill>
          <a:ln cap="rnd" cmpd="sng" w="33350">
            <a:solidFill>
              <a:srgbClr val="D4A3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5"/>
          <p:cNvGrpSpPr/>
          <p:nvPr/>
        </p:nvGrpSpPr>
        <p:grpSpPr>
          <a:xfrm>
            <a:off x="381000" y="1333500"/>
            <a:ext cx="4000500" cy="2190900"/>
            <a:chOff x="0" y="0"/>
            <a:chExt cx="4000500" cy="21909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4000500" cy="2190900"/>
            </a:xfrm>
            <a:prstGeom prst="roundRect">
              <a:avLst>
                <a:gd fmla="val 521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0"/>
              <a:ext cx="4000500" cy="457200"/>
            </a:xfrm>
            <a:prstGeom prst="roundRect">
              <a:avLst>
                <a:gd fmla="val 25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0" y="228600"/>
              <a:ext cx="4000500" cy="228600"/>
            </a:xfrm>
            <a:prstGeom prst="rect">
              <a:avLst/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190500" y="95250"/>
              <a:ext cx="3619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95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الذكاء الاصطناعي 2026 (الحاضر والمستقبل)</a:t>
              </a:r>
              <a:endParaRPr b="1" i="0" sz="1295" u="none" strike="noStrike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190500" y="590550"/>
              <a:ext cx="36195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1" algn="r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استنطاق فوري للمقتنيات الأثرية.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298450" lvl="0" marL="457200" rtl="1" algn="r"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تعرف آلي على الأنماط الزخرفية بدقة عالية.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298450" lvl="0" marL="457200" rtl="1" algn="r">
                <a:spcBef>
                  <a:spcPts val="600"/>
                </a:spcBef>
                <a:spcAft>
                  <a:spcPts val="600"/>
                </a:spcAft>
                <a:buClr>
                  <a:srgbClr val="0F172A"/>
                </a:buClr>
                <a:buSzPts val="1100"/>
                <a:buFont typeface="Tajawal"/>
                <a:buChar char="●"/>
              </a:pPr>
              <a:r>
                <a:rPr b="0" i="0" lang="en" sz="11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ربط دلالي للمكتشفات وفهرسة لحظية بالنماذج متعددة الوسائط.</a:t>
              </a:r>
              <a:endParaRPr b="0" i="0" sz="1100" u="none" strike="noStrike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381000" y="3714750"/>
            <a:ext cx="8382000" cy="952500"/>
            <a:chOff x="0" y="0"/>
            <a:chExt cx="8382000" cy="952500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8382000" cy="9525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D4A3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15"/>
            <p:cNvPicPr preferRelativeResize="0"/>
            <p:nvPr/>
          </p:nvPicPr>
          <p:blipFill rotWithShape="1">
            <a:blip r:embed="rId3">
              <a:alphaModFix/>
            </a:blip>
            <a:srcRect b="0" l="3122" r="3131" t="0"/>
            <a:stretch/>
          </p:blipFill>
          <p:spPr>
            <a:xfrm>
              <a:off x="114300" y="95250"/>
              <a:ext cx="9525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1190625" y="142875"/>
              <a:ext cx="7000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373"/>
                  </a:solidFill>
                  <a:latin typeface="Tajawal"/>
                  <a:ea typeface="Tajawal"/>
                  <a:cs typeface="Tajawal"/>
                  <a:sym typeface="Tajawal"/>
                </a:rPr>
                <a:t>توضيح مسار التدفق المعرفي:</a:t>
              </a:r>
              <a:endParaRPr b="1" sz="1100">
                <a:solidFill>
                  <a:srgbClr val="D4A37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E2E8F0"/>
                  </a:solidFill>
                  <a:latin typeface="Tajawal"/>
                  <a:ea typeface="Tajawal"/>
                  <a:cs typeface="Tajawal"/>
                  <a:sym typeface="Tajawal"/>
                </a:rPr>
                <a:t>رسم تخطيطي بياني يوضح تدفق البيانات المباشر من الأوراق والوثائق الأرشيفية القديمة عبر المحركات الدلالية وصولاً إلى الشبكة العصبية الذكية لتحليل وتوليد المعرفة الأثرية.</a:t>
              </a:r>
              <a:endParaRPr sz="1100">
                <a:solidFill>
                  <a:srgbClr val="E2E8F0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04" name="Google Shape;104;p15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10" name="Google Shape;110;p16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11" name="Google Shape;111;p16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6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6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" name="Google Shape;114;p16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0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15" name="Google Shape;115;p16"/>
          <p:cNvGrpSpPr/>
          <p:nvPr/>
        </p:nvGrpSpPr>
        <p:grpSpPr>
          <a:xfrm>
            <a:off x="381000" y="590550"/>
            <a:ext cx="8382000" cy="495300"/>
            <a:chOff x="0" y="0"/>
            <a:chExt cx="8382000" cy="495300"/>
          </a:xfrm>
        </p:grpSpPr>
        <p:sp>
          <p:nvSpPr>
            <p:cNvPr id="116" name="Google Shape;116;p16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strike="noStrike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</a:t>
              </a:r>
              <a:r>
                <a:rPr b="1" i="0" lang="en" sz="2400" u="none" strike="noStrike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ثالوث</a:t>
              </a:r>
              <a:r>
                <a:rPr b="1" i="0" lang="en" sz="2400" u="none" strike="noStrike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 التقني لعلم الآثار الرقمي</a:t>
              </a:r>
              <a:endParaRPr b="1" i="0" sz="2400" u="none" strike="noStrike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6286500" y="1333500"/>
            <a:ext cx="2476500" cy="3143400"/>
            <a:chOff x="0" y="0"/>
            <a:chExt cx="2476500" cy="3143400"/>
          </a:xfrm>
        </p:grpSpPr>
        <p:sp>
          <p:nvSpPr>
            <p:cNvPr id="119" name="Google Shape;119;p16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209550" y="2286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remove_red_eye</a:t>
              </a:r>
              <a:endParaRPr sz="32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1. الرؤية الحاسوبية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(Computer Vision)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تُستخدم لتصنيف الكسرات الفخارية، ومطابقة قوالب المسكوكات بدقة، وتتبع مسارات التآكل في المكتشفات.</a:t>
              </a:r>
              <a:endParaRPr b="0" sz="115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3333750" y="1333500"/>
            <a:ext cx="2476500" cy="3143400"/>
            <a:chOff x="0" y="0"/>
            <a:chExt cx="2476500" cy="31434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209550" y="2286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translate</a:t>
              </a:r>
              <a:endParaRPr sz="32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2. معالجة اللغات الطبيعية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(NLP)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تُوظف لفك وترميم النقوش الصخرية القديمة مثل خط المسند، والآرامي، والكوفي المبكر، بالإضافة إلى أتمتة التقارير الأثرية.</a:t>
              </a:r>
              <a:endParaRPr b="0" sz="115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381000" y="1333500"/>
            <a:ext cx="2476500" cy="3143400"/>
            <a:chOff x="0" y="0"/>
            <a:chExt cx="2476500" cy="31434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84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209550" y="2286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sz="32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3. الذكاء الجغرافي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B5A2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(GeoAI)</a:t>
              </a:r>
              <a:endParaRPr b="0" sz="1050">
                <a:solidFill>
                  <a:srgbClr val="8B5A2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يعمل على ربط مواقع الاستيطان بالخرائط البيئية وتكاملها مع نظم المعلومات الجغرافية (GIS).</a:t>
              </a:r>
              <a:endParaRPr b="0" sz="115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0" name="Google Shape;130;p16"/>
          <p:cNvGrpSpPr/>
          <p:nvPr/>
        </p:nvGrpSpPr>
        <p:grpSpPr>
          <a:xfrm>
            <a:off x="381000" y="4714875"/>
            <a:ext cx="8382000" cy="333450"/>
            <a:chOff x="381000" y="4714875"/>
            <a:chExt cx="8382000" cy="333450"/>
          </a:xfrm>
        </p:grpSpPr>
        <p:sp>
          <p:nvSpPr>
            <p:cNvPr id="131" name="Google Shape;131;p16"/>
            <p:cNvSpPr/>
            <p:nvPr/>
          </p:nvSpPr>
          <p:spPr>
            <a:xfrm>
              <a:off x="381000" y="4714875"/>
              <a:ext cx="8382000" cy="9600"/>
            </a:xfrm>
            <a:prstGeom prst="rect">
              <a:avLst/>
            </a:prstGeom>
            <a:solidFill>
              <a:srgbClr val="D4A373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381000" y="4810125"/>
              <a:ext cx="838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هيئة الشارقة للآثار — التقرير التقني الاستراتيجي</a:t>
              </a:r>
              <a:endParaRPr b="0" sz="100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7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38" name="Google Shape;138;p17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39" name="Google Shape;139;p17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7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7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2" name="Google Shape;142;p17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381000" y="571500"/>
            <a:ext cx="8382000" cy="762000"/>
            <a:chOff x="0" y="0"/>
            <a:chExt cx="8382000" cy="762000"/>
          </a:xfrm>
        </p:grpSpPr>
        <p:sp>
          <p:nvSpPr>
            <p:cNvPr id="144" name="Google Shape;144;p17"/>
            <p:cNvSpPr txBox="1"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إحياء النصوص التالفة: تجربة نموذج Ithaca من DeepMind وأكسفورد</a:t>
              </a:r>
              <a:endParaRPr b="1" sz="22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300">
                  <a:solidFill>
                    <a:srgbClr val="FDFCF0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أحدث </a:t>
              </a:r>
              <a:r>
                <a:rPr b="0" lang="en" sz="1300" u="sng">
                  <a:solidFill>
                    <a:schemeClr val="hlink"/>
                  </a:solidFill>
                  <a:latin typeface="Tajawal Medium"/>
                  <a:ea typeface="Tajawal Medium"/>
                  <a:cs typeface="Tajawal Medium"/>
                  <a:sym typeface="Tajawal Medium"/>
                  <a:hlinkClick r:id="rId3"/>
                </a:rPr>
                <a:t>نموذج Ithaca ثورة في ترميم النصوص القديمة</a:t>
              </a:r>
              <a:r>
                <a:rPr b="0" lang="en" sz="1300">
                  <a:solidFill>
                    <a:srgbClr val="FDFCF0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 عبر المؤشرات التالية:</a:t>
              </a:r>
              <a:endParaRPr b="0" sz="1300">
                <a:solidFill>
                  <a:srgbClr val="FDFCF0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7620000" y="3810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428750"/>
            <a:ext cx="4191000" cy="314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7"/>
          <p:cNvGrpSpPr/>
          <p:nvPr/>
        </p:nvGrpSpPr>
        <p:grpSpPr>
          <a:xfrm>
            <a:off x="4762500" y="1428750"/>
            <a:ext cx="4000650" cy="952500"/>
            <a:chOff x="0" y="0"/>
            <a:chExt cx="4000650" cy="9525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394335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2857500" y="142875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71%</a:t>
              </a:r>
              <a:endParaRPr b="1" sz="28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190500" y="142875"/>
              <a:ext cx="257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دقة استعادة النصوص</a:t>
              </a:r>
              <a:endParaRPr b="1" sz="110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استعادة النصوص والكلمات المفقودة من النقوش الحجرية المتآكلة بكفاءة عالية.</a:t>
              </a:r>
              <a:endParaRPr b="0" sz="110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4762500" y="2524125"/>
            <a:ext cx="4000650" cy="952500"/>
            <a:chOff x="0" y="0"/>
            <a:chExt cx="4000650" cy="952500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394335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2857500" y="142875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84%</a:t>
              </a:r>
              <a:endParaRPr b="1" sz="28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190500" y="142875"/>
              <a:ext cx="257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التحديد الجغرافي</a:t>
              </a:r>
              <a:endParaRPr b="1" sz="110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تحديد الموقع الجغرافي الأصلي للمخطوطة أو النقش الأثري بدقة فائقة.</a:t>
              </a:r>
              <a:endParaRPr b="0" sz="110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4762500" y="3619500"/>
            <a:ext cx="4000650" cy="952500"/>
            <a:chOff x="0" y="0"/>
            <a:chExt cx="4000650" cy="952500"/>
          </a:xfrm>
        </p:grpSpPr>
        <p:sp>
          <p:nvSpPr>
            <p:cNvPr id="158" name="Google Shape;158;p17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94335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2857500" y="142875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30 عاماً</a:t>
              </a:r>
              <a:endParaRPr b="1" sz="22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190500" y="142875"/>
              <a:ext cx="257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التأريخ الزمني</a:t>
              </a:r>
              <a:endParaRPr b="1" sz="110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القدرة على تحديد العصر التاريخي للنص ضمن نطاق زمني ضيق جداً.</a:t>
              </a:r>
              <a:endParaRPr b="0" sz="1100">
                <a:solidFill>
                  <a:srgbClr val="0F172A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381000" y="4810125"/>
            <a:ext cx="8382000" cy="257175"/>
            <a:chOff x="381000" y="4810125"/>
            <a:chExt cx="8382000" cy="257175"/>
          </a:xfrm>
        </p:grpSpPr>
        <p:sp>
          <p:nvSpPr>
            <p:cNvPr id="163" name="Google Shape;163;p17"/>
            <p:cNvSpPr/>
            <p:nvPr/>
          </p:nvSpPr>
          <p:spPr>
            <a:xfrm>
              <a:off x="381000" y="4810125"/>
              <a:ext cx="8382000" cy="9600"/>
            </a:xfrm>
            <a:prstGeom prst="rect">
              <a:avLst/>
            </a:prstGeom>
            <a:solidFill>
              <a:srgbClr val="D4A373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381000" y="487680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المصدر: </a:t>
              </a:r>
              <a:r>
                <a:rPr b="0" lang="en" sz="850" u="sng">
                  <a:solidFill>
                    <a:schemeClr val="hlink"/>
                  </a:solidFill>
                  <a:latin typeface="Tajawal Medium"/>
                  <a:ea typeface="Tajawal Medium"/>
                  <a:cs typeface="Tajawal Medium"/>
                  <a:sym typeface="Tajawal Medium"/>
                  <a:hlinkClick r:id="rId5"/>
                </a:rPr>
                <a:t>نتائج أبحاث نموذج Ithaca للذكاء الاصطناعي - DeepMind بجامعة أكسفورد</a:t>
              </a:r>
              <a:endParaRPr b="0" sz="8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8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170" name="Google Shape;170;p18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71" name="Google Shape;171;p18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8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4" name="Google Shape;174;p18"/>
            <p:cNvSpPr txBox="1"/>
            <p:nvPr/>
          </p:nvSpPr>
          <p:spPr>
            <a:xfrm>
              <a:off x="381000" y="2095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381000" y="495300"/>
            <a:ext cx="8382000" cy="466650"/>
            <a:chOff x="381000" y="495300"/>
            <a:chExt cx="8382000" cy="466650"/>
          </a:xfrm>
        </p:grpSpPr>
        <p:sp>
          <p:nvSpPr>
            <p:cNvPr id="176" name="Google Shape;176;p18"/>
            <p:cNvSpPr txBox="1"/>
            <p:nvPr/>
          </p:nvSpPr>
          <p:spPr>
            <a:xfrm>
              <a:off x="381000" y="49530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تصنيف المسكوكات الإسلامية المكتشفة في الشارقة</a:t>
              </a:r>
              <a:endParaRPr b="1" sz="22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8001000" y="933450"/>
              <a:ext cx="762000" cy="285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1190625"/>
            <a:ext cx="3238500" cy="323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8"/>
          <p:cNvGrpSpPr/>
          <p:nvPr/>
        </p:nvGrpSpPr>
        <p:grpSpPr>
          <a:xfrm>
            <a:off x="4143375" y="1190625"/>
            <a:ext cx="4619775" cy="3229050"/>
            <a:chOff x="4143375" y="1190625"/>
            <a:chExt cx="4619775" cy="3229050"/>
          </a:xfrm>
        </p:grpSpPr>
        <p:grpSp>
          <p:nvGrpSpPr>
            <p:cNvPr id="180" name="Google Shape;180;p18"/>
            <p:cNvGrpSpPr/>
            <p:nvPr/>
          </p:nvGrpSpPr>
          <p:grpSpPr>
            <a:xfrm>
              <a:off x="4143375" y="1190625"/>
              <a:ext cx="4619775" cy="1000200"/>
              <a:chOff x="0" y="0"/>
              <a:chExt cx="4619775" cy="1000200"/>
            </a:xfrm>
          </p:grpSpPr>
          <p:sp>
            <p:nvSpPr>
              <p:cNvPr id="181" name="Google Shape;181;p18"/>
              <p:cNvSpPr/>
              <p:nvPr/>
            </p:nvSpPr>
            <p:spPr>
              <a:xfrm>
                <a:off x="0" y="0"/>
                <a:ext cx="46197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>
                <a:off x="4562475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8"/>
              <p:cNvSpPr/>
              <p:nvPr/>
            </p:nvSpPr>
            <p:spPr>
              <a:xfrm>
                <a:off x="4124325" y="161925"/>
                <a:ext cx="285900" cy="2859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8"/>
              <p:cNvSpPr txBox="1"/>
              <p:nvPr/>
            </p:nvSpPr>
            <p:spPr>
              <a:xfrm>
                <a:off x="4124325" y="190500"/>
                <a:ext cx="285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01</a:t>
                </a:r>
                <a:endParaRPr b="1" sz="11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85" name="Google Shape;185;p18"/>
              <p:cNvSpPr txBox="1"/>
              <p:nvPr/>
            </p:nvSpPr>
            <p:spPr>
              <a:xfrm>
                <a:off x="190500" y="133350"/>
                <a:ext cx="3762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التعرف المورفولوجي الذكي</a:t>
                </a:r>
                <a:endParaRPr b="1" sz="13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تطبيق خوارزميات التعرف المورفولوجي على الدراهم العباسية والأموية المكتشفة بموقعي "المدام" و"مليحة".</a:t>
                </a:r>
                <a:endParaRPr b="0" sz="10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86" name="Google Shape;186;p18"/>
            <p:cNvGrpSpPr/>
            <p:nvPr/>
          </p:nvGrpSpPr>
          <p:grpSpPr>
            <a:xfrm>
              <a:off x="4143375" y="2305050"/>
              <a:ext cx="4619775" cy="1000200"/>
              <a:chOff x="0" y="0"/>
              <a:chExt cx="4619775" cy="1000200"/>
            </a:xfrm>
          </p:grpSpPr>
          <p:sp>
            <p:nvSpPr>
              <p:cNvPr id="187" name="Google Shape;187;p18"/>
              <p:cNvSpPr/>
              <p:nvPr/>
            </p:nvSpPr>
            <p:spPr>
              <a:xfrm>
                <a:off x="0" y="0"/>
                <a:ext cx="46197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8"/>
              <p:cNvSpPr/>
              <p:nvPr/>
            </p:nvSpPr>
            <p:spPr>
              <a:xfrm>
                <a:off x="4562475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8"/>
              <p:cNvSpPr/>
              <p:nvPr/>
            </p:nvSpPr>
            <p:spPr>
              <a:xfrm>
                <a:off x="4124325" y="161925"/>
                <a:ext cx="285900" cy="2859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8"/>
              <p:cNvSpPr txBox="1"/>
              <p:nvPr/>
            </p:nvSpPr>
            <p:spPr>
              <a:xfrm>
                <a:off x="4124325" y="190500"/>
                <a:ext cx="285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02</a:t>
                </a:r>
                <a:endParaRPr b="1" sz="11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91" name="Google Shape;191;p18"/>
              <p:cNvSpPr txBox="1"/>
              <p:nvPr/>
            </p:nvSpPr>
            <p:spPr>
              <a:xfrm>
                <a:off x="190500" y="133350"/>
                <a:ext cx="3762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القراءة الآلية للنقوش الكوفية</a:t>
                </a:r>
                <a:endParaRPr b="1" sz="13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قراءة آلية للكتابات الطوقية والمركزية المنقوشة بالخط الكوفي المبكر غير المنقوط.</a:t>
                </a:r>
                <a:endParaRPr b="0" sz="10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192" name="Google Shape;192;p18"/>
            <p:cNvGrpSpPr/>
            <p:nvPr/>
          </p:nvGrpSpPr>
          <p:grpSpPr>
            <a:xfrm>
              <a:off x="4143375" y="3419475"/>
              <a:ext cx="4619775" cy="1000200"/>
              <a:chOff x="0" y="0"/>
              <a:chExt cx="4619775" cy="1000200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0" y="0"/>
                <a:ext cx="46197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4562475" y="0"/>
                <a:ext cx="57300" cy="1000200"/>
              </a:xfrm>
              <a:prstGeom prst="roundRect">
                <a:avLst>
                  <a:gd fmla="val 50000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8"/>
              <p:cNvSpPr/>
              <p:nvPr/>
            </p:nvSpPr>
            <p:spPr>
              <a:xfrm>
                <a:off x="4124325" y="161925"/>
                <a:ext cx="285900" cy="285900"/>
              </a:xfrm>
              <a:prstGeom prst="ellipse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8"/>
              <p:cNvSpPr txBox="1"/>
              <p:nvPr/>
            </p:nvSpPr>
            <p:spPr>
              <a:xfrm>
                <a:off x="4124325" y="190500"/>
                <a:ext cx="285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03</a:t>
                </a:r>
                <a:endParaRPr b="1" sz="11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197" name="Google Shape;197;p18"/>
              <p:cNvSpPr txBox="1"/>
              <p:nvPr/>
            </p:nvSpPr>
            <p:spPr>
              <a:xfrm>
                <a:off x="190500" y="133350"/>
                <a:ext cx="37623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مطابقة قوالب السك الرقمية</a:t>
                </a:r>
                <a:endParaRPr b="1" sz="13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مطابقة قوالب السك بدقة تصل إلى 0.1 ملم لتمييز دور السك الأصلية واكتشاف التزييف التاريخي بدقة متناهية.</a:t>
                </a:r>
                <a:endParaRPr b="0" sz="1050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198" name="Google Shape;198;p18"/>
          <p:cNvSpPr/>
          <p:nvPr/>
        </p:nvSpPr>
        <p:spPr>
          <a:xfrm>
            <a:off x="381000" y="4714875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19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05" name="Google Shape;205;p1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06" name="Google Shape;206;p1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" name="Google Shape;209;p19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10" name="Google Shape;210;p19"/>
          <p:cNvGrpSpPr/>
          <p:nvPr/>
        </p:nvGrpSpPr>
        <p:grpSpPr>
          <a:xfrm>
            <a:off x="381000" y="619125"/>
            <a:ext cx="8382000" cy="466725"/>
            <a:chOff x="0" y="0"/>
            <a:chExt cx="8382000" cy="466725"/>
          </a:xfrm>
        </p:grpSpPr>
        <p:sp>
          <p:nvSpPr>
            <p:cNvPr id="211" name="Google Shape;211;p19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أتمتة الفهرسة وفق المعايير الدولية (FAIR &amp; Dublin Core)</a:t>
              </a:r>
              <a:endParaRPr b="1" sz="24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7620000" y="4286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19"/>
          <p:cNvGrpSpPr/>
          <p:nvPr/>
        </p:nvGrpSpPr>
        <p:grpSpPr>
          <a:xfrm>
            <a:off x="6381750" y="1333500"/>
            <a:ext cx="2381400" cy="3238500"/>
            <a:chOff x="0" y="0"/>
            <a:chExt cx="2381400" cy="3238500"/>
          </a:xfrm>
        </p:grpSpPr>
        <p:sp>
          <p:nvSpPr>
            <p:cNvPr id="214" name="Google Shape;214;p19"/>
            <p:cNvSpPr/>
            <p:nvPr/>
          </p:nvSpPr>
          <p:spPr>
            <a:xfrm>
              <a:off x="0" y="0"/>
              <a:ext cx="2381400" cy="3238500"/>
            </a:xfrm>
            <a:prstGeom prst="roundRect">
              <a:avLst>
                <a:gd fmla="val 3999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0" y="0"/>
              <a:ext cx="23814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142875" y="142875"/>
              <a:ext cx="2095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i="0" lang="en" sz="1203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مدخلات النظام: صورة اللقية</a:t>
              </a:r>
              <a:endParaRPr b="1" i="0" sz="1203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grpSp>
          <p:nvGrpSpPr>
            <p:cNvPr id="217" name="Google Shape;217;p19"/>
            <p:cNvGrpSpPr/>
            <p:nvPr/>
          </p:nvGrpSpPr>
          <p:grpSpPr>
            <a:xfrm>
              <a:off x="328613" y="519113"/>
              <a:ext cx="1724100" cy="1438200"/>
              <a:chOff x="-4762" y="-4762"/>
              <a:chExt cx="1724100" cy="1438200"/>
            </a:xfrm>
          </p:grpSpPr>
          <p:pic>
            <p:nvPicPr>
              <p:cNvPr id="218" name="Google Shape;218;p19"/>
              <p:cNvPicPr preferRelativeResize="0"/>
              <p:nvPr/>
            </p:nvPicPr>
            <p:blipFill rotWithShape="1">
              <a:blip r:embed="rId3">
                <a:alphaModFix/>
              </a:blip>
              <a:srcRect b="10" l="0" r="0" t="0"/>
              <a:stretch/>
            </p:blipFill>
            <p:spPr>
              <a:xfrm>
                <a:off x="-4762" y="-4762"/>
                <a:ext cx="1724100" cy="1438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" name="Google Shape;219;p19"/>
              <p:cNvSpPr/>
              <p:nvPr/>
            </p:nvSpPr>
            <p:spPr>
              <a:xfrm>
                <a:off x="381000" y="238125"/>
                <a:ext cx="952500" cy="809700"/>
              </a:xfrm>
              <a:custGeom>
                <a:rect b="b" l="l" r="r" t="t"/>
                <a:pathLst>
                  <a:path extrusionOk="0" h="120000" w="120000">
                    <a:moveTo>
                      <a:pt x="24000" y="120000"/>
                    </a:moveTo>
                    <a:cubicBezTo>
                      <a:pt x="12000" y="120000"/>
                      <a:pt x="0" y="91765"/>
                      <a:pt x="6000" y="49412"/>
                    </a:cubicBezTo>
                    <a:cubicBezTo>
                      <a:pt x="8400" y="28235"/>
                      <a:pt x="18000" y="21176"/>
                      <a:pt x="18000" y="14118"/>
                    </a:cubicBezTo>
                    <a:lnTo>
                      <a:pt x="18000" y="0"/>
                    </a:lnTo>
                    <a:lnTo>
                      <a:pt x="102000" y="0"/>
                    </a:lnTo>
                    <a:lnTo>
                      <a:pt x="102000" y="14118"/>
                    </a:lnTo>
                    <a:cubicBezTo>
                      <a:pt x="102000" y="21176"/>
                      <a:pt x="111600" y="28235"/>
                      <a:pt x="114000" y="49412"/>
                    </a:cubicBezTo>
                    <a:cubicBezTo>
                      <a:pt x="120000" y="91765"/>
                      <a:pt x="108000" y="120000"/>
                      <a:pt x="96000" y="120000"/>
                    </a:cubicBezTo>
                    <a:close/>
                  </a:path>
                </a:pathLst>
              </a:cu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9"/>
              <p:cNvSpPr/>
              <p:nvPr/>
            </p:nvSpPr>
            <p:spPr>
              <a:xfrm>
                <a:off x="523875" y="190500"/>
                <a:ext cx="666900" cy="95400"/>
              </a:xfrm>
              <a:prstGeom prst="ellipse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9"/>
              <p:cNvSpPr/>
              <p:nvPr/>
            </p:nvSpPr>
            <p:spPr>
              <a:xfrm>
                <a:off x="333375" y="476250"/>
                <a:ext cx="142800" cy="285900"/>
              </a:xfrm>
              <a:custGeom>
                <a:rect b="b" l="l" r="r" t="t"/>
                <a:pathLst>
                  <a:path extrusionOk="0" h="120000" w="120000">
                    <a:moveTo>
                      <a:pt x="120000" y="0"/>
                    </a:moveTo>
                    <a:cubicBezTo>
                      <a:pt x="0" y="0"/>
                      <a:pt x="0" y="100000"/>
                      <a:pt x="96000" y="120000"/>
                    </a:cubicBezTo>
                  </a:path>
                </a:pathLst>
              </a:custGeom>
              <a:solidFill>
                <a:srgbClr val="000000"/>
              </a:solidFill>
              <a:ln cap="flat" cmpd="sng" w="38100">
                <a:solidFill>
                  <a:srgbClr val="B23A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>
                <a:off x="1238250" y="476250"/>
                <a:ext cx="142800" cy="2859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120000" y="0"/>
                      <a:pt x="120000" y="100000"/>
                      <a:pt x="24000" y="120000"/>
                    </a:cubicBezTo>
                  </a:path>
                </a:pathLst>
              </a:custGeom>
              <a:solidFill>
                <a:srgbClr val="000000"/>
              </a:solidFill>
              <a:ln cap="flat" cmpd="sng" w="38100">
                <a:solidFill>
                  <a:srgbClr val="B23A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3" name="Google Shape;223;p19"/>
              <p:cNvCxnSpPr/>
              <p:nvPr/>
            </p:nvCxnSpPr>
            <p:spPr>
              <a:xfrm>
                <a:off x="190500" y="666750"/>
                <a:ext cx="1333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4" name="Google Shape;224;p19"/>
              <p:cNvSpPr/>
              <p:nvPr/>
            </p:nvSpPr>
            <p:spPr>
              <a:xfrm>
                <a:off x="0" y="666750"/>
                <a:ext cx="1714500" cy="476400"/>
              </a:xfrm>
              <a:custGeom>
                <a:rect b="b" l="l" r="r" t="t"/>
                <a:pathLst>
                  <a:path extrusionOk="0" h="120000" w="120000">
                    <a:moveTo>
                      <a:pt x="13333" y="0"/>
                    </a:moveTo>
                    <a:lnTo>
                      <a:pt x="106667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5" name="Google Shape;225;p19"/>
            <p:cNvSpPr/>
            <p:nvPr/>
          </p:nvSpPr>
          <p:spPr>
            <a:xfrm>
              <a:off x="333375" y="2076450"/>
              <a:ext cx="1714500" cy="266700"/>
            </a:xfrm>
            <a:prstGeom prst="roundRect">
              <a:avLst>
                <a:gd fmla="val 1428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333375" y="2076450"/>
              <a:ext cx="17145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50" u="none" strike="noStrike">
                  <a:solidFill>
                    <a:srgbClr val="D4A373"/>
                  </a:solidFill>
                  <a:latin typeface="Tajawal"/>
                  <a:ea typeface="Tajawal"/>
                  <a:cs typeface="Tajawal"/>
                  <a:sym typeface="Tajawal"/>
                </a:rPr>
                <a:t>جاري تحليل السمة البصرية...</a:t>
              </a:r>
              <a:endParaRPr b="0" i="0" sz="950" u="none" strike="noStrike">
                <a:solidFill>
                  <a:srgbClr val="D4A373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grpSp>
          <p:nvGrpSpPr>
            <p:cNvPr id="227" name="Google Shape;227;p19"/>
            <p:cNvGrpSpPr/>
            <p:nvPr/>
          </p:nvGrpSpPr>
          <p:grpSpPr>
            <a:xfrm>
              <a:off x="333375" y="2476500"/>
              <a:ext cx="1714575" cy="228600"/>
              <a:chOff x="0" y="0"/>
              <a:chExt cx="1714575" cy="228600"/>
            </a:xfrm>
          </p:grpSpPr>
          <p:sp>
            <p:nvSpPr>
              <p:cNvPr id="228" name="Google Shape;228;p19"/>
              <p:cNvSpPr/>
              <p:nvPr/>
            </p:nvSpPr>
            <p:spPr>
              <a:xfrm>
                <a:off x="0" y="0"/>
                <a:ext cx="8097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D4A373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9"/>
              <p:cNvSpPr txBox="1"/>
              <p:nvPr/>
            </p:nvSpPr>
            <p:spPr>
              <a:xfrm>
                <a:off x="0" y="0"/>
                <a:ext cx="8097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50" u="none" strike="noStrike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FAIR</a:t>
                </a:r>
                <a:endParaRPr b="1" i="0" sz="8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230" name="Google Shape;230;p19"/>
              <p:cNvSpPr/>
              <p:nvPr/>
            </p:nvSpPr>
            <p:spPr>
              <a:xfrm>
                <a:off x="904875" y="0"/>
                <a:ext cx="8097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D4A373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9"/>
              <p:cNvSpPr txBox="1"/>
              <p:nvPr/>
            </p:nvSpPr>
            <p:spPr>
              <a:xfrm>
                <a:off x="904875" y="0"/>
                <a:ext cx="8097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50" u="none" strike="noStrike">
                    <a:solidFill>
                      <a:srgbClr val="0F172A"/>
                    </a:solidFill>
                    <a:latin typeface="Cairo"/>
                    <a:ea typeface="Cairo"/>
                    <a:cs typeface="Cairo"/>
                    <a:sym typeface="Cairo"/>
                  </a:rPr>
                  <a:t>Dublin Core</a:t>
                </a:r>
                <a:endParaRPr b="1" i="0" sz="85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</p:grpSp>
      <p:pic>
        <p:nvPicPr>
          <p:cNvPr id="232" name="Google Shape;232;p19"/>
          <p:cNvPicPr preferRelativeResize="0"/>
          <p:nvPr/>
        </p:nvPicPr>
        <p:blipFill rotWithShape="1">
          <a:blip r:embed="rId4">
            <a:alphaModFix/>
          </a:blip>
          <a:srcRect b="10" l="0" r="0" t="20"/>
          <a:stretch/>
        </p:blipFill>
        <p:spPr>
          <a:xfrm>
            <a:off x="5853113" y="2895600"/>
            <a:ext cx="4383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9"/>
          <p:cNvGrpSpPr/>
          <p:nvPr/>
        </p:nvGrpSpPr>
        <p:grpSpPr>
          <a:xfrm>
            <a:off x="3381375" y="1333500"/>
            <a:ext cx="2381400" cy="3238500"/>
            <a:chOff x="0" y="0"/>
            <a:chExt cx="2381400" cy="3238500"/>
          </a:xfrm>
        </p:grpSpPr>
        <p:grpSp>
          <p:nvGrpSpPr>
            <p:cNvPr id="234" name="Google Shape;234;p19"/>
            <p:cNvGrpSpPr/>
            <p:nvPr/>
          </p:nvGrpSpPr>
          <p:grpSpPr>
            <a:xfrm>
              <a:off x="0" y="0"/>
              <a:ext cx="2381400" cy="1143000"/>
              <a:chOff x="0" y="0"/>
              <a:chExt cx="2381400" cy="1143000"/>
            </a:xfrm>
          </p:grpSpPr>
          <p:sp>
            <p:nvSpPr>
              <p:cNvPr id="235" name="Google Shape;235;p19"/>
              <p:cNvSpPr/>
              <p:nvPr/>
            </p:nvSpPr>
            <p:spPr>
              <a:xfrm>
                <a:off x="0" y="0"/>
                <a:ext cx="2381400" cy="1143000"/>
              </a:xfrm>
              <a:prstGeom prst="roundRect">
                <a:avLst>
                  <a:gd fmla="val 8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9"/>
              <p:cNvSpPr/>
              <p:nvPr/>
            </p:nvSpPr>
            <p:spPr>
              <a:xfrm>
                <a:off x="0" y="0"/>
                <a:ext cx="23814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9"/>
              <p:cNvSpPr txBox="1"/>
              <p:nvPr/>
            </p:nvSpPr>
            <p:spPr>
              <a:xfrm>
                <a:off x="95250" y="142875"/>
                <a:ext cx="2190900" cy="904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 u="none" strike="noStrike">
                    <a:solidFill>
                      <a:srgbClr val="0F172A"/>
                    </a:solidFill>
                    <a:latin typeface="Cairo"/>
                    <a:ea typeface="Cairo"/>
                    <a:cs typeface="Cairo"/>
                    <a:sym typeface="Cairo"/>
                  </a:rPr>
                  <a:t>السرعة الفائقة</a:t>
                </a:r>
                <a:endParaRPr b="1" i="0" sz="110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i="0" lang="en" sz="3000" u="none" strike="noStrike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3 ثوانٍ</a:t>
                </a:r>
                <a:endParaRPr b="1" i="0" sz="110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150"/>
                  </a:spcBef>
                  <a:spcAft>
                    <a:spcPts val="150"/>
                  </a:spcAft>
                  <a:buNone/>
                </a:pPr>
                <a:r>
                  <a:rPr b="1" i="0" lang="en" sz="950" u="none" strike="noStrike">
                    <a:solidFill>
                      <a:srgbClr val="B23A22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تحويل آلي كامل لاستمارة التوثيق</a:t>
                </a:r>
                <a:endParaRPr b="1" i="0" sz="950" u="none" strike="noStrike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  <p:pic>
          <p:nvPicPr>
            <p:cNvPr id="238" name="Google Shape;238;p19"/>
            <p:cNvPicPr preferRelativeResize="0"/>
            <p:nvPr/>
          </p:nvPicPr>
          <p:blipFill rotWithShape="1">
            <a:blip r:embed="rId5">
              <a:alphaModFix/>
            </a:blip>
            <a:srcRect b="0" l="30" r="30" t="0"/>
            <a:stretch/>
          </p:blipFill>
          <p:spPr>
            <a:xfrm>
              <a:off x="1133475" y="1238250"/>
              <a:ext cx="114300" cy="247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9" name="Google Shape;239;p19"/>
            <p:cNvGrpSpPr/>
            <p:nvPr/>
          </p:nvGrpSpPr>
          <p:grpSpPr>
            <a:xfrm>
              <a:off x="0" y="1524000"/>
              <a:ext cx="2381400" cy="1714500"/>
              <a:chOff x="0" y="0"/>
              <a:chExt cx="2381400" cy="1714500"/>
            </a:xfrm>
          </p:grpSpPr>
          <p:sp>
            <p:nvSpPr>
              <p:cNvPr id="240" name="Google Shape;240;p19"/>
              <p:cNvSpPr/>
              <p:nvPr/>
            </p:nvSpPr>
            <p:spPr>
              <a:xfrm>
                <a:off x="0" y="0"/>
                <a:ext cx="2381400" cy="1714500"/>
              </a:xfrm>
              <a:prstGeom prst="roundRect">
                <a:avLst>
                  <a:gd fmla="val 555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9"/>
              <p:cNvSpPr/>
              <p:nvPr/>
            </p:nvSpPr>
            <p:spPr>
              <a:xfrm>
                <a:off x="0" y="0"/>
                <a:ext cx="23814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9"/>
              <p:cNvSpPr txBox="1"/>
              <p:nvPr/>
            </p:nvSpPr>
            <p:spPr>
              <a:xfrm>
                <a:off x="142875" y="142875"/>
                <a:ext cx="2095500" cy="1428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 u="none" strike="noStrike">
                    <a:solidFill>
                      <a:srgbClr val="B23A22"/>
                    </a:solidFill>
                    <a:latin typeface="Cairo"/>
                    <a:ea typeface="Cairo"/>
                    <a:cs typeface="Cairo"/>
                    <a:sym typeface="Cairo"/>
                  </a:rPr>
                  <a:t>الاستخراج التلقائي</a:t>
                </a:r>
                <a:endParaRPr b="1" i="0" sz="12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" sz="100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تحديد خوارزمي شامل للسمات الأساسية دون تدخل بشري:</a:t>
                </a:r>
                <a:endParaRPr b="1" i="0" sz="10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المادة الخام والملمس</a:t>
                </a:r>
                <a:endParaRPr b="1" i="0" sz="9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تقنية التصنيع والزخرفة</a:t>
                </a:r>
                <a:endParaRPr b="1" i="0" sz="9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العصر التقديري والتأريخ</a:t>
                </a:r>
                <a:endParaRPr b="1" i="0" sz="9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r">
                  <a:spcBef>
                    <a:spcPts val="225"/>
                  </a:spcBef>
                  <a:spcAft>
                    <a:spcPts val="450"/>
                  </a:spcAft>
                  <a:buNone/>
                </a:pPr>
                <a:r>
                  <a:rPr b="0" i="0" lang="en" sz="950" u="none" strike="noStrike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حالة الحفظ والسلامة</a:t>
                </a:r>
                <a:endParaRPr b="1" i="0" sz="95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</p:grpSp>
      </p:grpSp>
      <p:pic>
        <p:nvPicPr>
          <p:cNvPr id="243" name="Google Shape;243;p19"/>
          <p:cNvPicPr preferRelativeResize="0"/>
          <p:nvPr/>
        </p:nvPicPr>
        <p:blipFill rotWithShape="1">
          <a:blip r:embed="rId4">
            <a:alphaModFix/>
          </a:blip>
          <a:srcRect b="10" l="0" r="0" t="20"/>
          <a:stretch/>
        </p:blipFill>
        <p:spPr>
          <a:xfrm>
            <a:off x="2852738" y="2895600"/>
            <a:ext cx="4383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19"/>
          <p:cNvGrpSpPr/>
          <p:nvPr/>
        </p:nvGrpSpPr>
        <p:grpSpPr>
          <a:xfrm>
            <a:off x="381000" y="1333500"/>
            <a:ext cx="2381400" cy="3238500"/>
            <a:chOff x="0" y="0"/>
            <a:chExt cx="2381400" cy="3238500"/>
          </a:xfrm>
        </p:grpSpPr>
        <p:sp>
          <p:nvSpPr>
            <p:cNvPr id="245" name="Google Shape;245;p19"/>
            <p:cNvSpPr/>
            <p:nvPr/>
          </p:nvSpPr>
          <p:spPr>
            <a:xfrm>
              <a:off x="0" y="0"/>
              <a:ext cx="2381400" cy="3238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0" y="0"/>
              <a:ext cx="23814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 txBox="1"/>
            <p:nvPr/>
          </p:nvSpPr>
          <p:spPr>
            <a:xfrm>
              <a:off x="142875" y="142875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25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بطاقة البيانات المعيارية</a:t>
              </a:r>
              <a:endParaRPr b="1" sz="125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grpSp>
          <p:nvGrpSpPr>
            <p:cNvPr id="248" name="Google Shape;248;p19"/>
            <p:cNvGrpSpPr/>
            <p:nvPr/>
          </p:nvGrpSpPr>
          <p:grpSpPr>
            <a:xfrm>
              <a:off x="138113" y="452438"/>
              <a:ext cx="2105100" cy="2009700"/>
              <a:chOff x="-4762" y="-4762"/>
              <a:chExt cx="2105100" cy="2009700"/>
            </a:xfrm>
          </p:grpSpPr>
          <p:pic>
            <p:nvPicPr>
              <p:cNvPr id="249" name="Google Shape;249;p1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2105100" cy="20097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0" name="Google Shape;250;p19"/>
              <p:cNvGrpSpPr/>
              <p:nvPr/>
            </p:nvGrpSpPr>
            <p:grpSpPr>
              <a:xfrm>
                <a:off x="95250" y="238125"/>
                <a:ext cx="1905000" cy="1409850"/>
                <a:chOff x="0" y="142875"/>
                <a:chExt cx="1905000" cy="1409850"/>
              </a:xfrm>
            </p:grpSpPr>
            <p:sp>
              <p:nvSpPr>
                <p:cNvPr id="251" name="Google Shape;251;p19"/>
                <p:cNvSpPr/>
                <p:nvPr/>
              </p:nvSpPr>
              <p:spPr>
                <a:xfrm>
                  <a:off x="0" y="142875"/>
                  <a:ext cx="1905000" cy="209700"/>
                </a:xfrm>
                <a:prstGeom prst="roundRect">
                  <a:avLst>
                    <a:gd fmla="val 13636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" name="Google Shape;252;p19"/>
                <p:cNvSpPr txBox="1"/>
                <p:nvPr/>
              </p:nvSpPr>
              <p:spPr>
                <a:xfrm>
                  <a:off x="47625" y="161925"/>
                  <a:ext cx="18096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1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Tajawal"/>
                      <a:ea typeface="Tajawal"/>
                      <a:cs typeface="Tajawal"/>
                      <a:sym typeface="Tajawal"/>
                    </a:rPr>
                    <a:t>فخار ناعم (Terracotta)</a:t>
                  </a:r>
                  <a:endParaRPr b="0" sz="1000">
                    <a:solidFill>
                      <a:srgbClr val="0F172A"/>
                    </a:solidFill>
                    <a:latin typeface="Tajawal"/>
                    <a:ea typeface="Tajawal"/>
                    <a:cs typeface="Tajawal"/>
                    <a:sym typeface="Tajawal"/>
                  </a:endParaRPr>
                </a:p>
              </p:txBody>
            </p:sp>
            <p:grpSp>
              <p:nvGrpSpPr>
                <p:cNvPr id="253" name="Google Shape;253;p19"/>
                <p:cNvGrpSpPr/>
                <p:nvPr/>
              </p:nvGrpSpPr>
              <p:grpSpPr>
                <a:xfrm>
                  <a:off x="0" y="542925"/>
                  <a:ext cx="1905000" cy="209700"/>
                  <a:chOff x="0" y="142875"/>
                  <a:chExt cx="1905000" cy="209700"/>
                </a:xfrm>
              </p:grpSpPr>
              <p:sp>
                <p:nvSpPr>
                  <p:cNvPr id="254" name="Google Shape;254;p19"/>
                  <p:cNvSpPr/>
                  <p:nvPr/>
                </p:nvSpPr>
                <p:spPr>
                  <a:xfrm>
                    <a:off x="0" y="142875"/>
                    <a:ext cx="1905000" cy="209700"/>
                  </a:xfrm>
                  <a:prstGeom prst="roundRect">
                    <a:avLst>
                      <a:gd fmla="val 13636" name="adj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19"/>
                  <p:cNvSpPr txBox="1"/>
                  <p:nvPr/>
                </p:nvSpPr>
                <p:spPr>
                  <a:xfrm>
                    <a:off x="47625" y="161925"/>
                    <a:ext cx="18096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1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0F172A"/>
                        </a:solidFill>
                        <a:latin typeface="Tajawal"/>
                        <a:ea typeface="Tajawal"/>
                        <a:cs typeface="Tajawal"/>
                        <a:sym typeface="Tajawal"/>
                      </a:rPr>
                      <a:t>عجلة الفخار / دولاب سريع</a:t>
                    </a:r>
                    <a:endParaRPr b="0" sz="1000">
                      <a:solidFill>
                        <a:srgbClr val="0F172A"/>
                      </a:solidFill>
                      <a:latin typeface="Tajawal"/>
                      <a:ea typeface="Tajawal"/>
                      <a:cs typeface="Tajawal"/>
                      <a:sym typeface="Tajawal"/>
                    </a:endParaRPr>
                  </a:p>
                </p:txBody>
              </p:sp>
            </p:grpSp>
            <p:grpSp>
              <p:nvGrpSpPr>
                <p:cNvPr id="256" name="Google Shape;256;p19"/>
                <p:cNvGrpSpPr/>
                <p:nvPr/>
              </p:nvGrpSpPr>
              <p:grpSpPr>
                <a:xfrm>
                  <a:off x="0" y="942975"/>
                  <a:ext cx="1905000" cy="209700"/>
                  <a:chOff x="0" y="142875"/>
                  <a:chExt cx="1905000" cy="209700"/>
                </a:xfrm>
              </p:grpSpPr>
              <p:sp>
                <p:nvSpPr>
                  <p:cNvPr id="257" name="Google Shape;257;p19"/>
                  <p:cNvSpPr/>
                  <p:nvPr/>
                </p:nvSpPr>
                <p:spPr>
                  <a:xfrm>
                    <a:off x="0" y="142875"/>
                    <a:ext cx="1905000" cy="209700"/>
                  </a:xfrm>
                  <a:prstGeom prst="roundRect">
                    <a:avLst>
                      <a:gd fmla="val 13636" name="adj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8" name="Google Shape;258;p19"/>
                  <p:cNvSpPr txBox="1"/>
                  <p:nvPr/>
                </p:nvSpPr>
                <p:spPr>
                  <a:xfrm>
                    <a:off x="47625" y="161925"/>
                    <a:ext cx="18096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1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0F172A"/>
                        </a:solidFill>
                        <a:latin typeface="Tajawal"/>
                        <a:ea typeface="Tajawal"/>
                        <a:cs typeface="Tajawal"/>
                        <a:sym typeface="Tajawal"/>
                      </a:rPr>
                      <a:t>العصر الحديدي II (1000 - 600 ق.م)</a:t>
                    </a:r>
                    <a:endParaRPr b="0" sz="1000">
                      <a:solidFill>
                        <a:srgbClr val="0F172A"/>
                      </a:solidFill>
                      <a:latin typeface="Tajawal"/>
                      <a:ea typeface="Tajawal"/>
                      <a:cs typeface="Tajawal"/>
                      <a:sym typeface="Tajawal"/>
                    </a:endParaRPr>
                  </a:p>
                </p:txBody>
              </p:sp>
            </p:grpSp>
            <p:grpSp>
              <p:nvGrpSpPr>
                <p:cNvPr id="259" name="Google Shape;259;p19"/>
                <p:cNvGrpSpPr/>
                <p:nvPr/>
              </p:nvGrpSpPr>
              <p:grpSpPr>
                <a:xfrm>
                  <a:off x="0" y="1343025"/>
                  <a:ext cx="1905000" cy="209700"/>
                  <a:chOff x="0" y="142875"/>
                  <a:chExt cx="1905000" cy="209700"/>
                </a:xfrm>
              </p:grpSpPr>
              <p:sp>
                <p:nvSpPr>
                  <p:cNvPr id="260" name="Google Shape;260;p19"/>
                  <p:cNvSpPr/>
                  <p:nvPr/>
                </p:nvSpPr>
                <p:spPr>
                  <a:xfrm>
                    <a:off x="0" y="142875"/>
                    <a:ext cx="1905000" cy="209700"/>
                  </a:xfrm>
                  <a:prstGeom prst="roundRect">
                    <a:avLst>
                      <a:gd fmla="val 13636" name="adj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1" name="Google Shape;261;p19"/>
                  <p:cNvSpPr txBox="1"/>
                  <p:nvPr/>
                </p:nvSpPr>
                <p:spPr>
                  <a:xfrm>
                    <a:off x="47625" y="161925"/>
                    <a:ext cx="180960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1" algn="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00">
                        <a:solidFill>
                          <a:srgbClr val="0F172A"/>
                        </a:solidFill>
                        <a:latin typeface="Tajawal"/>
                        <a:ea typeface="Tajawal"/>
                        <a:cs typeface="Tajawal"/>
                        <a:sym typeface="Tajawal"/>
                      </a:rPr>
                      <a:t>جيدة (مستقرة / ترميم جزئي)</a:t>
                    </a:r>
                    <a:endParaRPr b="0" sz="1000">
                      <a:solidFill>
                        <a:srgbClr val="0F172A"/>
                      </a:solidFill>
                      <a:latin typeface="Tajawal"/>
                      <a:ea typeface="Tajawal"/>
                      <a:cs typeface="Tajawal"/>
                      <a:sym typeface="Tajawal"/>
                    </a:endParaRPr>
                  </a:p>
                </p:txBody>
              </p:sp>
            </p:grpSp>
          </p:grpSp>
        </p:grpSp>
        <p:grpSp>
          <p:nvGrpSpPr>
            <p:cNvPr id="262" name="Google Shape;262;p19"/>
            <p:cNvGrpSpPr/>
            <p:nvPr/>
          </p:nvGrpSpPr>
          <p:grpSpPr>
            <a:xfrm>
              <a:off x="142875" y="2552700"/>
              <a:ext cx="2095500" cy="552600"/>
              <a:chOff x="0" y="0"/>
              <a:chExt cx="2095500" cy="552600"/>
            </a:xfrm>
          </p:grpSpPr>
          <p:sp>
            <p:nvSpPr>
              <p:cNvPr id="263" name="Google Shape;263;p19"/>
              <p:cNvSpPr/>
              <p:nvPr/>
            </p:nvSpPr>
            <p:spPr>
              <a:xfrm>
                <a:off x="0" y="0"/>
                <a:ext cx="2095500" cy="552600"/>
              </a:xfrm>
              <a:prstGeom prst="roundRect">
                <a:avLst>
                  <a:gd fmla="val 10344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9"/>
              <p:cNvSpPr txBox="1"/>
              <p:nvPr/>
            </p:nvSpPr>
            <p:spPr>
              <a:xfrm>
                <a:off x="95250" y="47625"/>
                <a:ext cx="1905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التوافق العالمي:</a:t>
                </a:r>
                <a:endParaRPr b="1" sz="95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  <a:p>
                <a:pPr indent="0" lvl="0" marL="0" rtl="1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متوافق بالكامل مع معايير CIDOC-CRM للمتاحف العالمية لتحقيق التشغيل البيني.</a:t>
                </a:r>
                <a:endParaRPr sz="850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265" name="Google Shape;265;p19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0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271" name="Google Shape;271;p20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272" name="Google Shape;272;p20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0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5" name="Google Shape;275;p20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276" name="Google Shape;276;p20"/>
          <p:cNvGrpSpPr/>
          <p:nvPr/>
        </p:nvGrpSpPr>
        <p:grpSpPr>
          <a:xfrm>
            <a:off x="381000" y="571500"/>
            <a:ext cx="8382000" cy="495300"/>
            <a:chOff x="0" y="0"/>
            <a:chExt cx="8382000" cy="495300"/>
          </a:xfrm>
        </p:grpSpPr>
        <p:sp>
          <p:nvSpPr>
            <p:cNvPr id="277" name="Google Shape;277;p20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العائد التشغيلي لتطبيقات الذكاء الاصطناعي في الهيئة</a:t>
              </a:r>
              <a:endParaRPr b="1" sz="24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7620000" y="45720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" name="Google Shape;279;p20"/>
          <p:cNvGrpSpPr/>
          <p:nvPr/>
        </p:nvGrpSpPr>
        <p:grpSpPr>
          <a:xfrm>
            <a:off x="4714875" y="1428750"/>
            <a:ext cx="4048200" cy="1428900"/>
            <a:chOff x="0" y="0"/>
            <a:chExt cx="4048200" cy="1428900"/>
          </a:xfrm>
        </p:grpSpPr>
        <p:sp>
          <p:nvSpPr>
            <p:cNvPr id="280" name="Google Shape;280;p20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666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4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80%</a:t>
              </a:r>
              <a:endParaRPr b="1" i="0" sz="34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250" u="none" strike="noStrike">
                  <a:solidFill>
                    <a:srgbClr val="0F172A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توفير في زمن الفهرسة والتوثيق المكتبي للقطع الأثرية.</a:t>
              </a:r>
              <a:endParaRPr b="1" i="0" sz="12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83" name="Google Shape;283;p20"/>
          <p:cNvGrpSpPr/>
          <p:nvPr/>
        </p:nvGrpSpPr>
        <p:grpSpPr>
          <a:xfrm>
            <a:off x="381000" y="1428750"/>
            <a:ext cx="4048200" cy="1428900"/>
            <a:chOff x="0" y="0"/>
            <a:chExt cx="4048200" cy="1428900"/>
          </a:xfrm>
        </p:grpSpPr>
        <p:sp>
          <p:nvSpPr>
            <p:cNvPr id="284" name="Google Shape;284;p20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666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4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0.1 ملم</a:t>
              </a:r>
              <a:endParaRPr b="1" i="0" sz="34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250" u="none" strike="noStrike">
                  <a:solidFill>
                    <a:srgbClr val="0F172A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دقة مطابقة السمات المورفولوجية الدقيقة للقى والمسكوكات.</a:t>
              </a:r>
              <a:endParaRPr b="1" i="0" sz="12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87" name="Google Shape;287;p20"/>
          <p:cNvGrpSpPr/>
          <p:nvPr/>
        </p:nvGrpSpPr>
        <p:grpSpPr>
          <a:xfrm>
            <a:off x="4714875" y="3095625"/>
            <a:ext cx="4048200" cy="1428900"/>
            <a:chOff x="0" y="0"/>
            <a:chExt cx="4048200" cy="1428900"/>
          </a:xfrm>
        </p:grpSpPr>
        <p:sp>
          <p:nvSpPr>
            <p:cNvPr id="288" name="Google Shape;288;p20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666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4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100%</a:t>
              </a:r>
              <a:endParaRPr b="1" i="0" sz="34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250" u="none" strike="noStrike">
                  <a:solidFill>
                    <a:srgbClr val="0F172A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قابلية ربط مقتنيات متاحف الشارقة بالسجل الأثري الوطني بشكل سلس.</a:t>
              </a:r>
              <a:endParaRPr b="1" i="0" sz="12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291" name="Google Shape;291;p20"/>
          <p:cNvGrpSpPr/>
          <p:nvPr/>
        </p:nvGrpSpPr>
        <p:grpSpPr>
          <a:xfrm>
            <a:off x="381000" y="3095625"/>
            <a:ext cx="4048200" cy="1428900"/>
            <a:chOff x="0" y="0"/>
            <a:chExt cx="4048200" cy="1428900"/>
          </a:xfrm>
        </p:grpSpPr>
        <p:sp>
          <p:nvSpPr>
            <p:cNvPr id="292" name="Google Shape;292;p20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666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0" y="0"/>
              <a:ext cx="40482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 txBox="1"/>
            <p:nvPr/>
          </p:nvSpPr>
          <p:spPr>
            <a:xfrm>
              <a:off x="190500" y="171450"/>
              <a:ext cx="36672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4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Zero</a:t>
              </a:r>
              <a:endParaRPr b="1" i="0" sz="34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250" u="none" strike="noStrike">
                  <a:solidFill>
                    <a:srgbClr val="0F172A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تكرار في إدخال السجلات اليدوية أو ضياع للبيانات الميدانية.</a:t>
              </a:r>
              <a:endParaRPr b="1" i="0" sz="12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95" name="Google Shape;295;p20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1"/>
          <p:cNvGrpSpPr/>
          <p:nvPr/>
        </p:nvGrpSpPr>
        <p:grpSpPr>
          <a:xfrm>
            <a:off x="381000" y="190500"/>
            <a:ext cx="8553450" cy="342900"/>
            <a:chOff x="381000" y="190500"/>
            <a:chExt cx="8553450" cy="342900"/>
          </a:xfrm>
        </p:grpSpPr>
        <p:grpSp>
          <p:nvGrpSpPr>
            <p:cNvPr id="301" name="Google Shape;301;p21"/>
            <p:cNvGrpSpPr/>
            <p:nvPr/>
          </p:nvGrpSpPr>
          <p:grpSpPr>
            <a:xfrm>
              <a:off x="8591550" y="190500"/>
              <a:ext cx="342900" cy="342900"/>
              <a:chOff x="19050" y="19050"/>
              <a:chExt cx="342900" cy="342900"/>
            </a:xfrm>
          </p:grpSpPr>
          <p:sp>
            <p:nvSpPr>
              <p:cNvPr id="302" name="Google Shape;302;p21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1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5" name="Google Shape;305;p21"/>
            <p:cNvSpPr txBox="1"/>
            <p:nvPr/>
          </p:nvSpPr>
          <p:spPr>
            <a:xfrm>
              <a:off x="381000" y="2095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0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306" name="Google Shape;306;p21"/>
          <p:cNvGrpSpPr/>
          <p:nvPr/>
        </p:nvGrpSpPr>
        <p:grpSpPr>
          <a:xfrm>
            <a:off x="381000" y="495300"/>
            <a:ext cx="8382000" cy="390450"/>
            <a:chOff x="0" y="0"/>
            <a:chExt cx="8382000" cy="390450"/>
          </a:xfrm>
        </p:grpSpPr>
        <p:sp>
          <p:nvSpPr>
            <p:cNvPr id="307" name="Google Shape;307;p21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ورشة تطبيقية (10 دقائق): استنطاق قطعة أثرية بالهاتف</a:t>
              </a:r>
              <a:endParaRPr b="1" sz="2200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7620000" y="361950"/>
              <a:ext cx="762000" cy="285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9" name="Google Shape;309;p21"/>
          <p:cNvPicPr preferRelativeResize="0"/>
          <p:nvPr/>
        </p:nvPicPr>
        <p:blipFill rotWithShape="1">
          <a:blip r:embed="rId3">
            <a:alphaModFix/>
          </a:blip>
          <a:srcRect b="758" l="0" r="0" t="768"/>
          <a:stretch/>
        </p:blipFill>
        <p:spPr>
          <a:xfrm>
            <a:off x="1666875" y="1133475"/>
            <a:ext cx="58104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21"/>
          <p:cNvGrpSpPr/>
          <p:nvPr/>
        </p:nvGrpSpPr>
        <p:grpSpPr>
          <a:xfrm>
            <a:off x="6191250" y="990600"/>
            <a:ext cx="2571900" cy="1723950"/>
            <a:chOff x="6191250" y="990600"/>
            <a:chExt cx="2571900" cy="1723950"/>
          </a:xfrm>
        </p:grpSpPr>
        <p:sp>
          <p:nvSpPr>
            <p:cNvPr id="311" name="Google Shape;311;p21"/>
            <p:cNvSpPr/>
            <p:nvPr/>
          </p:nvSpPr>
          <p:spPr>
            <a:xfrm>
              <a:off x="6191250" y="1238250"/>
              <a:ext cx="25719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6191250" y="123825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7324725" y="990600"/>
              <a:ext cx="304800" cy="304800"/>
            </a:xfrm>
            <a:prstGeom prst="ellipse">
              <a:avLst/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1"/>
            <p:cNvSpPr txBox="1"/>
            <p:nvPr/>
          </p:nvSpPr>
          <p:spPr>
            <a:xfrm>
              <a:off x="7334250" y="1028700"/>
              <a:ext cx="285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strike="noStrike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1</a:t>
              </a:r>
              <a:endParaRPr b="1" i="0" sz="1200" u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15" name="Google Shape;315;p21"/>
            <p:cNvSpPr txBox="1"/>
            <p:nvPr/>
          </p:nvSpPr>
          <p:spPr>
            <a:xfrm>
              <a:off x="6343250" y="1381125"/>
              <a:ext cx="22767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1. التقاط أو رفع الصورة</a:t>
              </a:r>
              <a:endParaRPr b="1" i="0" sz="13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10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التقاط صورة مباشرة أو رفع ملف لمسكوكة أو كسرة فخارية عبر واجهة نموذج الذكاء الاصطناعي المخصص.</a:t>
              </a:r>
              <a:br>
                <a:rPr b="0" i="0" lang="en" sz="10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</a:br>
              <a:endParaRPr b="1" i="0" sz="10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316" name="Google Shape;316;p21"/>
          <p:cNvGrpSpPr/>
          <p:nvPr/>
        </p:nvGrpSpPr>
        <p:grpSpPr>
          <a:xfrm>
            <a:off x="3286125" y="990600"/>
            <a:ext cx="2571900" cy="1723950"/>
            <a:chOff x="3286125" y="990600"/>
            <a:chExt cx="2571900" cy="1723950"/>
          </a:xfrm>
        </p:grpSpPr>
        <p:sp>
          <p:nvSpPr>
            <p:cNvPr id="317" name="Google Shape;317;p21"/>
            <p:cNvSpPr/>
            <p:nvPr/>
          </p:nvSpPr>
          <p:spPr>
            <a:xfrm>
              <a:off x="3286125" y="1238250"/>
              <a:ext cx="25719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3286125" y="123825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4419600" y="990600"/>
              <a:ext cx="304800" cy="304800"/>
            </a:xfrm>
            <a:prstGeom prst="ellipse">
              <a:avLst/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1"/>
            <p:cNvSpPr txBox="1"/>
            <p:nvPr/>
          </p:nvSpPr>
          <p:spPr>
            <a:xfrm>
              <a:off x="4429125" y="1028700"/>
              <a:ext cx="285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strike="noStrike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2</a:t>
              </a:r>
              <a:endParaRPr b="1" i="0" sz="1200" u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21" name="Google Shape;321;p21"/>
            <p:cNvSpPr txBox="1"/>
            <p:nvPr/>
          </p:nvSpPr>
          <p:spPr>
            <a:xfrm>
              <a:off x="3429000" y="1381125"/>
              <a:ext cx="2286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2. حقن البرومبت الأثري</a:t>
              </a:r>
              <a:endParaRPr b="1" i="0" sz="13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0" lang="en" sz="10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إدخال الأمر الدقيق:</a:t>
              </a:r>
              <a:endParaRPr b="1" i="0" sz="10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950" u="none" strike="noStrike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«استخرج الميتاداتا، نوع الخط، تقييم التآكل، وبطاقة التوثيق وفق معيار </a:t>
              </a:r>
              <a:r>
                <a:rPr lang="en" sz="950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 </a:t>
              </a:r>
              <a:r>
                <a:rPr b="0" i="0" lang="en" sz="950" u="none" strike="noStrike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Dublin Core</a:t>
              </a:r>
              <a:r>
                <a:rPr lang="en" sz="950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،</a:t>
              </a:r>
              <a:r>
                <a:rPr b="0" i="0" lang="en" sz="950" u="none" strike="noStrike">
                  <a:solidFill>
                    <a:srgbClr val="B23A22"/>
                  </a:solidFill>
                  <a:highlight>
                    <a:srgbClr val="FDFCF0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 قراءة وترجمة حرفية للنص المكتوب»</a:t>
              </a:r>
              <a:endParaRPr b="1" i="0" sz="95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322" name="Google Shape;322;p21"/>
          <p:cNvGrpSpPr/>
          <p:nvPr/>
        </p:nvGrpSpPr>
        <p:grpSpPr>
          <a:xfrm>
            <a:off x="381000" y="990600"/>
            <a:ext cx="2571900" cy="1723950"/>
            <a:chOff x="381000" y="990600"/>
            <a:chExt cx="2571900" cy="1723950"/>
          </a:xfrm>
        </p:grpSpPr>
        <p:sp>
          <p:nvSpPr>
            <p:cNvPr id="323" name="Google Shape;323;p21"/>
            <p:cNvSpPr/>
            <p:nvPr/>
          </p:nvSpPr>
          <p:spPr>
            <a:xfrm>
              <a:off x="381000" y="1238250"/>
              <a:ext cx="25719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381000" y="1238250"/>
              <a:ext cx="25719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1514475" y="990600"/>
              <a:ext cx="304800" cy="304800"/>
            </a:xfrm>
            <a:prstGeom prst="ellipse">
              <a:avLst/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1"/>
            <p:cNvSpPr txBox="1"/>
            <p:nvPr/>
          </p:nvSpPr>
          <p:spPr>
            <a:xfrm>
              <a:off x="1524000" y="1028700"/>
              <a:ext cx="285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strike="noStrike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3</a:t>
              </a:r>
              <a:endParaRPr b="1" i="0" sz="1200" u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523875" y="1381125"/>
              <a:ext cx="2286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3. مراجعة وتقييم الدقة</a:t>
              </a:r>
              <a:endParaRPr b="1" i="0" sz="13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i="0" lang="en" sz="1000" u="none" strike="noStrike">
                  <a:solidFill>
                    <a:srgbClr val="0F172A"/>
                  </a:solidFill>
                  <a:latin typeface="Tajawal"/>
                  <a:ea typeface="Tajawal"/>
                  <a:cs typeface="Tajawal"/>
                  <a:sym typeface="Tajawal"/>
                </a:rPr>
                <a:t>مراجعة النتيجة المستخرجة آلياً ومقارنتها بالقراءة الميدانية الدقيقة للباحث الأثري المعتمد لضمان أعلى مستويات الموثوقية.</a:t>
              </a:r>
              <a:endParaRPr b="1" i="0" sz="1000" u="none" strike="noStrike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328" name="Google Shape;328;p21"/>
          <p:cNvGrpSpPr/>
          <p:nvPr/>
        </p:nvGrpSpPr>
        <p:grpSpPr>
          <a:xfrm>
            <a:off x="381000" y="3114675"/>
            <a:ext cx="8382150" cy="1552500"/>
            <a:chOff x="381000" y="209550"/>
            <a:chExt cx="8382150" cy="1552500"/>
          </a:xfrm>
        </p:grpSpPr>
        <p:pic>
          <p:nvPicPr>
            <p:cNvPr id="329" name="Google Shape;329;p21"/>
            <p:cNvPicPr preferRelativeResize="0"/>
            <p:nvPr/>
          </p:nvPicPr>
          <p:blipFill rotWithShape="1">
            <a:blip r:embed="rId4">
              <a:alphaModFix/>
            </a:blip>
            <a:srcRect b="0" l="348" r="348" t="0"/>
            <a:stretch/>
          </p:blipFill>
          <p:spPr>
            <a:xfrm>
              <a:off x="381000" y="209550"/>
              <a:ext cx="2762400" cy="1552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0" name="Google Shape;330;p21"/>
            <p:cNvGrpSpPr/>
            <p:nvPr/>
          </p:nvGrpSpPr>
          <p:grpSpPr>
            <a:xfrm>
              <a:off x="3333750" y="209550"/>
              <a:ext cx="5429400" cy="1552500"/>
              <a:chOff x="3333750" y="209550"/>
              <a:chExt cx="5429400" cy="1552500"/>
            </a:xfrm>
          </p:grpSpPr>
          <p:pic>
            <p:nvPicPr>
              <p:cNvPr id="331" name="Google Shape;331;p21"/>
              <p:cNvPicPr preferRelativeResize="0"/>
              <p:nvPr/>
            </p:nvPicPr>
            <p:blipFill rotWithShape="1">
              <a:blip r:embed="rId5">
                <a:alphaModFix/>
              </a:blip>
              <a:srcRect b="2245" l="0" r="0" t="2245"/>
              <a:stretch/>
            </p:blipFill>
            <p:spPr>
              <a:xfrm>
                <a:off x="3333750" y="209550"/>
                <a:ext cx="5429400" cy="15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2" name="Google Shape;332;p21"/>
              <p:cNvSpPr/>
              <p:nvPr/>
            </p:nvSpPr>
            <p:spPr>
              <a:xfrm>
                <a:off x="3333750" y="209550"/>
                <a:ext cx="5429400" cy="247800"/>
              </a:xfrm>
              <a:custGeom>
                <a:rect b="b" l="l" r="r" t="t"/>
                <a:pathLst>
                  <a:path extrusionOk="0" h="120000" w="120000">
                    <a:moveTo>
                      <a:pt x="0" y="36923"/>
                    </a:moveTo>
                    <a:cubicBezTo>
                      <a:pt x="0" y="16531"/>
                      <a:pt x="843" y="0"/>
                      <a:pt x="1882" y="0"/>
                    </a:cubicBezTo>
                    <a:lnTo>
                      <a:pt x="118118" y="0"/>
                    </a:lnTo>
                    <a:cubicBezTo>
                      <a:pt x="119157" y="4"/>
                      <a:pt x="120000" y="16534"/>
                      <a:pt x="120000" y="36923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1"/>
              <p:cNvSpPr/>
              <p:nvPr/>
            </p:nvSpPr>
            <p:spPr>
              <a:xfrm>
                <a:off x="3486150" y="295275"/>
                <a:ext cx="76200" cy="76200"/>
              </a:xfrm>
              <a:prstGeom prst="ellipse">
                <a:avLst/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1"/>
              <p:cNvSpPr/>
              <p:nvPr/>
            </p:nvSpPr>
            <p:spPr>
              <a:xfrm>
                <a:off x="3609975" y="295275"/>
                <a:ext cx="76200" cy="76200"/>
              </a:xfrm>
              <a:prstGeom prst="ellipse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>
                <a:off x="3733800" y="295275"/>
                <a:ext cx="76200" cy="76200"/>
              </a:xfrm>
              <a:prstGeom prst="ellipse">
                <a:avLst/>
              </a:prstGeom>
              <a:solidFill>
                <a:srgbClr val="4ADE80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1"/>
              <p:cNvSpPr txBox="1"/>
              <p:nvPr/>
            </p:nvSpPr>
            <p:spPr>
              <a:xfrm>
                <a:off x="3905250" y="247650"/>
                <a:ext cx="46674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050" u="none" strike="noStrike">
                    <a:solidFill>
                      <a:srgbClr val="D4A373"/>
                    </a:solidFill>
                    <a:latin typeface="Cairo"/>
                    <a:ea typeface="Cairo"/>
                    <a:cs typeface="Cairo"/>
                    <a:sym typeface="Cairo"/>
                  </a:rPr>
                  <a:t>بطاقة التوثيق والميتاداتا المستخرجة (Dublin Core Standards)</a:t>
                </a:r>
                <a:endParaRPr b="1" i="0" sz="1050" u="none" strike="noStrike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337" name="Google Shape;337;p21"/>
              <p:cNvSpPr txBox="1"/>
              <p:nvPr/>
            </p:nvSpPr>
            <p:spPr>
              <a:xfrm>
                <a:off x="4933975" y="523913"/>
                <a:ext cx="37989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b="1" i="0" lang="en" sz="950" u="none" strike="noStrike">
                    <a:solidFill>
                      <a:srgbClr val="D4A37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العنوان (Title):</a:t>
                </a: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كسرة فخارية أثرية ذات نقوش محفورة</a:t>
                </a:r>
                <a:endParaRPr b="0" i="0" sz="950" u="none" strike="noStrike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b="1" i="0" lang="en" sz="950" u="none" strike="noStrike">
                    <a:solidFill>
                      <a:srgbClr val="D4A37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نوع الخط والتآكل (Script &amp; Condition):</a:t>
                </a: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خط كوفي مبكر | نسبة التآكل: 35%</a:t>
                </a:r>
                <a:endParaRPr b="0" i="0" sz="950" u="none" strike="noStrike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b="1" i="0" lang="en" sz="950" u="none" strike="noStrike">
                    <a:solidFill>
                      <a:srgbClr val="D4A37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عناصر الميتاداتا (Dublin Core):</a:t>
                </a: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DC.Identifier: SHJ-ARCH-2026 | DC.Material: Terracotta</a:t>
                </a:r>
                <a:endParaRPr b="0" i="0" sz="950" u="none" strike="noStrike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• </a:t>
                </a:r>
                <a:r>
                  <a:rPr b="1" i="0" lang="en" sz="950" u="none" strike="noStrike">
                    <a:solidFill>
                      <a:srgbClr val="4ADE8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نتيجة التقييم:</a:t>
                </a:r>
                <a:r>
                  <a:rPr b="0" i="0" lang="en" sz="950" u="none" strike="noStrike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 تطابق القراءة الآلية مع القراءة الميدانية للباحث بنسبة 96.4%</a:t>
                </a:r>
                <a:endParaRPr b="0" i="0" sz="950" u="none" strike="noStrike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</p:grpSp>
      <p:sp>
        <p:nvSpPr>
          <p:cNvPr id="338" name="Google Shape;338;p21"/>
          <p:cNvSpPr/>
          <p:nvPr/>
        </p:nvSpPr>
        <p:spPr>
          <a:xfrm>
            <a:off x="381000" y="4857750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21" title="برومت الوصف الأثر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6125" y="2161351"/>
            <a:ext cx="900950" cy="9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 title="Gemini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1250" y="2113500"/>
            <a:ext cx="948800" cy="9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2"/>
          <p:cNvGrpSpPr/>
          <p:nvPr/>
        </p:nvGrpSpPr>
        <p:grpSpPr>
          <a:xfrm>
            <a:off x="381000" y="209550"/>
            <a:ext cx="8553450" cy="342900"/>
            <a:chOff x="381000" y="209550"/>
            <a:chExt cx="8553450" cy="342900"/>
          </a:xfrm>
        </p:grpSpPr>
        <p:grpSp>
          <p:nvGrpSpPr>
            <p:cNvPr id="346" name="Google Shape;346;p22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347" name="Google Shape;347;p22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2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9050">
                <a:solidFill>
                  <a:srgbClr val="D4A3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2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D4A37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0" name="Google Shape;350;p22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الذكاء الاصطناعي في علم الآثار | هيئة الشارقة للآثار</a:t>
              </a:r>
              <a:endParaRPr b="0" sz="1050">
                <a:solidFill>
                  <a:srgbClr val="D4A37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351" name="Google Shape;351;p22"/>
          <p:cNvGrpSpPr/>
          <p:nvPr/>
        </p:nvGrpSpPr>
        <p:grpSpPr>
          <a:xfrm>
            <a:off x="381000" y="590550"/>
            <a:ext cx="8382000" cy="495300"/>
            <a:chOff x="381000" y="590550"/>
            <a:chExt cx="8382000" cy="495300"/>
          </a:xfrm>
        </p:grpSpPr>
        <p:sp>
          <p:nvSpPr>
            <p:cNvPr id="352" name="Google Shape;352;p22"/>
            <p:cNvSpPr txBox="1"/>
            <p:nvPr/>
          </p:nvSpPr>
          <p:spPr>
            <a:xfrm>
              <a:off x="381000" y="590550"/>
              <a:ext cx="8382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35" u="none" strike="noStrike">
                  <a:solidFill>
                    <a:srgbClr val="D4A373"/>
                  </a:solidFill>
                  <a:latin typeface="Cairo"/>
                  <a:ea typeface="Cairo"/>
                  <a:cs typeface="Cairo"/>
                  <a:sym typeface="Cairo"/>
                </a:rPr>
                <a:t>الخلاصة: الذكاء الاصطناعي المساعد الفائق لعالم الآثار</a:t>
              </a:r>
              <a:endParaRPr b="1" i="0" sz="2035" u="none" strike="noStrike">
                <a:solidFill>
                  <a:srgbClr val="D4A37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8001000" y="10477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" name="Google Shape;354;p22"/>
          <p:cNvGrpSpPr/>
          <p:nvPr/>
        </p:nvGrpSpPr>
        <p:grpSpPr>
          <a:xfrm>
            <a:off x="381000" y="1238250"/>
            <a:ext cx="8382000" cy="3429000"/>
            <a:chOff x="0" y="0"/>
            <a:chExt cx="8382000" cy="3429000"/>
          </a:xfrm>
        </p:grpSpPr>
        <p:sp>
          <p:nvSpPr>
            <p:cNvPr id="355" name="Google Shape;355;p22"/>
            <p:cNvSpPr/>
            <p:nvPr/>
          </p:nvSpPr>
          <p:spPr>
            <a:xfrm>
              <a:off x="0" y="0"/>
              <a:ext cx="8382000" cy="3429000"/>
            </a:xfrm>
            <a:prstGeom prst="roundRect">
              <a:avLst>
                <a:gd fmla="val 3333" name="adj"/>
              </a:avLst>
            </a:prstGeom>
            <a:solidFill>
              <a:srgbClr val="17223B"/>
            </a:solidFill>
            <a:ln cap="flat" cmpd="sng" w="14300">
              <a:solidFill>
                <a:srgbClr val="D4A3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0" y="0"/>
              <a:ext cx="8382000" cy="47700"/>
            </a:xfrm>
            <a:prstGeom prst="roundRect">
              <a:avLst>
                <a:gd fmla="val 40000" name="adj"/>
              </a:avLst>
            </a:prstGeom>
            <a:solidFill>
              <a:srgbClr val="D4A37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7" name="Google Shape;357;p22"/>
            <p:cNvGrpSpPr/>
            <p:nvPr/>
          </p:nvGrpSpPr>
          <p:grpSpPr>
            <a:xfrm>
              <a:off x="285750" y="238125"/>
              <a:ext cx="7810500" cy="809700"/>
              <a:chOff x="0" y="0"/>
              <a:chExt cx="7810500" cy="809700"/>
            </a:xfrm>
          </p:grpSpPr>
          <p:sp>
            <p:nvSpPr>
              <p:cNvPr id="358" name="Google Shape;358;p22"/>
              <p:cNvSpPr/>
              <p:nvPr/>
            </p:nvSpPr>
            <p:spPr>
              <a:xfrm>
                <a:off x="0" y="0"/>
                <a:ext cx="78105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2"/>
              <p:cNvSpPr/>
              <p:nvPr/>
            </p:nvSpPr>
            <p:spPr>
              <a:xfrm>
                <a:off x="6048375" y="114300"/>
                <a:ext cx="15240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D4A373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2"/>
              <p:cNvSpPr txBox="1"/>
              <p:nvPr/>
            </p:nvSpPr>
            <p:spPr>
              <a:xfrm>
                <a:off x="6048375" y="142875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D4A373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قدرات الذكاء الاصطناعي</a:t>
                </a:r>
                <a:endParaRPr b="1" sz="1000">
                  <a:solidFill>
                    <a:srgbClr val="D4A373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  <p:sp>
            <p:nvSpPr>
              <p:cNvPr id="361" name="Google Shape;361;p22"/>
              <p:cNvSpPr txBox="1"/>
              <p:nvPr/>
            </p:nvSpPr>
            <p:spPr>
              <a:xfrm>
                <a:off x="238125" y="400050"/>
                <a:ext cx="7334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FDFCF0"/>
                    </a:solidFill>
                    <a:latin typeface="Tajawal"/>
                    <a:ea typeface="Tajawal"/>
                    <a:cs typeface="Tajawal"/>
                    <a:sym typeface="Tajawal"/>
                  </a:rPr>
                  <a:t>تقدم الخوارزميات ونماذج الذكاء الاصطناعي ترجيحات إحصائية دقيقة وسرعة معالجة فائقة للبيانات الضخمة.</a:t>
                </a:r>
                <a:endParaRPr b="0" sz="1300">
                  <a:solidFill>
                    <a:srgbClr val="FDFCF0"/>
                  </a:solidFill>
                  <a:latin typeface="Tajawal"/>
                  <a:ea typeface="Tajawal"/>
                  <a:cs typeface="Tajawal"/>
                  <a:sym typeface="Tajawal"/>
                </a:endParaRPr>
              </a:p>
            </p:txBody>
          </p:sp>
        </p:grpSp>
        <p:grpSp>
          <p:nvGrpSpPr>
            <p:cNvPr id="362" name="Google Shape;362;p22"/>
            <p:cNvGrpSpPr/>
            <p:nvPr/>
          </p:nvGrpSpPr>
          <p:grpSpPr>
            <a:xfrm>
              <a:off x="285750" y="1190625"/>
              <a:ext cx="7810500" cy="1952700"/>
              <a:chOff x="0" y="0"/>
              <a:chExt cx="7810500" cy="1952700"/>
            </a:xfrm>
          </p:grpSpPr>
          <p:sp>
            <p:nvSpPr>
              <p:cNvPr id="363" name="Google Shape;363;p22"/>
              <p:cNvSpPr/>
              <p:nvPr/>
            </p:nvSpPr>
            <p:spPr>
              <a:xfrm>
                <a:off x="0" y="0"/>
                <a:ext cx="7810500" cy="1952700"/>
              </a:xfrm>
              <a:prstGeom prst="roundRect">
                <a:avLst>
                  <a:gd fmla="val 4878" name="adj"/>
                </a:avLst>
              </a:prstGeom>
              <a:solidFill>
                <a:srgbClr val="0F172A"/>
              </a:solidFill>
              <a:ln cap="flat" cmpd="sng" w="19050">
                <a:solidFill>
                  <a:srgbClr val="B23A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2"/>
              <p:cNvSpPr/>
              <p:nvPr/>
            </p:nvSpPr>
            <p:spPr>
              <a:xfrm>
                <a:off x="5572125" y="142875"/>
                <a:ext cx="20001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B23A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2"/>
              <p:cNvSpPr txBox="1"/>
              <p:nvPr/>
            </p:nvSpPr>
            <p:spPr>
              <a:xfrm>
                <a:off x="5572125" y="180975"/>
                <a:ext cx="2000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1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Cairo"/>
                    <a:ea typeface="Cairo"/>
                    <a:cs typeface="Cairo"/>
                    <a:sym typeface="Cairo"/>
                  </a:rPr>
                  <a:t>الرسالة المحورية والمسؤولية</a:t>
                </a:r>
                <a:endParaRPr b="1" sz="105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endParaRPr>
              </a:p>
            </p:txBody>
          </p:sp>
          <p:sp>
            <p:nvSpPr>
              <p:cNvPr id="366" name="Google Shape;366;p22"/>
              <p:cNvSpPr txBox="1"/>
              <p:nvPr/>
            </p:nvSpPr>
            <p:spPr>
              <a:xfrm>
                <a:off x="285750" y="495300"/>
                <a:ext cx="7239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D4A373"/>
                    </a:solidFill>
                    <a:latin typeface="Tajawal Medium"/>
                    <a:ea typeface="Tajawal Medium"/>
                    <a:cs typeface="Tajawal Medium"/>
                    <a:sym typeface="Tajawal Medium"/>
                  </a:rPr>
                  <a:t>ومع ذلك، يظل القرار الأثري النهائي، والتفسير التاريخي العميق، وفهم السياق الثقافي مسؤولية حصرية للباحث البشري.</a:t>
                </a:r>
                <a:endParaRPr b="0" sz="1300">
                  <a:solidFill>
                    <a:srgbClr val="D4A373"/>
                  </a:solidFill>
                  <a:latin typeface="Tajawal Medium"/>
                  <a:ea typeface="Tajawal Medium"/>
                  <a:cs typeface="Tajawal Medium"/>
                  <a:sym typeface="Tajawal Medium"/>
                </a:endParaRPr>
              </a:p>
            </p:txBody>
          </p:sp>
          <p:grpSp>
            <p:nvGrpSpPr>
              <p:cNvPr id="367" name="Google Shape;367;p22"/>
              <p:cNvGrpSpPr/>
              <p:nvPr/>
            </p:nvGrpSpPr>
            <p:grpSpPr>
              <a:xfrm>
                <a:off x="280988" y="1090613"/>
                <a:ext cx="7248600" cy="628800"/>
                <a:chOff x="-4762" y="-4762"/>
                <a:chExt cx="7248600" cy="628800"/>
              </a:xfrm>
            </p:grpSpPr>
            <p:pic>
              <p:nvPicPr>
                <p:cNvPr id="368" name="Google Shape;368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-4762" y="-4762"/>
                  <a:ext cx="7248600" cy="628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9" name="Google Shape;369;p22"/>
                <p:cNvSpPr txBox="1"/>
                <p:nvPr/>
              </p:nvSpPr>
              <p:spPr>
                <a:xfrm>
                  <a:off x="142875" y="95250"/>
                  <a:ext cx="69534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1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500">
                      <a:solidFill>
                        <a:srgbClr val="FDFCF0"/>
                      </a:solidFill>
                      <a:latin typeface="Cairo"/>
                      <a:ea typeface="Cairo"/>
                      <a:cs typeface="Cairo"/>
                      <a:sym typeface="Cairo"/>
                    </a:rPr>
                    <a:t>"القرار الأثري والتفسير التاريخي يظل مسؤولية الباحث البشري حصراً"</a:t>
                  </a:r>
                  <a:endParaRPr b="1" sz="1500">
                    <a:solidFill>
                      <a:srgbClr val="FDFCF0"/>
                    </a:solidFill>
                    <a:latin typeface="Cairo"/>
                    <a:ea typeface="Cairo"/>
                    <a:cs typeface="Cairo"/>
                    <a:sym typeface="Cairo"/>
                  </a:endParaRPr>
                </a:p>
              </p:txBody>
            </p:sp>
          </p:grpSp>
        </p:grpSp>
      </p:grpSp>
      <p:sp>
        <p:nvSpPr>
          <p:cNvPr id="370" name="Google Shape;370;p22"/>
          <p:cNvSpPr/>
          <p:nvPr/>
        </p:nvSpPr>
        <p:spPr>
          <a:xfrm>
            <a:off x="381000" y="4810125"/>
            <a:ext cx="8382000" cy="9600"/>
          </a:xfrm>
          <a:prstGeom prst="rect">
            <a:avLst/>
          </a:prstGeom>
          <a:solidFill>
            <a:srgbClr val="D4A373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