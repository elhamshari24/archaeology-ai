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Cairo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7a2a1d62-ee68-4739-9019-d5c570fe8773.fntdata" /><ns0:Relationship Id="rIdFont21" Type="http://schemas.openxmlformats.org/officeDocument/2006/relationships/font" Target="fonts/5bde7257-10e6-4f38-bd65-101d9bcdb90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800725"/>
            <a:ext cx="10820400" cy="523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007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865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391900" y="6334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0552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6105525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05525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47687"/>
            <a:ext cx="2409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Cairo"/>
              </a:rPr>
              <a:t>ورشة عمل تخصصية — سبتمبر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1700" y="2036564"/>
            <a:ext cx="9429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59E0B"/>
                </a:solidFill>
                <a:latin typeface="Cairo"/>
              </a:rPr>
              <a:t>التحول الرقمي في علم الآثار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700" y="2512814"/>
            <a:ext cx="9901237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1" sz="3900" i="0" u="none">
                <a:solidFill>
                  <a:srgbClr val="FFFFFF"/>
                </a:solidFill>
                <a:latin typeface="Cairo"/>
              </a:rPr>
              <a:t>الذكاء الاصطناعي في توثيق المواقع والقطع الأثرية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9950" y="3941564"/>
            <a:ext cx="8191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Cairo"/>
              </a:rPr>
              <a:t>توظيف الاستشعار الذكي والنمذجة ثلاثية الأبعاد والرؤية الحاسوبية في حماية التراث الحضاري لإمارة الشارقة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375" y="533400"/>
            <a:ext cx="30003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Cairo"/>
              </a:rPr>
              <a:t>حكومة الشارقة • هيئة الشارقة للآثار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1300" y="6038850"/>
            <a:ext cx="1200150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Cairo"/>
              </a:rPr>
              <a:t>توثيق المواقع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0" y="6038850"/>
            <a:ext cx="1428750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Cairo"/>
              </a:rPr>
              <a:t>الاستشعار عن بعد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6038850"/>
            <a:ext cx="1390650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Cairo"/>
              </a:rPr>
              <a:t>المراقبة والحماية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43975" y="2500312"/>
            <a:ext cx="2562225" cy="2609850"/>
          </a:xfrm>
          <a:prstGeom prst="roundRect">
            <a:avLst>
              <a:gd name="adj" fmla="val 44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676525"/>
            <a:ext cx="2562225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2676525"/>
            <a:ext cx="2562225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676525"/>
            <a:ext cx="2562225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5" y="28146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29908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5" y="29908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29908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700" y="293846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975" y="311467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0" y="311467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525" y="311467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38850"/>
            <a:ext cx="10915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Cairo"/>
              </a:rPr>
              <a:t>هيئة الشارقة للآثار — الإدارة العامة للاتصال والبحوث الميدانية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خارطة طريق البرنامج التدريبي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المحاور الرئيسية للورشة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3424237"/>
            <a:ext cx="2290286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مقدمة في الذكاء الاصطناعي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4281487"/>
            <a:ext cx="2181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المفاهيم الجوهرية والتحول الرقمي الأثري.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00450"/>
            <a:ext cx="229028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توثيق المواقع والقطع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105275"/>
            <a:ext cx="2181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مسح ثلاثي الأبعاد وفهرسة آلية للمقتنيات.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3600450"/>
            <a:ext cx="229028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الكشف والتنبؤ بالأقمار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4105275"/>
            <a:ext cx="2181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استشعار مدفون تحت الرمال بخوارزميات متقدمة.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600450"/>
            <a:ext cx="229028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مراقبة التدهور والضرر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4105275"/>
            <a:ext cx="2181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تحليل إنشائي مبكر واستجابة استباقية للتغيرات.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838825"/>
            <a:ext cx="108204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838825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0552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6105525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المحور الأول: الكفاءة الزمنية والميدانية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تسريع وتيرة التوثيق والتصنيف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7984" y="2509837"/>
            <a:ext cx="2536031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b="1" sz="8100" i="0" u="none">
                <a:solidFill>
                  <a:srgbClr val="0F172A"/>
                </a:solidFill>
                <a:latin typeface="Cairo"/>
              </a:rPr>
              <a:t>٨٥٪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359" y="3729037"/>
            <a:ext cx="567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D97706"/>
                </a:solidFill>
                <a:latin typeface="Cairo"/>
              </a:rPr>
              <a:t>اختصار في زمن معالجة وتوثيق البيانات الأثرية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6468" y="4233862"/>
            <a:ext cx="7739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Cairo"/>
              </a:rPr>
              <a:t>تحويل ملايين النقاط السحابية والصور الفوتوغرافية إلى نماذج ثلاثية الأبعاد بدقة ملليمترية فورية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0" y="6038850"/>
            <a:ext cx="2266950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Cairo"/>
              </a:rPr>
              <a:t>دقة قياسية فائقة غير مسبوقة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8850"/>
            <a:ext cx="2895600" cy="2857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Cairo"/>
              </a:rPr>
              <a:t>معالجة حوسبية متزامنة في موقع التنقيب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9621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7660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910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202" y="2028825"/>
            <a:ext cx="521999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727" y="2038350"/>
            <a:ext cx="5200947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77" y="22479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102" y="356235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102" y="4876800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48375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Cairo"/>
              </a:rPr>
              <a:t>توثيق موقع مليحة ومويلح الأثريين — تقنيات المسح الجوي المستمر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المحور الثاني: تسجيل البيانات الميدانية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المسح الرقمي بطائرات الدرون والفوتوغرامتري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162175"/>
            <a:ext cx="5160332" cy="3524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النمذجة بالرؤية الحاسوبية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5717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بناء السحب النقطية التلقائية من الصور الجوية.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76625"/>
            <a:ext cx="5160332" cy="352425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الإسناد الجغرافي الدقيق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88620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ربط الطبقات الحفرية بنظام إحداثيات الشارقة الأثري.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791075"/>
            <a:ext cx="5160332" cy="352425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تسجيل الطبقات الرسوبية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52006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حفظ رقمي غير متلف لسياق الحفر اليومي.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51750" y="2562225"/>
            <a:ext cx="3454449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562225"/>
            <a:ext cx="3454449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651" y="2562225"/>
            <a:ext cx="3454449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172200"/>
            <a:ext cx="3810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287655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625" y="287655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575" y="2876550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8025" y="30099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975" y="300990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925" y="300990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المحور الثاني: إدارة المقتنيات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التصنيف الذكي للقطع واللقى المكتشفة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1450" y="6048375"/>
            <a:ext cx="3810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Cairo"/>
              </a:rPr>
              <a:t>تطبيق خوارزميات الشبكات العصبية الالتفافية لتحديد الطرز الحضارية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3524250"/>
            <a:ext cx="31471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Cairo"/>
              </a:rPr>
              <a:t>تصنيف الكسر الفخارية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7975" y="4076700"/>
            <a:ext cx="29972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مطابقة آلية للسمات والمصادر الطينية والحقب.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4925" y="3524250"/>
            <a:ext cx="31471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Cairo"/>
              </a:rPr>
              <a:t>فهرسة العملات والمسكوكات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4925" y="4076700"/>
            <a:ext cx="29972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استخلاص الرموز والنقوش التاريخية بدقة متناهية.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876" y="3524250"/>
            <a:ext cx="31471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Cairo"/>
              </a:rPr>
              <a:t>إعادة تركيب وتجميع القطع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876" y="4076700"/>
            <a:ext cx="299724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مطابقة ثلاثية الأبعاد لحواف الأجزاء المتناثرة.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070895"/>
            <a:ext cx="5715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929854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072729"/>
            <a:ext cx="2286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2729954"/>
            <a:ext cx="10953750" cy="1036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b="1" sz="2550" i="0" u="none">
                <a:solidFill>
                  <a:srgbClr val="0F172A"/>
                </a:solidFill>
                <a:latin typeface="Cairo"/>
              </a:rPr>
              <a:t>"الذكاء الاصطناعي لا يستبدل حدس الباحث الأثري، بل يمنحه بصيرة ثاقبة تكشف أسرار الحضارات المدفونة في دقائق."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5109" y="4289970"/>
            <a:ext cx="282178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Cairo"/>
              </a:rPr>
              <a:t>رؤية التوثيق الأثري المستدام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1531" y="4642395"/>
            <a:ext cx="29289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Cairo"/>
              </a:rPr>
              <a:t>هيئة الشارقة للآثار — حكومة الشارقة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797" y="19621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797" y="327660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797" y="45910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8825"/>
            <a:ext cx="521999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038350"/>
            <a:ext cx="5200947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5675" y="356235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5675" y="487680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48375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Cairo"/>
              </a:rPr>
              <a:t>الكشف غير المباشر في البيئات الصحراوية والمناطق الوعرة في الشارقة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المحور الثالث: الاستكشاف التنبؤي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كشف المواقع المدفونة بالأقمار الاصطناعية والرادار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822" y="2162175"/>
            <a:ext cx="5160332" cy="3524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رادار الفتحة الاصطناعية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822" y="25717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اختراق الطبقات الرملية الجافة للكشف المعماري.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822" y="3476625"/>
            <a:ext cx="5160332" cy="3524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التحليل الطيفي الفائق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822" y="388620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رصد البصمات الطيفية للتربة والنباتات المحيطة.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822" y="4791075"/>
            <a:ext cx="5160332" cy="3524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تحديد بؤر الحفر المستهدفة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822" y="52006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توجيه فرق التنقيب لمواقع ذات موثوقية عالية.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43975" y="2938462"/>
            <a:ext cx="25622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809875"/>
            <a:ext cx="2562225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2938462"/>
            <a:ext cx="25622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762250"/>
            <a:ext cx="2562225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048375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Cairo"/>
              </a:rPr>
              <a:t>تقليل مساحات المسح العشوائي وترشيد الموارد والجهد الميداني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منهجية العمل الميداني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مراحل النمذجة التنبؤية للمواقع الأثرية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214687"/>
            <a:ext cx="2257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Cairo"/>
              </a:rPr>
              <a:t>المرحلة ٠١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614737"/>
            <a:ext cx="237029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دمج البيانات المكانية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81462"/>
            <a:ext cx="2257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طبقات التضاريس ومصادر المياه القديمة وطبيعة التربة.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3086100"/>
            <a:ext cx="2257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Cairo"/>
              </a:rPr>
              <a:t>المرحلة ٠٢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3486150"/>
            <a:ext cx="237029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تدريب خوارزميات التعلم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952875"/>
            <a:ext cx="22574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تغذية النماذج بأنماط المستوطنات والمدافن المكتشفة سابقاً.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214687"/>
            <a:ext cx="2257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Cairo"/>
              </a:rPr>
              <a:t>المرحلة ٠٣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614737"/>
            <a:ext cx="237029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توليد خرائط الاحتمالات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081462"/>
            <a:ext cx="2257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تحديد النطاقات الجغرافية الواعدة بدرجات ثقة مدروسة.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038475"/>
            <a:ext cx="2257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Cairo"/>
              </a:rPr>
              <a:t>المرحلة ٠٤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438525"/>
            <a:ext cx="2370296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المسح الجيوفيزيائي الحقلي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257675"/>
            <a:ext cx="2257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Cairo"/>
              </a:rPr>
              <a:t>التحقق الحسي المباشر وبدء التنقيب المنهجي الآمن.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9621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7660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91050"/>
            <a:ext cx="5219402" cy="112395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202" y="2028825"/>
            <a:ext cx="521999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727" y="2038350"/>
            <a:ext cx="5200947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77" y="22479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052" y="3562350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3727" y="4876800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48375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Cairo"/>
              </a:rPr>
              <a:t>إدارة الصيانة الوقائية للقطع والمباني التاريخية في إمارة الشارقة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المحور الرابع: الصيانة والحفظ الوقائي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التوأمة الرقمية ورصد التدهور والضرر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162175"/>
            <a:ext cx="5160332" cy="3524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رصد الشروخ الإنشائية الدقيقة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5717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اكتشاف التصدعات المجهرية في المباني الأثرية فور ظهورها.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76625"/>
            <a:ext cx="5160332" cy="352425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قياس آثار العوامل المناخية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88620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متابعة عوامل التعرية والرياح والحرارة على المواد الطينية والحجرية.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791075"/>
            <a:ext cx="5160332" cy="3524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Cairo"/>
              </a:rPr>
              <a:t>نظام الإنذار المبكر للمتاحف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5200650"/>
            <a:ext cx="491460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إشعارات فورية لفرق الترميم قبل وقوع الضرر الجسيم.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76900"/>
            <a:ext cx="10820400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61151" y="303371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6896" y="303371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الأثر التشغيلي والميداني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مؤشرات كفاءة الحماية الرقمية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9925" y="5857875"/>
            <a:ext cx="4343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التكامل المباشر مع "النظام الجغرافي الأثري" لهيئة الشارقة للآثار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1976" y="2838450"/>
            <a:ext cx="1535906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Cairo"/>
              </a:rPr>
              <a:t>٩٩٪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8132" y="3676650"/>
            <a:ext cx="20835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Cairo"/>
              </a:rPr>
              <a:t>دقة مطابقة وتوثيق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5757" y="4086225"/>
            <a:ext cx="198834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Cairo"/>
              </a:rPr>
              <a:t>في التوأمة الرقمية للقطع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9145" y="2838450"/>
            <a:ext cx="186928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Cairo"/>
              </a:rPr>
              <a:t>٢٤/٧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348" y="3676650"/>
            <a:ext cx="24288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Cairo"/>
              </a:rPr>
              <a:t>مراقبة فضائية مستمرة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208" y="4086225"/>
            <a:ext cx="239315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Cairo"/>
              </a:rPr>
              <a:t>لرصد التعديات والزحف العمراني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9677" y="2838450"/>
            <a:ext cx="1440656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Cairo"/>
              </a:rPr>
              <a:t>١٠٠٪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724" y="3676650"/>
            <a:ext cx="22145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97706"/>
                </a:solidFill>
                <a:latin typeface="Cairo"/>
              </a:rPr>
              <a:t>حفظ الأصول التاريخية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662" y="4086225"/>
            <a:ext cx="24526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Cairo"/>
              </a:rPr>
              <a:t>في سجل رقمي مركزي مستدام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57925" y="1724025"/>
            <a:ext cx="5248275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724025"/>
            <a:ext cx="5267325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425" y="2667000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3133725"/>
            <a:ext cx="1333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0425" y="360045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75" y="267652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875" y="3143250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7825" y="3609975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048375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Cairo"/>
              </a:rPr>
              <a:t>نقلة استراتيجية تضع إمارة الشارقة في طليعة مراكز الحفاظ الرقمي إقليمياً وعالمياً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10915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التطوير المؤسسي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85825"/>
            <a:ext cx="1146143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Cairo"/>
              </a:rPr>
              <a:t>مقارنة بين التوثيق التقليدي والتوثيق الذكي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2038350"/>
            <a:ext cx="495061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64748B"/>
                </a:solidFill>
                <a:latin typeface="Cairo"/>
              </a:rPr>
              <a:t>الأسلوب التقليدي اليدوي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2590800"/>
            <a:ext cx="4714875" cy="3143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رسم وقياس يدوي يستغرق أسابيع حقلية.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057525"/>
            <a:ext cx="4714875" cy="3143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سجلات ورقية عرضة للتلف والفقدان.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3524250"/>
            <a:ext cx="4714875" cy="3143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Cairo"/>
              </a:rPr>
              <a:t>صعوبة اكتشاف التدهور الإنشائي المبكر.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2047875"/>
            <a:ext cx="495061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Cairo"/>
              </a:rPr>
              <a:t>المنظومة الذكية المتكاملة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2600325"/>
            <a:ext cx="4714875" cy="31432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Cairo"/>
              </a:rPr>
              <a:t>مسح ضوئي ثلاثي الأبعاد خلال دقائق معدودة.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067050"/>
            <a:ext cx="4714875" cy="31432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Cairo"/>
              </a:rPr>
              <a:t>قاعدة بيانات سحابية جغرافية موحدة ومحمية.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533775"/>
            <a:ext cx="4714875" cy="3143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Cairo"/>
              </a:rPr>
              <a:t>إنذار مبكر وخوارزميات استباقية لصون التراث.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90975" y="4275683"/>
            <a:ext cx="4210050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90975" y="4275683"/>
            <a:ext cx="42100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20341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191791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4618583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4618583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618583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6678" y="2896641"/>
            <a:ext cx="913864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Cairo"/>
              </a:rPr>
              <a:t>نحو مستقبل يصون أصالة الماضي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6406" y="3597622"/>
            <a:ext cx="8739187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Cairo"/>
              </a:rPr>
              <a:t>شكراً لحضوركم واهتمامكم • باب الأسئلة والمناقشة مفتوح لكافة الزملاء والباحثين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9406" y="4551908"/>
            <a:ext cx="1690687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Cairo"/>
              </a:rPr>
              <a:t>هيئة الشارقة للآثار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3728" y="4551908"/>
            <a:ext cx="1559718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Cairo"/>
              </a:rPr>
              <a:t>info@saa.shj.ae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8100" y="4551908"/>
            <a:ext cx="1133475" cy="2857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Cairo"/>
              </a:rPr>
              <a:t>saa.shj.ae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000125"/>
            <a:ext cx="11049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857375"/>
            <a:ext cx="11049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705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05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185862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204311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290036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63175" y="571500"/>
            <a:ext cx="163020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Cairo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3550" y="1143000"/>
            <a:ext cx="5076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Cairo"/>
              </a:rPr>
              <a:t>https://upandunder.com.au/wp-content/uploads/2026/04/lidar-v-photogram-1024x819.png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4425" y="1419225"/>
            <a:ext cx="1885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Cairo"/>
              </a:rPr>
              <a:t>upandunder.com.au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975" y="20002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Cairo"/>
              </a:rPr>
              <a:t>https://miro.medium.com/v2/resize:fit:1400/1*ACTIJlDNNr3TZq3gDNRm7Q.png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100" y="2276475"/>
            <a:ext cx="14382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Cairo"/>
              </a:rPr>
              <a:t>medium.com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857500"/>
            <a:ext cx="7877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Cairo"/>
              </a:rPr>
              <a:t>https://www.leica-microsystems.com/fileadmin/content_excellence/solution_overview/material_earth-science/art-conservation/Stone_03.jpg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3133725"/>
            <a:ext cx="25431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Cairo"/>
              </a:rPr>
              <a:t>www.leica-microsystems.com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